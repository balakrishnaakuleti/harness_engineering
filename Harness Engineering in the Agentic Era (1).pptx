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4" r:id="rId26"/>
    <p:sldId id="276" r:id="rId28"/>
    <p:sldId id="277" r:id="rId29"/>
    <p:sldId id="278" r:id="rId30"/>
    <p:sldId id="257" r:id="rId3"/>
    <p:sldId id="258" r:id="rId4"/>
    <p:sldId id="259" r:id="rId5"/>
    <p:sldId id="260" r:id="rId6"/>
    <p:sldId id="269" r:id="rId21"/>
    <p:sldId id="270" r:id="rId22"/>
    <p:sldId id="275" r:id="rId27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23"/>
    <p:sldId id="272" r:id="rId24"/>
    <p:sldId id="273" r:id="rId25"/>
    <p:sldId id="268" r:id="rId14"/>
    <p:sldId id="279" r:id="rId31"/>
    <p:sldId id="280" r:id="rId32"/>
    <p:sldId id="281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91EBF0-C6B2-470A-85B3-7401B8E34DC7}" v="11" dt="2026-09-11T11:05:08.5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312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10.xml"/><Relationship Id="rId8" Type="http://schemas.openxmlformats.org/officeDocument/2006/relationships/slide" Target="slides/slide11.xml"/><Relationship Id="rId9" Type="http://schemas.openxmlformats.org/officeDocument/2006/relationships/slide" Target="slides/slide12.xml"/><Relationship Id="rId10" Type="http://schemas.openxmlformats.org/officeDocument/2006/relationships/slide" Target="slides/slide13.xml"/><Relationship Id="rId11" Type="http://schemas.openxmlformats.org/officeDocument/2006/relationships/slide" Target="slides/slide14.xml"/><Relationship Id="rId12" Type="http://schemas.openxmlformats.org/officeDocument/2006/relationships/slide" Target="slides/slide15.xml"/><Relationship Id="rId13" Type="http://schemas.openxmlformats.org/officeDocument/2006/relationships/slide" Target="slides/slide16.xml"/><Relationship Id="rId14" Type="http://schemas.openxmlformats.org/officeDocument/2006/relationships/slide" Target="slides/slide20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5/10/relationships/revisionInfo" Target="revisionInfo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.xml"/><Relationship Id="rId27" Type="http://schemas.openxmlformats.org/officeDocument/2006/relationships/slide" Target="slides/slide9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uleti, Balakrishna" userId="4cd960a8-f512-45b7-8857-0bbad2becb11" providerId="ADAL" clId="{2C42B997-A401-4EBE-B507-8DB2AF390CCA}"/>
    <pc:docChg chg="undo custSel mod addSld delSld modSld">
      <pc:chgData name="Akuleti, Balakrishna" userId="4cd960a8-f512-45b7-8857-0bbad2becb11" providerId="ADAL" clId="{2C42B997-A401-4EBE-B507-8DB2AF390CCA}" dt="2026-09-11T11:10:07.127" v="43" actId="2696"/>
      <pc:docMkLst>
        <pc:docMk/>
      </pc:docMkLst>
      <pc:sldChg chg="new del">
        <pc:chgData name="Akuleti, Balakrishna" userId="4cd960a8-f512-45b7-8857-0bbad2becb11" providerId="ADAL" clId="{2C42B997-A401-4EBE-B507-8DB2AF390CCA}" dt="2026-09-11T11:02:12.264" v="3" actId="2696"/>
        <pc:sldMkLst>
          <pc:docMk/>
          <pc:sldMk cId="1639675057" sldId="269"/>
        </pc:sldMkLst>
      </pc:sldChg>
      <pc:sldChg chg="addSp delSp modSp add del mod setBg modClrScheme chgLayout">
        <pc:chgData name="Akuleti, Balakrishna" userId="4cd960a8-f512-45b7-8857-0bbad2becb11" providerId="ADAL" clId="{2C42B997-A401-4EBE-B507-8DB2AF390CCA}" dt="2026-09-11T11:10:07.127" v="43" actId="2696"/>
        <pc:sldMkLst>
          <pc:docMk/>
          <pc:sldMk cId="2241811958" sldId="270"/>
        </pc:sldMkLst>
        <pc:spChg chg="add del mod">
          <ac:chgData name="Akuleti, Balakrishna" userId="4cd960a8-f512-45b7-8857-0bbad2becb11" providerId="ADAL" clId="{2C42B997-A401-4EBE-B507-8DB2AF390CCA}" dt="2026-09-11T11:04:29.980" v="34" actId="478"/>
          <ac:spMkLst>
            <pc:docMk/>
            <pc:sldMk cId="2241811958" sldId="270"/>
            <ac:spMk id="3" creationId="{EF16E0FE-B8EC-CC2C-76D2-7E2635A67E69}"/>
          </ac:spMkLst>
        </pc:spChg>
        <pc:spChg chg="del">
          <ac:chgData name="Akuleti, Balakrishna" userId="4cd960a8-f512-45b7-8857-0bbad2becb11" providerId="ADAL" clId="{2C42B997-A401-4EBE-B507-8DB2AF390CCA}" dt="2026-09-11T11:03:07.449" v="5" actId="478"/>
          <ac:spMkLst>
            <pc:docMk/>
            <pc:sldMk cId="2241811958" sldId="270"/>
            <ac:spMk id="4" creationId="{A0439744-D414-D6E7-B98F-3FB76E8B3466}"/>
          </ac:spMkLst>
        </pc:spChg>
        <pc:spChg chg="add del mod ord">
          <ac:chgData name="Akuleti, Balakrishna" userId="4cd960a8-f512-45b7-8857-0bbad2becb11" providerId="ADAL" clId="{2C42B997-A401-4EBE-B507-8DB2AF390CCA}" dt="2026-09-11T11:04:56.353" v="39" actId="478"/>
          <ac:spMkLst>
            <pc:docMk/>
            <pc:sldMk cId="2241811958" sldId="270"/>
            <ac:spMk id="5" creationId="{583A39A6-A50D-BDD5-DCE6-A8371AACA971}"/>
          </ac:spMkLst>
        </pc:spChg>
        <pc:spChg chg="add del mod ord">
          <ac:chgData name="Akuleti, Balakrishna" userId="4cd960a8-f512-45b7-8857-0bbad2becb11" providerId="ADAL" clId="{2C42B997-A401-4EBE-B507-8DB2AF390CCA}" dt="2026-09-11T11:04:37.199" v="35" actId="1076"/>
          <ac:spMkLst>
            <pc:docMk/>
            <pc:sldMk cId="2241811958" sldId="270"/>
            <ac:spMk id="6" creationId="{0126ED51-6230-8876-2EE5-9062CF4558EF}"/>
          </ac:spMkLst>
        </pc:spChg>
        <pc:spChg chg="add del mod">
          <ac:chgData name="Akuleti, Balakrishna" userId="4cd960a8-f512-45b7-8857-0bbad2becb11" providerId="ADAL" clId="{2C42B997-A401-4EBE-B507-8DB2AF390CCA}" dt="2026-09-11T11:04:59.280" v="41" actId="478"/>
          <ac:spMkLst>
            <pc:docMk/>
            <pc:sldMk cId="2241811958" sldId="270"/>
            <ac:spMk id="10" creationId="{593FD7E3-B6CD-4900-4935-14CA77DE9E2B}"/>
          </ac:spMkLst>
        </pc:spChg>
        <pc:spChg chg="add mod">
          <ac:chgData name="Akuleti, Balakrishna" userId="4cd960a8-f512-45b7-8857-0bbad2becb11" providerId="ADAL" clId="{2C42B997-A401-4EBE-B507-8DB2AF390CCA}" dt="2026-09-11T11:05:08.501" v="42"/>
          <ac:spMkLst>
            <pc:docMk/>
            <pc:sldMk cId="2241811958" sldId="270"/>
            <ac:spMk id="12" creationId="{7163F70B-6661-97A4-C0F4-D7BA91E93DC8}"/>
          </ac:spMkLst>
        </pc:spChg>
        <pc:graphicFrameChg chg="add mod">
          <ac:chgData name="Akuleti, Balakrishna" userId="4cd960a8-f512-45b7-8857-0bbad2becb11" providerId="ADAL" clId="{2C42B997-A401-4EBE-B507-8DB2AF390CCA}" dt="2026-09-11T11:03:43.083" v="11"/>
          <ac:graphicFrameMkLst>
            <pc:docMk/>
            <pc:sldMk cId="2241811958" sldId="270"/>
            <ac:graphicFrameMk id="7" creationId="{F2553A0A-6C0D-9AD3-03E6-47D47962EC8F}"/>
          </ac:graphicFrameMkLst>
        </pc:graphicFrameChg>
        <pc:graphicFrameChg chg="add mod">
          <ac:chgData name="Akuleti, Balakrishna" userId="4cd960a8-f512-45b7-8857-0bbad2becb11" providerId="ADAL" clId="{2C42B997-A401-4EBE-B507-8DB2AF390CCA}" dt="2026-09-11T11:03:56.763" v="13"/>
          <ac:graphicFrameMkLst>
            <pc:docMk/>
            <pc:sldMk cId="2241811958" sldId="270"/>
            <ac:graphicFrameMk id="8" creationId="{65AFC4F1-FFA6-DC8E-5DFD-0A3FDCEED735}"/>
          </ac:graphicFrameMkLst>
        </pc:graphicFrame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Relationship Id="rId12" Type="http://schemas.openxmlformats.org/officeDocument/2006/relationships/image" Target="../media/image3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Relationship Id="rId12" Type="http://schemas.openxmlformats.org/officeDocument/2006/relationships/image" Target="../media/image3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Relationship Id="rId12" Type="http://schemas.openxmlformats.org/officeDocument/2006/relationships/image" Target="../media/image3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Relationship Id="rId12" Type="http://schemas.openxmlformats.org/officeDocument/2006/relationships/image" Target="../media/image3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png"/><Relationship Id="rId10" Type="http://schemas.openxmlformats.org/officeDocument/2006/relationships/image" Target="../media/image40.png"/><Relationship Id="rId11" Type="http://schemas.openxmlformats.org/officeDocument/2006/relationships/image" Target="../media/image41.png"/><Relationship Id="rId12" Type="http://schemas.openxmlformats.org/officeDocument/2006/relationships/image" Target="../media/image42.png"/><Relationship Id="rId13" Type="http://schemas.openxmlformats.org/officeDocument/2006/relationships/image" Target="../media/image43.png"/><Relationship Id="rId14" Type="http://schemas.openxmlformats.org/officeDocument/2006/relationships/image" Target="../media/image4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Relationship Id="rId8" Type="http://schemas.openxmlformats.org/officeDocument/2006/relationships/image" Target="../media/image51.png"/><Relationship Id="rId9" Type="http://schemas.openxmlformats.org/officeDocument/2006/relationships/image" Target="../media/image52.png"/><Relationship Id="rId10" Type="http://schemas.openxmlformats.org/officeDocument/2006/relationships/image" Target="../media/image5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60.png"/><Relationship Id="rId10" Type="http://schemas.openxmlformats.org/officeDocument/2006/relationships/image" Target="../media/image6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Relationship Id="rId9" Type="http://schemas.openxmlformats.org/officeDocument/2006/relationships/image" Target="../media/image29.png"/><Relationship Id="rId10" Type="http://schemas.openxmlformats.org/officeDocument/2006/relationships/image" Target="../media/image30.png"/><Relationship Id="rId11" Type="http://schemas.openxmlformats.org/officeDocument/2006/relationships/image" Target="../media/image31.png"/><Relationship Id="rId12" Type="http://schemas.openxmlformats.org/officeDocument/2006/relationships/image" Target="../media/image3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1512" y="2386905"/>
            <a:ext cx="3228975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50556" y="2844105"/>
            <a:ext cx="7090886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950"/>
              </a:lnSpc>
            </a:pPr>
            <a:r>
              <a:rPr sz="4500" b="1" i="0" u="none">
                <a:solidFill>
                  <a:srgbClr val="F8FAFC"/>
                </a:solidFill>
                <a:latin typeface="Plus Jakarta Sans"/>
              </a:rPr>
              <a:t>Harness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19387" y="3587055"/>
            <a:ext cx="6753225" cy="310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41"/>
              </a:lnSpc>
            </a:pPr>
            <a:r>
              <a:rPr sz="1575" b="0" i="0" u="none">
                <a:solidFill>
                  <a:srgbClr val="38BDF8"/>
                </a:solidFill>
                <a:latin typeface="Inter Medium"/>
              </a:rPr>
              <a:t>Building the Execution Infrastructure for Autonomous 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19387" y="4135189"/>
            <a:ext cx="6753225" cy="221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743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Agent = Foundation Model + Harness Infrastructure • From Stochastic Prompts to Reliable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" y="438150"/>
            <a:ext cx="11125200" cy="409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50" b="1">
                <a:solidFill>
                  <a:srgbClr val="F8FAFC"/>
                </a:solidFill>
                <a:latin typeface="Plus Jakarta Sans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150000"/>
            <a:ext cx="11125200" cy="33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Inter"/>
              </a:rPr>
              <a:t>What we'll cover in this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1850000"/>
            <a:ext cx="7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8BDF8"/>
                </a:solidFill>
                <a:latin typeface="Plus Jakarta San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0000" y="1850000"/>
            <a:ext cx="9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CBD5E1"/>
                </a:solidFill>
                <a:latin typeface="Inter"/>
              </a:rPr>
              <a:t>Why Harness Engineering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2470000"/>
            <a:ext cx="7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8BDF8"/>
                </a:solidFill>
                <a:latin typeface="Plus Jakarta San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0000" y="2470000"/>
            <a:ext cx="9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CBD5E1"/>
                </a:solidFill>
                <a:latin typeface="Inter"/>
              </a:rPr>
              <a:t>Anatomy &amp; Evolution of an Agent Harness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3090000"/>
            <a:ext cx="7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8BDF8"/>
                </a:solidFill>
                <a:latin typeface="Plus Jakarta San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0000" y="3090000"/>
            <a:ext cx="9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CBD5E1"/>
                </a:solidFill>
                <a:latin typeface="Inter"/>
              </a:rPr>
              <a:t>PowerSpine: ISG's Standard Harness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3710000"/>
            <a:ext cx="7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8BDF8"/>
                </a:solidFill>
                <a:latin typeface="Plus Jakarta Sans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0000" y="3710000"/>
            <a:ext cx="9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CBD5E1"/>
                </a:solidFill>
                <a:latin typeface="Inter"/>
              </a:rPr>
              <a:t>Core Harness Control Patterns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4330000"/>
            <a:ext cx="7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8BDF8"/>
                </a:solidFill>
                <a:latin typeface="Plus Jakarta Sans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0000" y="4330000"/>
            <a:ext cx="9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CBD5E1"/>
                </a:solidFill>
                <a:latin typeface="Inter"/>
              </a:rPr>
              <a:t>Harness Engineering &amp; Spec-Driven Development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4950000"/>
            <a:ext cx="7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8BDF8"/>
                </a:solidFill>
                <a:latin typeface="Plus Jakarta Sans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0000" y="4950000"/>
            <a:ext cx="9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CBD5E1"/>
                </a:solidFill>
                <a:latin typeface="Inter"/>
              </a:rPr>
              <a:t>Harness in Practice: Adoption Across ISG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5570000"/>
            <a:ext cx="7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8BDF8"/>
                </a:solidFill>
                <a:latin typeface="Plus Jakarta Sans"/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0000" y="5570000"/>
            <a:ext cx="95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CBD5E1"/>
                </a:solidFill>
                <a:latin typeface="Inter"/>
              </a:rPr>
              <a:t>Key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04975" y="2901255"/>
            <a:ext cx="922115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F8FAFC"/>
                </a:solidFill>
                <a:latin typeface="Plus Jakarta Sans"/>
              </a:rPr>
              <a:t>The Anatomy &amp;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04975" y="3606105"/>
            <a:ext cx="8782050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Why raw model intelligence converges across providers while harness quality determines real-world production reliability.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065585"/>
            <a:ext cx="11125200" cy="337452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2522785"/>
            <a:ext cx="10706100" cy="270777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975" y="4119116"/>
            <a:ext cx="10306050" cy="91142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975" y="2970460"/>
            <a:ext cx="2469356" cy="95815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5206" y="2970460"/>
            <a:ext cx="2469356" cy="95815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7437" y="2970460"/>
            <a:ext cx="2469356" cy="95815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9668" y="2970460"/>
            <a:ext cx="2469356" cy="95815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2950" y="2275135"/>
            <a:ext cx="10706100" cy="152400"/>
          </a:xfrm>
          <a:prstGeom prst="rect">
            <a:avLst/>
          </a:prstGeom>
          <a:noFill/>
        </p:spPr>
        <p:txBody>
          <a:bodyPr wrap="square" lIns="128587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Fira Code"/>
              </a:rPr>
              <a:t>OUTER LAYER: SAFETY, GATEWAYS &amp; MONITORING (HITL / TELEMETRY / AUDIT LOGS)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950" y="2294185"/>
            <a:ext cx="128587" cy="1143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42975" y="2722810"/>
            <a:ext cx="10306050" cy="152400"/>
          </a:xfrm>
          <a:prstGeom prst="rect">
            <a:avLst/>
          </a:prstGeom>
          <a:noFill/>
        </p:spPr>
        <p:txBody>
          <a:bodyPr wrap="square" lIns="157162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Fira Code"/>
              </a:rPr>
              <a:t>MIDDLE LAYER: CONTROL LOOP &amp; EXECUTION SANDBOX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2975" y="2741860"/>
            <a:ext cx="157162" cy="114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5351" y="4328666"/>
            <a:ext cx="10381297" cy="238125"/>
          </a:xfrm>
          <a:prstGeom prst="rect">
            <a:avLst/>
          </a:prstGeom>
          <a:noFill/>
        </p:spPr>
        <p:txBody>
          <a:bodyPr wrap="square" lIns="19050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FFFFFF"/>
                </a:solidFill>
                <a:latin typeface="Plus Jakarta Sans SemiBold"/>
              </a:rPr>
              <a:t>Foundation Model Core (LLM / Reasoning Engine)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525" y="4614416"/>
            <a:ext cx="9886950" cy="2065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27"/>
              </a:lnSpc>
            </a:pPr>
            <a:r>
              <a:rPr sz="1050" b="0" i="0" u="none">
                <a:solidFill>
                  <a:srgbClr val="CBD5E1"/>
                </a:solidFill>
                <a:latin typeface="Inter"/>
              </a:rPr>
              <a:t>Stateless Predictor: Receives hydrated prompt context $\rightarrow$ Generates intent / tool invocation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5375" y="3122860"/>
            <a:ext cx="2164556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41261" y="3408610"/>
            <a:ext cx="2272784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8FAFC"/>
                </a:solidFill>
                <a:latin typeface="Plus Jakarta Sans"/>
              </a:rPr>
              <a:t>Memory &amp;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375" y="3627685"/>
            <a:ext cx="2164556" cy="148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Compaction, session history &amp; storage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07606" y="3122860"/>
            <a:ext cx="2164556" cy="2095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653492" y="3408610"/>
            <a:ext cx="2272784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8FAFC"/>
                </a:solidFill>
                <a:latin typeface="Plus Jakarta Sans"/>
              </a:rPr>
              <a:t>Tool Sandbox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7606" y="3627685"/>
            <a:ext cx="2164556" cy="148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Isolated micro-VMs &amp; CLI execution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19837" y="3122860"/>
            <a:ext cx="2164556" cy="2095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265723" y="3408610"/>
            <a:ext cx="2272784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8FAFC"/>
                </a:solidFill>
                <a:latin typeface="Plus Jakarta Sans"/>
              </a:rPr>
              <a:t>Guardrails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9837" y="3627685"/>
            <a:ext cx="2164556" cy="148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Schema validation &amp; rate limits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32068" y="3122860"/>
            <a:ext cx="2164556" cy="2095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877954" y="3408610"/>
            <a:ext cx="2272784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8FAFC"/>
                </a:solidFill>
                <a:latin typeface="Plus Jakarta Sans"/>
              </a:rPr>
              <a:t>Feedback Evaluator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2068" y="3627685"/>
            <a:ext cx="2164556" cy="148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170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AST checks, linters &amp; unit tests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724275" y="4366766"/>
            <a:ext cx="190500" cy="1905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33400" y="438150"/>
            <a:ext cx="1165860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F8FAFC"/>
                </a:solidFill>
                <a:latin typeface="Plus Jakarta Sans"/>
              </a:rPr>
              <a:t>Anatomy of an Agent Harness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085850"/>
            <a:ext cx="11125200" cy="5334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33400" y="438150"/>
            <a:ext cx="1165860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The Execution Control Loop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733800"/>
            <a:ext cx="11125200" cy="38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990975"/>
            <a:ext cx="2447478" cy="117425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5874" y="2340471"/>
            <a:ext cx="2447478" cy="117425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349" y="3990975"/>
            <a:ext cx="2447478" cy="117425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0823" y="1956792"/>
            <a:ext cx="2447478" cy="15579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2236" y="4171950"/>
            <a:ext cx="2189804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8BDF8"/>
                </a:solidFill>
                <a:latin typeface="Plus Jakarta Sans SemiBold"/>
              </a:rPr>
              <a:t>2022: Prompting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375" y="4486275"/>
            <a:ext cx="2085528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Static system prompts and isolated text generation completions.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4711" y="2521446"/>
            <a:ext cx="2189804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8BDF8"/>
                </a:solidFill>
                <a:latin typeface="Plus Jakarta Sans SemiBold"/>
              </a:rPr>
              <a:t>2023-24: Context Eng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6849" y="2835771"/>
            <a:ext cx="2085528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RAG pipelines, vector stores, and simple function calling hooks.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7186" y="4171950"/>
            <a:ext cx="2189804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8BDF8"/>
                </a:solidFill>
                <a:latin typeface="Plus Jakarta Sans SemiBold"/>
              </a:rPr>
              <a:t>2025: Agentic Loops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9324" y="4486275"/>
            <a:ext cx="2085528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ReAct loops, basic multi-agent handoffs, and basic memory state.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9660" y="2137767"/>
            <a:ext cx="2189804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8BDF8"/>
                </a:solidFill>
                <a:latin typeface="Plus Jakarta Sans SemiBold"/>
              </a:rPr>
              <a:t>2026+: Harness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1798" y="2452092"/>
            <a:ext cx="2085528" cy="7673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Complete execution envelopes: Micro-VM sandboxes, context compaction, deterministic feedback.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438150"/>
            <a:ext cx="1165860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Evolution of Harness Engineering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61889" y="36576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54363" y="36576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446838" y="36576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339313" y="36576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681162"/>
            <a:ext cx="5419725" cy="414322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681162"/>
            <a:ext cx="5419725" cy="414322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2167532"/>
            <a:ext cx="24765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" y="2949326"/>
            <a:ext cx="1143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50" y="3875930"/>
            <a:ext cx="1714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450" y="4802534"/>
            <a:ext cx="1905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6525" y="2167532"/>
            <a:ext cx="24765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38925" y="2949326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38925" y="3875930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38925" y="4610695"/>
            <a:ext cx="19050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3000" y="1957387"/>
            <a:ext cx="330041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8FAFC"/>
                </a:solidFill>
                <a:latin typeface="Plus Jakarta Sans SemiBold"/>
              </a:rPr>
              <a:t>PowerSpine: The Central Harness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319337"/>
            <a:ext cx="3143250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38BDF8"/>
                </a:solidFill>
                <a:latin typeface="Inter"/>
              </a:rPr>
              <a:t>One standard harness, built for every team to build on</a:t>
            </a:r>
            <a:r>
              <a:rPr sz="975" b="0" i="1" u="none">
                <a:solidFill>
                  <a:srgbClr val="38BDF8"/>
                </a:solidFill>
                <a:latin typeface="Inter"/>
              </a:rPr>
              <a:t/>
            </a:r>
            <a:r>
              <a:rPr sz="975" b="0" i="0" u="none">
                <a:solidFill>
                  <a:srgbClr val="38BDF8"/>
                </a:solidFill>
                <a:latin typeface="Inter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2050" y="2920751"/>
            <a:ext cx="43910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Inter"/>
              </a:rPr>
              <a:t>One Central Harness, Federated Edges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50" y="3101726"/>
            <a:ext cx="4391025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PowerSpine sets the ISG-wide standard for Spec-Driven Development, while federated edges let every product and engineering team adapt and innovate within that framework.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3847355"/>
            <a:ext cx="43338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Inter"/>
              </a:rPr>
              <a:t>/spine Central: Unified Portal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9200" y="4028330"/>
            <a:ext cx="4333875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Launched today — one portal for spec management, observability, and pipeline status across ISG. Live for R&amp;D now; explore it and share feedback.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250" y="4773959"/>
            <a:ext cx="43148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Inter"/>
              </a:rPr>
              <a:t>Onboarding Across ISG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8250" y="4954934"/>
            <a:ext cx="4314825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More teams and products join over the coming weeks, extending consistent visibility across the full Spec-Driven Development lifecycle.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8475" y="1957387"/>
            <a:ext cx="306038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8FAFC"/>
                </a:solidFill>
                <a:latin typeface="Plus Jakarta Sans SemiBold"/>
              </a:rPr>
              <a:t>The Operating Model Behind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8475" y="2319337"/>
            <a:ext cx="2914650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818CF8"/>
                </a:solidFill>
                <a:latin typeface="Inter"/>
              </a:rPr>
              <a:t>Built to scale responsibly across ISG</a:t>
            </a:r>
            <a:r>
              <a:rPr sz="975" b="0" i="1" u="none">
                <a:solidFill>
                  <a:srgbClr val="818CF8"/>
                </a:solidFill>
                <a:latin typeface="Inter"/>
              </a:rPr>
              <a:t/>
            </a:r>
            <a:r>
              <a:rPr sz="975" b="0" i="0" u="none">
                <a:solidFill>
                  <a:srgbClr val="818CF8"/>
                </a:solidFill>
                <a:latin typeface="Inter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6575" y="2920751"/>
            <a:ext cx="43719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Inter"/>
              </a:rPr>
              <a:t>Centralized + Embedded Agent 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6575" y="3101726"/>
            <a:ext cx="4371975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A new centralized Agent Ops team is complemented by Agent Ops teams embedded directly in product and engineering.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5625" y="3847355"/>
            <a:ext cx="4343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Inter"/>
              </a:rPr>
              <a:t>Data Strategy &amp; 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5625" y="4028330"/>
            <a:ext cx="4343400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More structure is forming around data strategy and governance as these teams stand up — creating new opportunities across ISG.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3725" y="4582120"/>
            <a:ext cx="43148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Inter"/>
              </a:rPr>
              <a:t>Speed AND Quality, Not a Trade-off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3725" y="4763095"/>
            <a:ext cx="4314825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Moving the quality gate upstream means fewer surprises mid-flight — this transformation asks us to achieve both, not choose.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400" y="438150"/>
            <a:ext cx="1165860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PowerSpine: One AI Development Approach for ISG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" y="1450000"/>
            <a:ext cx="11658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Inter"/>
              </a:rPr>
              <a:t>A message from Arthur Lewis — unifying Spec-Driven Development across ISG with one central harness and federated edges.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733800"/>
            <a:ext cx="11125200" cy="38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990975"/>
            <a:ext cx="2447478" cy="117425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5874" y="2340471"/>
            <a:ext cx="2447478" cy="117425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349" y="3990975"/>
            <a:ext cx="2447478" cy="117425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0823" y="1956792"/>
            <a:ext cx="2447478" cy="15579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2236" y="4171950"/>
            <a:ext cx="2189804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8BDF8"/>
                </a:solidFill>
                <a:latin typeface="Plus Jakarta Sans SemiBold"/>
              </a:rPr>
              <a:t>DPC Pod: 101 Features / 8 Weeks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375" y="4486275"/>
            <a:ext cx="2085528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A five-person DPC pod shipped the first ISG release built entirely on Spec-Driven Development.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4711" y="2521446"/>
            <a:ext cx="2189804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8BDF8"/>
                </a:solidFill>
                <a:latin typeface="Plus Jakarta Sans SemiBold"/>
              </a:rPr>
              <a:t>Polaris: 20 → 10 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6849" y="2835771"/>
            <a:ext cx="2085528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The Polaris team cut its delivery timeline in half by moving the quality gate upstream.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7186" y="4171950"/>
            <a:ext cx="2189804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8BDF8"/>
                </a:solidFill>
                <a:latin typeface="Plus Jakarta Sans SemiBold"/>
              </a:rPr>
              <a:t>UDS: +80% Contributions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9324" y="4486275"/>
            <a:ext cx="2085528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The UDS team saw an 80% increase in contributions under Spec-Driven Development.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9660" y="2137767"/>
            <a:ext cx="2189804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8BDF8"/>
                </a:solidFill>
                <a:latin typeface="Plus Jakarta Sans SemiBold"/>
              </a:rPr>
              <a:t>UDS: 7x Faster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1798" y="2452092"/>
            <a:ext cx="2085528" cy="7673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UDS is shipping net-new features 7x faster — with fewer defects at release.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438150"/>
            <a:ext cx="1165860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Why It Matters: Early Results Across ISG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61889" y="36576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54363" y="36576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446838" y="36576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339313" y="36576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3400" y="1450000"/>
            <a:ext cx="11658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Inter"/>
              </a:rPr>
              <a:t>Real outcomes from teams already building on Spec-Driven 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5550000"/>
            <a:ext cx="11125200" cy="324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>
                <a:solidFill>
                  <a:srgbClr val="CBD5E1"/>
                </a:solidFill>
                <a:latin typeface="Inter"/>
              </a:rPr>
              <a:t>“This transformation doesn’t ask us to trade speed for quality and security. It asks us to achieve both.”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" y="6000000"/>
            <a:ext cx="111252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75">
                <a:solidFill>
                  <a:srgbClr val="94A3B8"/>
                </a:solidFill>
                <a:latin typeface="Inter"/>
              </a:rPr>
              <a:t>— Arthur Lewis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" y="438150"/>
            <a:ext cx="11125200" cy="409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50" b="1">
                <a:solidFill>
                  <a:srgbClr val="F8FAFC"/>
                </a:solidFill>
                <a:latin typeface="Plus Jakarta Sans"/>
              </a:rPr>
              <a:t>Why These Comparisons Matter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150000"/>
            <a:ext cx="111252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4A3B8"/>
                </a:solidFill>
                <a:latin typeface="Inter"/>
              </a:rPr>
              <a:t>A harness is a set of controls layered around a model. The next few slides walk through the two families of controls that make those layers concrete — and why both are necessary, not optional.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6775" y="2700000"/>
            <a:ext cx="4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38BDF8"/>
                </a:solidFill>
                <a:latin typeface="Plus Jakarta Sans"/>
              </a:rPr>
              <a:t>Computational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6775" y="3050000"/>
            <a:ext cx="4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CBD5E1"/>
                </a:solidFill>
                <a:latin typeface="Inter"/>
              </a:rPr>
              <a:t>Feedforward vs. Feedback: whether the harness steers behavior before the model acts, or evaluates and corrects it after — and why real harnesses need both.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6525" y="2700000"/>
            <a:ext cx="4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818CF6"/>
                </a:solidFill>
                <a:latin typeface="Plus Jakarta Sans"/>
              </a:rPr>
              <a:t>Memory Controls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6525" y="3050000"/>
            <a:ext cx="48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CBD5E1"/>
                </a:solidFill>
                <a:latin typeface="Inter"/>
              </a:rPr>
              <a:t>Context Compaction vs. Tool Offloading: how a harness manages a model's limited attention budget over a long-running task, instead of letting context rot.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4600000"/>
            <a:ext cx="111252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8FAFC"/>
                </a:solidFill>
                <a:latin typeface="Inter"/>
              </a:rPr>
              <a:t>Together, these four mechanisms are what separate a harness that merely runs from one you can trust.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681162"/>
            <a:ext cx="5419725" cy="414322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681162"/>
            <a:ext cx="5419725" cy="414322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2167532"/>
            <a:ext cx="24765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" y="2949326"/>
            <a:ext cx="1143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50" y="3875930"/>
            <a:ext cx="1714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450" y="4802534"/>
            <a:ext cx="1905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6525" y="2167532"/>
            <a:ext cx="24765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38925" y="2949326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38925" y="3875930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38925" y="4610695"/>
            <a:ext cx="19050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3000" y="1957387"/>
            <a:ext cx="330041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8FAFC"/>
                </a:solidFill>
                <a:latin typeface="Plus Jakarta Sans SemiBold"/>
              </a:rPr>
              <a:t>Feedforward Controls (Guides)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319337"/>
            <a:ext cx="3143250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38BDF8"/>
                </a:solidFill>
                <a:latin typeface="Inter"/>
              </a:rPr>
              <a:t>Steers behavior </a:t>
            </a:r>
            <a:r>
              <a:rPr sz="975" b="0" i="1" u="none">
                <a:solidFill>
                  <a:srgbClr val="38BDF8"/>
                </a:solidFill>
                <a:latin typeface="Inter"/>
              </a:rPr>
              <a:t>before</a:t>
            </a:r>
            <a:r>
              <a:rPr sz="975" b="0" i="0" u="none">
                <a:solidFill>
                  <a:srgbClr val="38BDF8"/>
                </a:solidFill>
                <a:latin typeface="Inter"/>
              </a:rPr>
              <a:t> model invocation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2050" y="2920751"/>
            <a:ext cx="43910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Inter"/>
              </a:rPr>
              <a:t>AGENTS.md &amp; Repository Architecture Guides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50" y="3101726"/>
            <a:ext cx="4391025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Informs the agent of workspace rules, style guidelines, and design boundaries.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3847355"/>
            <a:ext cx="43338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Inter"/>
              </a:rPr>
              <a:t>Progressive Tool Disclosure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9200" y="4028330"/>
            <a:ext cx="4333875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Dynamically restricts tool schemas to prevent context bloating and hallucination.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250" y="4773959"/>
            <a:ext cx="43148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Inter"/>
              </a:rPr>
              <a:t>Upfront Sprint Contracts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8250" y="4954934"/>
            <a:ext cx="4314825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Negotiates strict "Definition of Done" acceptance criteria before generating code.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8475" y="1957387"/>
            <a:ext cx="306038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8FAFC"/>
                </a:solidFill>
                <a:latin typeface="Plus Jakarta Sans SemiBold"/>
              </a:rPr>
              <a:t>Feedback Controls (Sensors)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8475" y="2319337"/>
            <a:ext cx="2914650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818CF8"/>
                </a:solidFill>
                <a:latin typeface="Inter"/>
              </a:rPr>
              <a:t>Evaluates output </a:t>
            </a:r>
            <a:r>
              <a:rPr sz="975" b="0" i="1" u="none">
                <a:solidFill>
                  <a:srgbClr val="818CF8"/>
                </a:solidFill>
                <a:latin typeface="Inter"/>
              </a:rPr>
              <a:t>after</a:t>
            </a:r>
            <a:r>
              <a:rPr sz="975" b="0" i="0" u="none">
                <a:solidFill>
                  <a:srgbClr val="818CF8"/>
                </a:solidFill>
                <a:latin typeface="Inter"/>
              </a:rPr>
              <a:t> tool execution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6575" y="2920751"/>
            <a:ext cx="43719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Inter"/>
              </a:rPr>
              <a:t>Deterministic AST &amp; Linter Feeds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6575" y="3101726"/>
            <a:ext cx="4371975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Formats static analyzer &amp; syntax compiler errors directly into prompt feedback.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5625" y="3847355"/>
            <a:ext cx="4343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Inter"/>
              </a:rPr>
              <a:t>Automated Test Execution Suites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5625" y="4028330"/>
            <a:ext cx="4343400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Runs automated unit/integration tests in sandboxes to verify functionality.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3725" y="4582120"/>
            <a:ext cx="43148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Inter"/>
              </a:rPr>
              <a:t>Evaluator-Agent Verification Loops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3725" y="4763095"/>
            <a:ext cx="4314825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De-couples generation from evaluation using independent LLM reviewer roles.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400" y="438150"/>
            <a:ext cx="1165860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Feedforward vs. Feedback Controls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468909"/>
            <a:ext cx="4991100" cy="256788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0" y="2468909"/>
            <a:ext cx="4991100" cy="25678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3293715"/>
            <a:ext cx="455295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3674715"/>
            <a:ext cx="455295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475" y="4055715"/>
            <a:ext cx="455295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2475" y="4436715"/>
            <a:ext cx="455295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6575" y="3293715"/>
            <a:ext cx="455295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86575" y="3674715"/>
            <a:ext cx="455295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86575" y="4055715"/>
            <a:ext cx="4552950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86575" y="4436715"/>
            <a:ext cx="4552950" cy="3048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52475" y="2687984"/>
            <a:ext cx="4780597" cy="21907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7171"/>
                </a:solidFill>
                <a:latin typeface="Plus Jakarta Sans SemiBold"/>
              </a:rPr>
              <a:t>Raw Unmanaged Trajectory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475" y="3002309"/>
            <a:ext cx="4552950" cy="177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95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Token budget exhaustion &amp; reasoning degradation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3795712"/>
            <a:ext cx="762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38BDF8"/>
                </a:solidFill>
                <a:latin typeface="Fira Code"/>
              </a:rPr>
              <a:t>Harness Compaction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6575" y="2687984"/>
            <a:ext cx="4780597" cy="21907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34D399"/>
                </a:solidFill>
                <a:latin typeface="Plus Jakarta Sans SemiBold"/>
              </a:rPr>
              <a:t>Harness-Managed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6575" y="3002309"/>
            <a:ext cx="4552950" cy="1771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95"/>
              </a:lnSpc>
            </a:pPr>
            <a:r>
              <a:rPr sz="900" b="0" i="0" u="none">
                <a:solidFill>
                  <a:srgbClr val="94A3B8"/>
                </a:solidFill>
                <a:latin typeface="Inter"/>
              </a:rPr>
              <a:t>Preserves attention &amp; focus on critical task state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2475" y="2726084"/>
            <a:ext cx="171450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86575" y="2726084"/>
            <a:ext cx="171450" cy="1714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3400" y="438150"/>
            <a:ext cx="1165860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Context Compaction &amp; Tool Offloading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5787" y="2537073"/>
            <a:ext cx="3400425" cy="504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565773"/>
            <a:ext cx="3549550" cy="140285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1075" y="3565773"/>
            <a:ext cx="3549699" cy="140285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8900" y="3565773"/>
            <a:ext cx="3549550" cy="14028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00813" y="2679948"/>
            <a:ext cx="2990373" cy="219075"/>
          </a:xfrm>
          <a:prstGeom prst="rect">
            <a:avLst/>
          </a:prstGeom>
          <a:noFill/>
        </p:spPr>
        <p:txBody>
          <a:bodyPr wrap="square" lIns="15240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F8FAFC"/>
                </a:solidFill>
                <a:latin typeface="Plus Jakarta Sans SemiBold"/>
              </a:rPr>
              <a:t>Proposed Tool Action Evaluation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2012" y="2718048"/>
            <a:ext cx="15240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3875" y="3784848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4687" y="4108698"/>
            <a:ext cx="33069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34D399"/>
                </a:solidFill>
                <a:latin typeface="Plus Jakarta Sans"/>
              </a:rPr>
              <a:t>Low-Risk / Read-Only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425" y="4384923"/>
            <a:ext cx="3149500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Automated Sandbox Execution. Runs file reads, local tests, and code analysis without pause.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52976" y="3784848"/>
            <a:ext cx="28575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42359" y="4108698"/>
            <a:ext cx="330713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BBF24"/>
                </a:solidFill>
                <a:latin typeface="Plus Jakarta Sans"/>
              </a:rPr>
              <a:t>High-Risk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100" y="4384923"/>
            <a:ext cx="3149649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HITL Gate Intercept. Mandates human verification before DB writes or infra mutations.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40800" y="3784848"/>
            <a:ext cx="28575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30187" y="4108698"/>
            <a:ext cx="330697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87171"/>
                </a:solidFill>
                <a:latin typeface="Plus Jakarta Sans"/>
              </a:rPr>
              <a:t>Execution Failure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8925" y="4384923"/>
            <a:ext cx="3149500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Graceful Error Recovery. Harness captures stack trace and prompts self-correction loop.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438150"/>
            <a:ext cx="1165860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Human-in-the-Loop &amp; Safety Fallbacks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190625" y="2476500"/>
          <a:ext cx="9810750" cy="25525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67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76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051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8BDF8"/>
                          </a:solidFill>
                          <a:latin typeface="Plus Jakarta Sans SemiBold"/>
                        </a:rPr>
                        <a:t>Control Dimension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8BDF8"/>
                          </a:solidFill>
                          <a:latin typeface="Plus Jakarta Sans SemiBold"/>
                        </a:rPr>
                        <a:t>Computational Controls (CPU / Static)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8BDF8"/>
                          </a:solidFill>
                          <a:latin typeface="Plus Jakarta Sans SemiBold"/>
                        </a:rPr>
                        <a:t>Inferential Controls (GPU / LLM)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1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Inter"/>
                        </a:rPr>
                        <a:t>Primary Mechanism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Static analysis, linters, AST validation, unit tests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LLM-as-a-Judge, evaluator agents, semantic review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1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Inter"/>
                        </a:rPr>
                        <a:t>Execution Speed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Milliseconds (Instant execution feedback)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Seconds to minutes (Inference overhead)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51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Inter"/>
                        </a:rPr>
                        <a:t>Determinism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100% deterministic &amp; repeatable pass/fail signals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Probabilistic, non-deterministic semantic judgment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51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CBD5E1"/>
                          </a:solidFill>
                          <a:latin typeface="Inter"/>
                        </a:rPr>
                        <a:t>Token &amp; Cost Impact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Zero LLM token consumption, low resource cost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CBD5E1"/>
                          </a:solidFill>
                          <a:latin typeface="Inter"/>
                        </a:rPr>
                        <a:t>Consumes context window &amp; inference API budget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190625" y="2979390"/>
            <a:ext cx="18669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057525" y="2979390"/>
            <a:ext cx="38671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24675" y="2979390"/>
            <a:ext cx="40767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90625" y="3491805"/>
            <a:ext cx="18669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57525" y="3491805"/>
            <a:ext cx="38671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924675" y="3491805"/>
            <a:ext cx="40767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90625" y="4004220"/>
            <a:ext cx="18669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057525" y="4004220"/>
            <a:ext cx="38671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924675" y="4004220"/>
            <a:ext cx="40767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90625" y="4516635"/>
            <a:ext cx="18669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057525" y="4516635"/>
            <a:ext cx="386715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924675" y="4516635"/>
            <a:ext cx="40767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3400" y="438150"/>
            <a:ext cx="1165860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Computational vs. Inferential Controls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433637"/>
            <a:ext cx="11125200" cy="5524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128962"/>
            <a:ext cx="11125200" cy="5524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824287"/>
            <a:ext cx="11125200" cy="552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4519612"/>
            <a:ext cx="11125200" cy="552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9425" y="2595562"/>
            <a:ext cx="843915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9425" y="3290887"/>
            <a:ext cx="843915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9425" y="3986212"/>
            <a:ext cx="843915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9425" y="4681537"/>
            <a:ext cx="8439150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9425" y="2595562"/>
            <a:ext cx="2109787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19425" y="3290887"/>
            <a:ext cx="4219575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19425" y="3986212"/>
            <a:ext cx="6076057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19425" y="4681537"/>
            <a:ext cx="7848302" cy="2286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33425" y="2619375"/>
            <a:ext cx="20955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8FAFC"/>
                </a:solidFill>
                <a:latin typeface="Inter SemiBold"/>
              </a:rPr>
              <a:t>Naked Model 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" y="3314700"/>
            <a:ext cx="20955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8FAFC"/>
                </a:solidFill>
                <a:latin typeface="Inter SemiBold"/>
              </a:rPr>
              <a:t>Prompt Wrappers + 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425" y="4010025"/>
            <a:ext cx="20955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8FAFC"/>
                </a:solidFill>
                <a:latin typeface="Inter SemiBold"/>
              </a:rPr>
              <a:t>Basic ReAct Tool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425" y="4705350"/>
            <a:ext cx="20955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8FAFC"/>
                </a:solidFill>
                <a:latin typeface="Inter SemiBold"/>
              </a:rPr>
              <a:t>Full Harness Infrastructure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38150"/>
            <a:ext cx="1165860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The Spectrum of Agent Control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333500" y="2247900"/>
            <a:ext cx="9525000" cy="560040"/>
          </a:xfrm>
          <a:prstGeom prst="roundRect">
            <a:avLst>
              <a:gd name="adj" fmla="val 1360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57375" y="2400300"/>
            <a:ext cx="8810625" cy="255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 dirty="0">
                <a:solidFill>
                  <a:srgbClr val="F8FAFC"/>
                </a:solidFill>
                <a:latin typeface="Inter SemiBold"/>
              </a:rPr>
              <a:t>Sprint Contracts:</a:t>
            </a:r>
            <a:r>
              <a:rPr sz="1200" b="0" i="0" u="none" dirty="0">
                <a:solidFill>
                  <a:srgbClr val="CBD5E1"/>
                </a:solidFill>
                <a:latin typeface="Inter"/>
              </a:rPr>
              <a:t> Formal acceptance criteria negotiated between generator and evaluator before code generation starts.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33500" y="2941290"/>
            <a:ext cx="9525000" cy="560040"/>
          </a:xfrm>
          <a:prstGeom prst="roundRect">
            <a:avLst>
              <a:gd name="adj" fmla="val 1360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57375" y="3093690"/>
            <a:ext cx="8810625" cy="255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F8FAFC"/>
                </a:solidFill>
                <a:latin typeface="Inter SemiBold"/>
              </a:rPr>
              <a:t>Role-Split Architectures: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Decouple Planner, Generator, and Evaluator into distinct isolated invocation contexts.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33500" y="3634680"/>
            <a:ext cx="9525000" cy="560040"/>
          </a:xfrm>
          <a:prstGeom prst="roundRect">
            <a:avLst>
              <a:gd name="adj" fmla="val 1360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57375" y="3787080"/>
            <a:ext cx="8810625" cy="255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F8FAFC"/>
                </a:solidFill>
                <a:latin typeface="Inter SemiBold"/>
              </a:rPr>
              <a:t>Ephemeral Sandboxing: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Execute all terminal commands inside ephemeral micro-VMs or container sandboxes.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33500" y="4328070"/>
            <a:ext cx="9525000" cy="796230"/>
          </a:xfrm>
          <a:prstGeom prst="roundRect">
            <a:avLst>
              <a:gd name="adj" fmla="val 957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57375" y="4480470"/>
            <a:ext cx="8810625" cy="4914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F8FAFC"/>
                </a:solidFill>
                <a:latin typeface="Inter SemiBold"/>
              </a:rPr>
              <a:t>Aggressive Context Compaction:</a:t>
            </a:r>
            <a:r>
              <a:rPr sz="1200" b="0" i="0" u="none">
                <a:solidFill>
                  <a:srgbClr val="CBD5E1"/>
                </a:solidFill>
                <a:latin typeface="Inter"/>
              </a:rPr>
              <a:t> Automatically collapse historical execution logs into local file pointers and concise state summaries.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33500" y="2798415"/>
            <a:ext cx="9525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33500" y="3491805"/>
            <a:ext cx="9525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333500" y="4185195"/>
            <a:ext cx="9525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333500" y="5114776"/>
            <a:ext cx="9525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475" y="2424112"/>
            <a:ext cx="219075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4475" y="3117502"/>
            <a:ext cx="238125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4475" y="3810892"/>
            <a:ext cx="19050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4475" y="4504283"/>
            <a:ext cx="219075" cy="20002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33400" y="438150"/>
            <a:ext cx="1165860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Core Harness Architectural Patterns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01105" y="2799457"/>
            <a:ext cx="8789640" cy="1439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sz="2700" b="0" i="0" u="none">
                <a:solidFill>
                  <a:srgbClr val="F8FAFC"/>
                </a:solidFill>
                <a:latin typeface="Plus Jakarta Sans Medium"/>
              </a:rPr>
              <a:t>Anytime you find an agent makes a mistake, engineer a solution into the harness so that the agent never makes that mistake again.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00488" y="4477494"/>
            <a:ext cx="1990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38BDF8"/>
                </a:solidFill>
                <a:latin typeface="Inter SemiBold"/>
              </a:rPr>
              <a:t>— Mitchell Hashimoto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24855" y="3037582"/>
            <a:ext cx="323850" cy="962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6000" b="0" i="0" u="none">
                <a:solidFill>
                  <a:srgbClr val="38BDF8"/>
                </a:solidFill>
                <a:latin typeface="Plus Jakarta Sans Medium"/>
              </a:rPr>
              <a:t>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43146" y="4239370"/>
            <a:ext cx="323850" cy="962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0"/>
              </a:lnSpc>
            </a:pPr>
            <a:r>
              <a:rPr sz="6000" b="0" i="0" u="none">
                <a:solidFill>
                  <a:srgbClr val="38BDF8"/>
                </a:solidFill>
                <a:latin typeface="Plus Jakarta Sans Medium"/>
              </a:rPr>
              <a:t>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438150"/>
            <a:ext cx="1165860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The Steering Loop Mindset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681162"/>
            <a:ext cx="5419725" cy="414322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1681162"/>
            <a:ext cx="5419725" cy="414322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2167532"/>
            <a:ext cx="24765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450" y="2949326"/>
            <a:ext cx="11430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50" y="3875930"/>
            <a:ext cx="1714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450" y="4802534"/>
            <a:ext cx="19050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6525" y="2167532"/>
            <a:ext cx="247650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38925" y="2949326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38925" y="3875930"/>
            <a:ext cx="15240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38925" y="4610695"/>
            <a:ext cx="190500" cy="152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3000" y="1957387"/>
            <a:ext cx="330041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8FAFC"/>
                </a:solidFill>
                <a:latin typeface="Plus Jakarta Sans SemiBold"/>
              </a:rPr>
              <a:t>Spec-Driven Development: The Methodology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319337"/>
            <a:ext cx="3143250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38BDF8"/>
                </a:solidFill>
                <a:latin typeface="Inter"/>
              </a:rPr>
              <a:t>What teams commit to doing</a:t>
            </a:r>
            <a:r>
              <a:rPr sz="975" b="0" i="1" u="none">
                <a:solidFill>
                  <a:srgbClr val="38BDF8"/>
                </a:solidFill>
                <a:latin typeface="Inter"/>
              </a:rPr>
              <a:t/>
            </a:r>
            <a:r>
              <a:rPr sz="975" b="0" i="0" u="none">
                <a:solidFill>
                  <a:srgbClr val="38BDF8"/>
                </a:solidFill>
                <a:latin typeface="Inter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2050" y="2920751"/>
            <a:ext cx="43910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Inter"/>
              </a:rPr>
              <a:t>Define the Spec 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2050" y="3101726"/>
            <a:ext cx="4391025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Write the acceptance criteria and Definition of Done before any code is generated, not after.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9200" y="3847355"/>
            <a:ext cx="43338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Inter"/>
              </a:rPr>
              <a:t>Generate Against the Spec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9200" y="4028330"/>
            <a:ext cx="4333875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The model produces code aimed at a fixed target, instead of an open-ended, negotiable request.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250" y="4773959"/>
            <a:ext cx="43148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Inter"/>
              </a:rPr>
              <a:t>Verify Systematically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8250" y="4954934"/>
            <a:ext cx="4314825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Every change is checked against the spec's criteria before it ships, not just reviewed by eye.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48475" y="1957387"/>
            <a:ext cx="3060382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F8FAFC"/>
                </a:solidFill>
                <a:latin typeface="Plus Jakarta Sans SemiBold"/>
              </a:rPr>
              <a:t>Harness Engineering: The Infrastructure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48475" y="2319337"/>
            <a:ext cx="2914650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818CF8"/>
                </a:solidFill>
                <a:latin typeface="Inter"/>
              </a:rPr>
              <a:t>What makes the methodology enforceable</a:t>
            </a:r>
            <a:r>
              <a:rPr sz="975" b="0" i="1" u="none">
                <a:solidFill>
                  <a:srgbClr val="818CF8"/>
                </a:solidFill>
                <a:latin typeface="Inter"/>
              </a:rPr>
              <a:t/>
            </a:r>
            <a:r>
              <a:rPr sz="975" b="0" i="0" u="none">
                <a:solidFill>
                  <a:srgbClr val="818CF8"/>
                </a:solidFill>
                <a:latin typeface="Inter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6575" y="2920751"/>
            <a:ext cx="43719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Inter"/>
              </a:rPr>
              <a:t>Guides Encode the Spec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6575" y="3101726"/>
            <a:ext cx="4371975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Feedforward controls (AGENTS.md, Sprint Contracts) put the spec directly in front of the model before it generates.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5625" y="3847355"/>
            <a:ext cx="43434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Inter"/>
              </a:rPr>
              <a:t>Sensors &amp; Evaluators Verify 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5625" y="4028330"/>
            <a:ext cx="4343400" cy="191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Feedback controls (lint, tests, reviewer agents) check the output against that same spec automatically.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3725" y="4582120"/>
            <a:ext cx="43148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FAFC"/>
                </a:solidFill>
                <a:latin typeface="Inter"/>
              </a:rPr>
              <a:t>Sandboxes Make It Safe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3725" y="4763095"/>
            <a:ext cx="4314825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Guardrails and ephemeral execution let verification run repeatedly without risking production.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400" y="438150"/>
            <a:ext cx="1165860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Harness Engineering &amp; Spec-Driven Development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3400" y="1450000"/>
            <a:ext cx="11658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Inter"/>
              </a:rPr>
              <a:t>Spec-Driven Development is the practice; Harness Engineering is what makes it enforceable at scale.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733800"/>
            <a:ext cx="11125200" cy="38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990975"/>
            <a:ext cx="2447478" cy="117425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5874" y="2340471"/>
            <a:ext cx="2447478" cy="117425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349" y="3990975"/>
            <a:ext cx="2447478" cy="117425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0823" y="1956792"/>
            <a:ext cx="2447478" cy="15579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2236" y="4171950"/>
            <a:ext cx="2189804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8BDF8"/>
                </a:solidFill>
                <a:latin typeface="Plus Jakarta Sans SemiBold"/>
              </a:rPr>
              <a:t>/spine Central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375" y="4486275"/>
            <a:ext cx="2085528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One portal for spec management, observability, and pipeline status across every onboarded team.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4711" y="2521446"/>
            <a:ext cx="2189804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8BDF8"/>
                </a:solidFill>
                <a:latin typeface="Plus Jakarta Sans SemiBold"/>
              </a:rPr>
              <a:t>Federated Edges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6849" y="2835771"/>
            <a:ext cx="2085528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Each product team adapts the shared harness to its own stack instead of forking a new 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7186" y="4171950"/>
            <a:ext cx="2189804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8BDF8"/>
                </a:solidFill>
                <a:latin typeface="Plus Jakarta Sans SemiBold"/>
              </a:rPr>
              <a:t>Agent Ops: Central + Embedded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9324" y="4486275"/>
            <a:ext cx="2085528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A centralized team sets the standard; embedded Agent Ops in each product group applies it day to day.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9660" y="2137767"/>
            <a:ext cx="2189804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8BDF8"/>
                </a:solidFill>
                <a:latin typeface="Plus Jakarta Sans SemiBold"/>
              </a:rPr>
              <a:t>Pod Construction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1798" y="2452092"/>
            <a:ext cx="2085528" cy="7673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Small cross-functional pods (developer, tester, reviewer, ops) mirror the harness's own role-split architecture.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438150"/>
            <a:ext cx="1165860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Harness in Practice: Adoption Across ISG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61889" y="36576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54363" y="36576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446838" y="36576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339313" y="36576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3400" y="1450000"/>
            <a:ext cx="11658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Inter"/>
              </a:rPr>
              <a:t>How teams onboard to PowerSpine and organize around 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733800"/>
            <a:ext cx="11125200" cy="38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3990975"/>
            <a:ext cx="2447478" cy="117425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5874" y="2340471"/>
            <a:ext cx="2447478" cy="117425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8349" y="3990975"/>
            <a:ext cx="2447478" cy="1174253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0823" y="1956792"/>
            <a:ext cx="2447478" cy="15579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2236" y="4171950"/>
            <a:ext cx="2189804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8BDF8"/>
                </a:solidFill>
                <a:latin typeface="Plus Jakarta Sans SemiBold"/>
              </a:rPr>
              <a:t>Harnesses Determine Reliability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375" y="4486275"/>
            <a:ext cx="2085528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Not raw model intelligence — the guides, sensors, and guardrails around it are what make agents production-ready.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4711" y="2521446"/>
            <a:ext cx="2189804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8BDF8"/>
                </a:solidFill>
                <a:latin typeface="Plus Jakarta Sans SemiBold"/>
              </a:rPr>
              <a:t>The Anatomy Is Concrete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6849" y="2835771"/>
            <a:ext cx="2085528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Guides, Sensors, Feedback Loops, Sandboxes, and Guardrails aren't abstract — they're the exact controls inside PowerSpine today.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7186" y="4171950"/>
            <a:ext cx="2189804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8BDF8"/>
                </a:solidFill>
                <a:latin typeface="Plus Jakarta Sans SemiBold"/>
              </a:rPr>
              <a:t>PowerSpine Already 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9324" y="4486275"/>
            <a:ext cx="2085528" cy="383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DPC, Polaris, and UDS prove the model: same harness, faster delivery, fewer defects.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9660" y="2137767"/>
            <a:ext cx="2189804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8BDF8"/>
                </a:solidFill>
                <a:latin typeface="Plus Jakarta Sans SemiBold"/>
              </a:rPr>
              <a:t>Use It. Improve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1798" y="2452092"/>
            <a:ext cx="2085528" cy="76735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11"/>
              </a:lnSpc>
            </a:pPr>
            <a:r>
              <a:rPr sz="975" b="0" i="0" u="none">
                <a:solidFill>
                  <a:srgbClr val="94A3B8"/>
                </a:solidFill>
                <a:latin typeface="Inter"/>
              </a:rPr>
              <a:t>Explore /spine central, adopt it in your federated edge, and share feedback — the team is iterating.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438150"/>
            <a:ext cx="11658600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Key Takeaways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61889" y="36576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54363" y="36576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446838" y="36576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339313" y="3657600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3400" y="1450000"/>
            <a:ext cx="116586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94A3B8"/>
                </a:solidFill>
                <a:latin typeface="Inter"/>
              </a:rPr>
              <a:t>What to remember, and what to do next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2509391"/>
            <a:ext cx="11658600" cy="819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100" b="1" i="0" u="none">
                <a:solidFill>
                  <a:srgbClr val="F8FAFC"/>
                </a:solidFill>
                <a:latin typeface="Plus Jakarta Sans"/>
              </a:rPr>
              <a:t>Architecting the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3499991"/>
            <a:ext cx="11125200" cy="3247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57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Models provide reasoning intelligence. Harness Engineering provides systems reliability.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4158108"/>
            <a:ext cx="11125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0" i="0" u="none">
                <a:solidFill>
                  <a:srgbClr val="94A3B8"/>
                </a:solidFill>
                <a:latin typeface="Inter"/>
              </a:rPr>
              <a:t>Questions &amp; Discussion • Software Engineering in the Agentic Era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04975" y="2901255"/>
            <a:ext cx="922115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F8FAFC"/>
                </a:solidFill>
                <a:latin typeface="Plus Jakarta Sans"/>
              </a:rPr>
              <a:t>Harness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04975" y="3606105"/>
            <a:ext cx="8782050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The engineered infrastructure of guides, sensors, guardrails, and sandboxes built around a model to make its behavior reliable, safe, and repeatable.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04975" y="2901255"/>
            <a:ext cx="922115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F8FAFC"/>
                </a:solidFill>
                <a:latin typeface="Plus Jakarta Sans"/>
              </a:rPr>
              <a:t>Agent = Harness + 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04975" y="3606105"/>
            <a:ext cx="8782050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An agent is a model's reasoning wrapped in a harness that steers, checks, and constrains it — intelligence alone isn't an agent.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04975" y="2901255"/>
            <a:ext cx="922115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F8FAFC"/>
                </a:solidFill>
                <a:latin typeface="Plus Jakarta Sans"/>
              </a:rPr>
              <a:t>Spec-Driven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04975" y="3606105"/>
            <a:ext cx="8782050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Define the spec and Definition of Done first, then generate and verify code against it — not the other way around.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" y="438150"/>
            <a:ext cx="111252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F8FAFC"/>
                </a:solidFill>
                <a:latin typeface="Plus Jakarta Sans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150000"/>
            <a:ext cx="11125200" cy="236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sz="1200" b="0" i="0" u="none">
                <a:solidFill>
                  <a:srgbClr val="94A3B8"/>
                </a:solidFill>
                <a:latin typeface="Inter"/>
              </a:rPr>
              <a:t>Watching a harness evolve, one control at a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2400000"/>
            <a:ext cx="7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8BDF8"/>
                </a:solidFill>
                <a:latin typeface="Plus Jakarta San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50000" y="2400000"/>
            <a:ext cx="9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BD5E1"/>
                </a:solidFill>
                <a:latin typeface="Inter"/>
              </a:rPr>
              <a:t>Model only — no controls, confidently wrong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3100000"/>
            <a:ext cx="7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8BDF8"/>
                </a:solidFill>
                <a:latin typeface="Plus Jakarta San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0000" y="3100000"/>
            <a:ext cx="9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BD5E1"/>
                </a:solidFill>
                <a:latin typeface="Inter"/>
              </a:rPr>
              <a:t>Guide + Sensor + feedback loop — the model self-corrects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3800000"/>
            <a:ext cx="7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38BDF8"/>
                </a:solidFill>
                <a:latin typeface="Plus Jakarta San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0000" y="3800000"/>
            <a:ext cx="9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CBD5E1"/>
                </a:solidFill>
                <a:latin typeface="Inter"/>
              </a:rPr>
              <a:t>Sandbox + Guardrails + Human-in-the-Loop — safe by construction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2509391"/>
            <a:ext cx="11658600" cy="819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100" b="1" i="0" u="none">
                <a:solidFill>
                  <a:srgbClr val="F8FAFC"/>
                </a:solidFill>
                <a:latin typeface="Plus Jakarta Sans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3499991"/>
            <a:ext cx="11125200" cy="3247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57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What's working, what's not, and what do you need?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4158108"/>
            <a:ext cx="11125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0" i="0" u="none">
                <a:solidFill>
                  <a:srgbClr val="94A3B8"/>
                </a:solidFill>
                <a:latin typeface="Inter"/>
              </a:rPr>
              <a:t>Share it with your leaders — that's how we get this right.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6700" y="2509391"/>
            <a:ext cx="11658600" cy="819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100" b="1" i="0" u="none">
                <a:solidFill>
                  <a:srgbClr val="F8FAFC"/>
                </a:solidFill>
                <a:latin typeface="Plus Jakarta San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3499991"/>
            <a:ext cx="11125200" cy="3247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557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Explore /spine central. Build within your federated edge. Embrace the harness.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400" y="4158108"/>
            <a:ext cx="111252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0" i="0" u="none">
                <a:solidFill>
                  <a:srgbClr val="94A3B8"/>
                </a:solidFill>
                <a:latin typeface="Inter"/>
              </a:rPr>
              <a:t>Harness Engineering • Software Engineering in the Agentic Era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637</Words>
  <Application>Microsoft Office PowerPoint</Application>
  <PresentationFormat>Widescreen</PresentationFormat>
  <Paragraphs>93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Inter</vt:lpstr>
      <vt:lpstr>Inter Medium</vt:lpstr>
      <vt:lpstr>Inter SemiBold</vt:lpstr>
      <vt:lpstr>Plus Jakarta Sans</vt:lpstr>
      <vt:lpstr>Plus Jakarta Sans Medium</vt:lpstr>
      <vt:lpstr>Plus Jakarta Sans SemiBold</vt:lpstr>
      <vt:lpstr>Arial</vt:lpstr>
      <vt:lpstr>Calibri</vt:lpstr>
      <vt:lpstr>Fira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Akuleti, Balakrishna</cp:lastModifiedBy>
  <cp:revision>1</cp:revision>
  <dcterms:created xsi:type="dcterms:W3CDTF">2013-01-27T09:14:16Z</dcterms:created>
  <dcterms:modified xsi:type="dcterms:W3CDTF">2026-09-11T11:10:08Z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ad3be33-4108-4738-9e07-d8656a181486_Enabled">
    <vt:lpwstr>true</vt:lpwstr>
  </property>
  <property fmtid="{D5CDD505-2E9C-101B-9397-08002B2CF9AE}" pid="3" name="MSIP_Label_dad3be33-4108-4738-9e07-d8656a181486_SetDate">
    <vt:lpwstr>2026-09-11T08:49:10Z</vt:lpwstr>
  </property>
  <property fmtid="{D5CDD505-2E9C-101B-9397-08002B2CF9AE}" pid="4" name="MSIP_Label_dad3be33-4108-4738-9e07-d8656a181486_Method">
    <vt:lpwstr>Privileged</vt:lpwstr>
  </property>
  <property fmtid="{D5CDD505-2E9C-101B-9397-08002B2CF9AE}" pid="5" name="MSIP_Label_dad3be33-4108-4738-9e07-d8656a181486_Name">
    <vt:lpwstr>Public No Visual Label</vt:lpwstr>
  </property>
  <property fmtid="{D5CDD505-2E9C-101B-9397-08002B2CF9AE}" pid="6" name="MSIP_Label_dad3be33-4108-4738-9e07-d8656a181486_SiteId">
    <vt:lpwstr>945c199a-83a2-4e80-9f8c-5a91be5752dd</vt:lpwstr>
  </property>
  <property fmtid="{D5CDD505-2E9C-101B-9397-08002B2CF9AE}" pid="7" name="MSIP_Label_dad3be33-4108-4738-9e07-d8656a181486_ActionId">
    <vt:lpwstr>316d7057-f73b-4a66-9c1e-a2a762d83c79</vt:lpwstr>
  </property>
  <property fmtid="{D5CDD505-2E9C-101B-9397-08002B2CF9AE}" pid="8" name="MSIP_Label_dad3be33-4108-4738-9e07-d8656a181486_ContentBits">
    <vt:lpwstr>0</vt:lpwstr>
  </property>
  <property fmtid="{D5CDD505-2E9C-101B-9397-08002B2CF9AE}" pid="9" name="MSIP_Label_dad3be33-4108-4738-9e07-d8656a181486_Tag">
    <vt:lpwstr>10, 0, 1, 1</vt:lpwstr>
  </property>
</Properties>
</file>