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4" r:id="rId3"/>
    <p:sldId id="277" r:id="rId4"/>
    <p:sldId id="276" r:id="rId5"/>
    <p:sldId id="278" r:id="rId6"/>
    <p:sldId id="283" r:id="rId7"/>
    <p:sldId id="284" r:id="rId8"/>
    <p:sldId id="257" r:id="rId9"/>
    <p:sldId id="258" r:id="rId10"/>
    <p:sldId id="259" r:id="rId11"/>
    <p:sldId id="260" r:id="rId12"/>
    <p:sldId id="269" r:id="rId13"/>
    <p:sldId id="270" r:id="rId14"/>
    <p:sldId id="275" r:id="rId15"/>
    <p:sldId id="261" r:id="rId16"/>
    <p:sldId id="262" r:id="rId17"/>
    <p:sldId id="263" r:id="rId18"/>
    <p:sldId id="264" r:id="rId19"/>
    <p:sldId id="265" r:id="rId20"/>
    <p:sldId id="266" r:id="rId21"/>
    <p:sldId id="267" r:id="rId22"/>
    <p:sldId id="271" r:id="rId23"/>
    <p:sldId id="272" r:id="rId24"/>
    <p:sldId id="273" r:id="rId25"/>
    <p:sldId id="285" r:id="rId26"/>
    <p:sldId id="279" r:id="rId27"/>
    <p:sldId id="282" r:id="rId28"/>
    <p:sldId id="268" r:id="rId29"/>
    <p:sldId id="280" r:id="rId30"/>
    <p:sldId id="281"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91EBF0-C6B2-470A-85B3-7401B8E34DC7}" v="11" dt="2026-09-11T11:05:08.5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2" d="100"/>
          <a:sy n="92" d="100"/>
        </p:scale>
        <p:origin x="312"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kuleti, Balakrishna" userId="4cd960a8-f512-45b7-8857-0bbad2becb11" providerId="ADAL" clId="{2C42B997-A401-4EBE-B507-8DB2AF390CCA}"/>
    <pc:docChg chg="undo custSel mod addSld delSld modSld">
      <pc:chgData name="Akuleti, Balakrishna" userId="4cd960a8-f512-45b7-8857-0bbad2becb11" providerId="ADAL" clId="{2C42B997-A401-4EBE-B507-8DB2AF390CCA}" dt="2026-09-11T11:10:07.127" v="43" actId="2696"/>
      <pc:docMkLst>
        <pc:docMk/>
      </pc:docMkLst>
      <pc:sldChg chg="new del">
        <pc:chgData name="Akuleti, Balakrishna" userId="4cd960a8-f512-45b7-8857-0bbad2becb11" providerId="ADAL" clId="{2C42B997-A401-4EBE-B507-8DB2AF390CCA}" dt="2026-09-11T11:02:12.264" v="3" actId="2696"/>
        <pc:sldMkLst>
          <pc:docMk/>
          <pc:sldMk cId="1639675057" sldId="269"/>
        </pc:sldMkLst>
      </pc:sldChg>
      <pc:sldChg chg="addSp delSp modSp add del mod setBg modClrScheme chgLayout">
        <pc:chgData name="Akuleti, Balakrishna" userId="4cd960a8-f512-45b7-8857-0bbad2becb11" providerId="ADAL" clId="{2C42B997-A401-4EBE-B507-8DB2AF390CCA}" dt="2026-09-11T11:10:07.127" v="43" actId="2696"/>
        <pc:sldMkLst>
          <pc:docMk/>
          <pc:sldMk cId="2241811958" sldId="270"/>
        </pc:sldMkLst>
        <pc:spChg chg="add del mod">
          <ac:chgData name="Akuleti, Balakrishna" userId="4cd960a8-f512-45b7-8857-0bbad2becb11" providerId="ADAL" clId="{2C42B997-A401-4EBE-B507-8DB2AF390CCA}" dt="2026-09-11T11:04:29.980" v="34" actId="478"/>
          <ac:spMkLst>
            <pc:docMk/>
            <pc:sldMk cId="2241811958" sldId="270"/>
            <ac:spMk id="3" creationId="{EF16E0FE-B8EC-CC2C-76D2-7E2635A67E69}"/>
          </ac:spMkLst>
        </pc:spChg>
        <pc:spChg chg="del">
          <ac:chgData name="Akuleti, Balakrishna" userId="4cd960a8-f512-45b7-8857-0bbad2becb11" providerId="ADAL" clId="{2C42B997-A401-4EBE-B507-8DB2AF390CCA}" dt="2026-09-11T11:03:07.449" v="5" actId="478"/>
          <ac:spMkLst>
            <pc:docMk/>
            <pc:sldMk cId="2241811958" sldId="270"/>
            <ac:spMk id="4" creationId="{A0439744-D414-D6E7-B98F-3FB76E8B3466}"/>
          </ac:spMkLst>
        </pc:spChg>
        <pc:spChg chg="add del mod ord">
          <ac:chgData name="Akuleti, Balakrishna" userId="4cd960a8-f512-45b7-8857-0bbad2becb11" providerId="ADAL" clId="{2C42B997-A401-4EBE-B507-8DB2AF390CCA}" dt="2026-09-11T11:04:56.353" v="39" actId="478"/>
          <ac:spMkLst>
            <pc:docMk/>
            <pc:sldMk cId="2241811958" sldId="270"/>
            <ac:spMk id="5" creationId="{583A39A6-A50D-BDD5-DCE6-A8371AACA971}"/>
          </ac:spMkLst>
        </pc:spChg>
        <pc:spChg chg="add del mod ord">
          <ac:chgData name="Akuleti, Balakrishna" userId="4cd960a8-f512-45b7-8857-0bbad2becb11" providerId="ADAL" clId="{2C42B997-A401-4EBE-B507-8DB2AF390CCA}" dt="2026-09-11T11:04:37.199" v="35" actId="1076"/>
          <ac:spMkLst>
            <pc:docMk/>
            <pc:sldMk cId="2241811958" sldId="270"/>
            <ac:spMk id="6" creationId="{0126ED51-6230-8876-2EE5-9062CF4558EF}"/>
          </ac:spMkLst>
        </pc:spChg>
        <pc:spChg chg="add del mod">
          <ac:chgData name="Akuleti, Balakrishna" userId="4cd960a8-f512-45b7-8857-0bbad2becb11" providerId="ADAL" clId="{2C42B997-A401-4EBE-B507-8DB2AF390CCA}" dt="2026-09-11T11:04:59.280" v="41" actId="478"/>
          <ac:spMkLst>
            <pc:docMk/>
            <pc:sldMk cId="2241811958" sldId="270"/>
            <ac:spMk id="10" creationId="{593FD7E3-B6CD-4900-4935-14CA77DE9E2B}"/>
          </ac:spMkLst>
        </pc:spChg>
        <pc:spChg chg="add mod">
          <ac:chgData name="Akuleti, Balakrishna" userId="4cd960a8-f512-45b7-8857-0bbad2becb11" providerId="ADAL" clId="{2C42B997-A401-4EBE-B507-8DB2AF390CCA}" dt="2026-09-11T11:05:08.501" v="42"/>
          <ac:spMkLst>
            <pc:docMk/>
            <pc:sldMk cId="2241811958" sldId="270"/>
            <ac:spMk id="12" creationId="{7163F70B-6661-97A4-C0F4-D7BA91E93DC8}"/>
          </ac:spMkLst>
        </pc:spChg>
        <pc:graphicFrameChg chg="add mod">
          <ac:chgData name="Akuleti, Balakrishna" userId="4cd960a8-f512-45b7-8857-0bbad2becb11" providerId="ADAL" clId="{2C42B997-A401-4EBE-B507-8DB2AF390CCA}" dt="2026-09-11T11:03:43.083" v="11"/>
          <ac:graphicFrameMkLst>
            <pc:docMk/>
            <pc:sldMk cId="2241811958" sldId="270"/>
            <ac:graphicFrameMk id="7" creationId="{F2553A0A-6C0D-9AD3-03E6-47D47962EC8F}"/>
          </ac:graphicFrameMkLst>
        </pc:graphicFrameChg>
        <pc:graphicFrameChg chg="add mod">
          <ac:chgData name="Akuleti, Balakrishna" userId="4cd960a8-f512-45b7-8857-0bbad2becb11" providerId="ADAL" clId="{2C42B997-A401-4EBE-B507-8DB2AF390CCA}" dt="2026-09-11T11:03:56.763" v="13"/>
          <ac:graphicFrameMkLst>
            <pc:docMk/>
            <pc:sldMk cId="2241811958" sldId="270"/>
            <ac:graphicFrameMk id="8" creationId="{65AFC4F1-FFA6-DC8E-5DFD-0A3FDCEED735}"/>
          </ac:graphicFrameMkLst>
        </pc:graphicFrame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Raw / Weak Harness</c:v>
                </c:pt>
              </c:strCache>
            </c:strRef>
          </c:tx>
          <c:spPr>
            <a:solidFill>
              <a:srgbClr val="F87171"/>
            </a:solidFill>
            <a:ln>
              <a:solidFill>
                <a:srgbClr val="F87171"/>
              </a:solidFill>
            </a:ln>
          </c:spPr>
          <c:invertIfNegative val="1"/>
          <c:dLbls>
            <c:numFmt formatCode="0.0&quot;%&quot;" sourceLinked="0"/>
            <c:spPr>
              <a:noFill/>
              <a:ln>
                <a:noFill/>
              </a:ln>
              <a:effectLst/>
            </c:spPr>
            <c:txPr>
              <a:bodyPr/>
              <a:lstStyle/>
              <a:p>
                <a:pPr>
                  <a:defRPr sz="1100" b="1">
                    <a:solidFill>
                      <a:srgbClr val="F8FAFC"/>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GAIA
(General AI Assistants)</c:v>
                </c:pt>
                <c:pt idx="1">
                  <c:v>SWE-bench
(GLM-5.1, 5 harnesses)</c:v>
                </c:pt>
                <c:pt idx="2">
                  <c:v>SWE-bench
(Claude Opus, scaffold)</c:v>
                </c:pt>
              </c:strCache>
            </c:strRef>
          </c:cat>
          <c:val>
            <c:numRef>
              <c:f>Sheet1!$B$2:$B$4</c:f>
              <c:numCache>
                <c:formatCode>General</c:formatCode>
                <c:ptCount val="3"/>
                <c:pt idx="0">
                  <c:v>15</c:v>
                </c:pt>
                <c:pt idx="1">
                  <c:v>60.9</c:v>
                </c:pt>
                <c:pt idx="2">
                  <c:v>68.400000000000006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F87171"/>
                    </a:solidFill>
                  </a:ln>
                </c14:spPr>
              </c14:invertSolidFillFmt>
            </c:ext>
            <c:ext xmlns:c16="http://schemas.microsoft.com/office/drawing/2014/chart" uri="{C3380CC4-5D6E-409C-BE32-E72D297353CC}">
              <c16:uniqueId val="{00000000-812F-4D3A-968C-860295F6CFA1}"/>
            </c:ext>
          </c:extLst>
        </c:ser>
        <c:ser>
          <c:idx val="1"/>
          <c:order val="1"/>
          <c:tx>
            <c:strRef>
              <c:f>Sheet1!$C$1</c:f>
              <c:strCache>
                <c:ptCount val="1"/>
                <c:pt idx="0">
                  <c:v>Engineered Harness</c:v>
                </c:pt>
              </c:strCache>
            </c:strRef>
          </c:tx>
          <c:spPr>
            <a:solidFill>
              <a:srgbClr val="34D399"/>
            </a:solidFill>
            <a:ln>
              <a:solidFill>
                <a:srgbClr val="34D399"/>
              </a:solidFill>
            </a:ln>
          </c:spPr>
          <c:invertIfNegative val="1"/>
          <c:dLbls>
            <c:numFmt formatCode="0.0&quot;%&quot;" sourceLinked="0"/>
            <c:spPr>
              <a:noFill/>
              <a:ln>
                <a:noFill/>
              </a:ln>
              <a:effectLst/>
            </c:spPr>
            <c:txPr>
              <a:bodyPr/>
              <a:lstStyle/>
              <a:p>
                <a:pPr>
                  <a:defRPr sz="1100" b="1">
                    <a:solidFill>
                      <a:srgbClr val="F8FAFC"/>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GAIA
(General AI Assistants)</c:v>
                </c:pt>
                <c:pt idx="1">
                  <c:v>SWE-bench
(GLM-5.1, 5 harnesses)</c:v>
                </c:pt>
                <c:pt idx="2">
                  <c:v>SWE-bench
(Claude Opus, scaffold)</c:v>
                </c:pt>
              </c:strCache>
            </c:strRef>
          </c:cat>
          <c:val>
            <c:numRef>
              <c:f>Sheet1!$C$2:$C$4</c:f>
              <c:numCache>
                <c:formatCode>General</c:formatCode>
                <c:ptCount val="3"/>
                <c:pt idx="0">
                  <c:v>80</c:v>
                </c:pt>
                <c:pt idx="1">
                  <c:v>73.400000000000006</c:v>
                </c:pt>
                <c:pt idx="2">
                  <c:v>80.8</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34D399"/>
                    </a:solidFill>
                  </a:ln>
                </c14:spPr>
              </c14:invertSolidFillFmt>
            </c:ext>
            <c:ext xmlns:c16="http://schemas.microsoft.com/office/drawing/2014/chart" uri="{C3380CC4-5D6E-409C-BE32-E72D297353CC}">
              <c16:uniqueId val="{00000001-812F-4D3A-968C-860295F6CFA1}"/>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334155"/>
            </a:solidFill>
          </a:ln>
        </c:spPr>
        <c:txPr>
          <a:bodyPr/>
          <a:lstStyle/>
          <a:p>
            <a:pPr>
              <a:defRPr sz="1050">
                <a:solidFill>
                  <a:srgbClr val="CBD5E1"/>
                </a:solidFill>
                <a:latin typeface="Inter"/>
              </a:defRPr>
            </a:pPr>
            <a:endParaRPr lang="en-US"/>
          </a:p>
        </c:txPr>
        <c:crossAx val="-2113994440"/>
        <c:crosses val="autoZero"/>
        <c:auto val="1"/>
        <c:lblAlgn val="ctr"/>
        <c:lblOffset val="100"/>
        <c:noMultiLvlLbl val="0"/>
      </c:catAx>
      <c:valAx>
        <c:axId val="-2113994440"/>
        <c:scaling>
          <c:orientation val="minMax"/>
          <c:max val="100"/>
        </c:scaling>
        <c:delete val="0"/>
        <c:axPos val="l"/>
        <c:majorGridlines>
          <c:spPr>
            <a:ln>
              <a:solidFill>
                <a:srgbClr val="1E293B"/>
              </a:solidFill>
            </a:ln>
          </c:spPr>
        </c:majorGridlines>
        <c:numFmt formatCode="General" sourceLinked="1"/>
        <c:majorTickMark val="out"/>
        <c:minorTickMark val="none"/>
        <c:tickLblPos val="nextTo"/>
        <c:spPr>
          <a:ln>
            <a:solidFill>
              <a:srgbClr val="334155"/>
            </a:solidFill>
          </a:ln>
        </c:spPr>
        <c:txPr>
          <a:bodyPr/>
          <a:lstStyle/>
          <a:p>
            <a:pPr>
              <a:defRPr sz="1000">
                <a:solidFill>
                  <a:srgbClr val="64748B"/>
                </a:solidFill>
              </a:defRPr>
            </a:pPr>
            <a:endParaRPr lang="en-US"/>
          </a:p>
        </c:txPr>
        <c:crossAx val="-2068027336"/>
        <c:crosses val="autoZero"/>
        <c:crossBetween val="between"/>
      </c:valAx>
    </c:plotArea>
    <c:legend>
      <c:legendPos val="b"/>
      <c:overlay val="0"/>
      <c:txPr>
        <a:bodyPr/>
        <a:lstStyle/>
        <a:p>
          <a:pPr>
            <a:defRPr sz="1100">
              <a:solidFill>
                <a:srgbClr val="CBD5E1"/>
              </a:solidFill>
              <a:latin typeface="Inter"/>
            </a:defRPr>
          </a:pPr>
          <a:endParaRPr lang="en-US"/>
        </a:p>
      </c:txPr>
    </c:legend>
    <c:plotVisOnly val="1"/>
    <c:dispBlanksAs val="gap"/>
    <c:showDLblsOverMax val="1"/>
  </c:chart>
  <c:spPr>
    <a:noFill/>
  </c:spPr>
  <c:txPr>
    <a:bodyPr/>
    <a:lstStyle/>
    <a:p>
      <a:pPr>
        <a:defRPr sz="1800">
          <a:latin typeface="Inter"/>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4.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2.png"/><Relationship Id="rId5" Type="http://schemas.openxmlformats.org/officeDocument/2006/relationships/image" Target="../media/image8.png"/><Relationship Id="rId1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image" Target="../media/image7.png"/><Relationship Id="rId9" Type="http://schemas.openxmlformats.org/officeDocument/2006/relationships/image" Target="../media/image5.png"/><Relationship Id="rId1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3" Type="http://schemas.openxmlformats.org/officeDocument/2006/relationships/image" Target="../media/image33.png"/><Relationship Id="rId7" Type="http://schemas.openxmlformats.org/officeDocument/2006/relationships/image" Target="../media/image37.png"/><Relationship Id="rId12" Type="http://schemas.openxmlformats.org/officeDocument/2006/relationships/image" Target="../media/image4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17.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7.png"/><Relationship Id="rId5" Type="http://schemas.openxmlformats.org/officeDocument/2006/relationships/image" Target="../media/image56.png"/><Relationship Id="rId10" Type="http://schemas.openxmlformats.org/officeDocument/2006/relationships/image" Target="../media/image61.png"/><Relationship Id="rId4" Type="http://schemas.openxmlformats.org/officeDocument/2006/relationships/image" Target="../media/image55.png"/><Relationship Id="rId9" Type="http://schemas.openxmlformats.org/officeDocument/2006/relationships/image" Target="../media/image60.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1.png"/><Relationship Id="rId4" Type="http://schemas.openxmlformats.org/officeDocument/2006/relationships/image" Target="../media/image24.png"/><Relationship Id="rId9"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5.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4481512" y="2386905"/>
            <a:ext cx="3228975" cy="285750"/>
          </a:xfrm>
          <a:prstGeom prst="rect">
            <a:avLst/>
          </a:prstGeom>
        </p:spPr>
      </p:pic>
      <p:sp>
        <p:nvSpPr>
          <p:cNvPr id="4" name="TextBox 3"/>
          <p:cNvSpPr txBox="1"/>
          <p:nvPr/>
        </p:nvSpPr>
        <p:spPr>
          <a:xfrm>
            <a:off x="2550556" y="2844105"/>
            <a:ext cx="7090886" cy="628650"/>
          </a:xfrm>
          <a:prstGeom prst="rect">
            <a:avLst/>
          </a:prstGeom>
          <a:noFill/>
        </p:spPr>
        <p:txBody>
          <a:bodyPr wrap="square" lIns="0" tIns="0" rIns="0" bIns="0" anchor="t">
            <a:spAutoFit/>
          </a:bodyPr>
          <a:lstStyle/>
          <a:p>
            <a:pPr algn="ctr">
              <a:lnSpc>
                <a:spcPts val="4950"/>
              </a:lnSpc>
            </a:pPr>
            <a:r>
              <a:rPr sz="4500" b="1" i="0" u="none">
                <a:solidFill>
                  <a:srgbClr val="F8FAFC"/>
                </a:solidFill>
                <a:latin typeface="Plus Jakarta Sans"/>
              </a:rPr>
              <a:t>Harness Engineering</a:t>
            </a:r>
          </a:p>
        </p:txBody>
      </p:sp>
      <p:sp>
        <p:nvSpPr>
          <p:cNvPr id="5" name="TextBox 4"/>
          <p:cNvSpPr txBox="1"/>
          <p:nvPr/>
        </p:nvSpPr>
        <p:spPr>
          <a:xfrm>
            <a:off x="2719387" y="3587055"/>
            <a:ext cx="6753225" cy="310008"/>
          </a:xfrm>
          <a:prstGeom prst="rect">
            <a:avLst/>
          </a:prstGeom>
          <a:noFill/>
        </p:spPr>
        <p:txBody>
          <a:bodyPr wrap="square" lIns="0" tIns="0" rIns="0" bIns="0" anchor="t">
            <a:spAutoFit/>
          </a:bodyPr>
          <a:lstStyle/>
          <a:p>
            <a:pPr algn="ctr">
              <a:lnSpc>
                <a:spcPts val="2441"/>
              </a:lnSpc>
            </a:pPr>
            <a:r>
              <a:rPr sz="1575" b="0" i="0" u="none">
                <a:solidFill>
                  <a:srgbClr val="38BDF8"/>
                </a:solidFill>
                <a:latin typeface="Inter Medium"/>
              </a:rPr>
              <a:t>Building the Execution Infrastructure for Autonomous AI Agents</a:t>
            </a:r>
          </a:p>
        </p:txBody>
      </p:sp>
      <p:sp>
        <p:nvSpPr>
          <p:cNvPr id="6" name="TextBox 5"/>
          <p:cNvSpPr txBox="1"/>
          <p:nvPr/>
        </p:nvSpPr>
        <p:spPr>
          <a:xfrm>
            <a:off x="2719387" y="4135189"/>
            <a:ext cx="6753225" cy="221456"/>
          </a:xfrm>
          <a:prstGeom prst="rect">
            <a:avLst/>
          </a:prstGeom>
          <a:noFill/>
        </p:spPr>
        <p:txBody>
          <a:bodyPr wrap="square" lIns="0" tIns="0" rIns="0" bIns="0" anchor="t">
            <a:spAutoFit/>
          </a:bodyPr>
          <a:lstStyle/>
          <a:p>
            <a:pPr algn="ctr">
              <a:lnSpc>
                <a:spcPts val="1743"/>
              </a:lnSpc>
            </a:pPr>
            <a:r>
              <a:rPr sz="1125" b="0" i="0" u="none">
                <a:solidFill>
                  <a:srgbClr val="64748B"/>
                </a:solidFill>
                <a:latin typeface="Inter"/>
              </a:rPr>
              <a:t>Agent = Foundation Model + Harness Infrastructure • From Stochastic Prompts to Reliable Systems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409575"/>
          </a:xfrm>
          <a:prstGeom prst="rect">
            <a:avLst/>
          </a:prstGeom>
          <a:noFill/>
        </p:spPr>
        <p:txBody>
          <a:bodyPr wrap="square">
            <a:spAutoFit/>
          </a:bodyPr>
          <a:lstStyle/>
          <a:p>
            <a:r>
              <a:rPr sz="2550" b="1">
                <a:solidFill>
                  <a:srgbClr val="F8FAFC"/>
                </a:solidFill>
                <a:latin typeface="Plus Jakarta Sans"/>
              </a:rPr>
              <a:t>Agenda</a:t>
            </a:r>
          </a:p>
        </p:txBody>
      </p:sp>
      <p:sp>
        <p:nvSpPr>
          <p:cNvPr id="4" name="TextBox 3"/>
          <p:cNvSpPr txBox="1"/>
          <p:nvPr/>
        </p:nvSpPr>
        <p:spPr>
          <a:xfrm>
            <a:off x="533400" y="1150000"/>
            <a:ext cx="11125200" cy="330000"/>
          </a:xfrm>
          <a:prstGeom prst="rect">
            <a:avLst/>
          </a:prstGeom>
          <a:noFill/>
        </p:spPr>
        <p:txBody>
          <a:bodyPr wrap="square">
            <a:spAutoFit/>
          </a:bodyPr>
          <a:lstStyle/>
          <a:p>
            <a:r>
              <a:rPr sz="1200">
                <a:solidFill>
                  <a:srgbClr val="94A3B8"/>
                </a:solidFill>
                <a:latin typeface="Inter"/>
              </a:rPr>
              <a:t>What we'll cover in this session</a:t>
            </a:r>
          </a:p>
        </p:txBody>
      </p:sp>
      <p:sp>
        <p:nvSpPr>
          <p:cNvPr id="5" name="TextBox 4"/>
          <p:cNvSpPr txBox="1"/>
          <p:nvPr/>
        </p:nvSpPr>
        <p:spPr>
          <a:xfrm>
            <a:off x="533400" y="1850000"/>
            <a:ext cx="700000" cy="400000"/>
          </a:xfrm>
          <a:prstGeom prst="rect">
            <a:avLst/>
          </a:prstGeom>
          <a:noFill/>
        </p:spPr>
        <p:txBody>
          <a:bodyPr wrap="none">
            <a:spAutoFit/>
          </a:bodyPr>
          <a:lstStyle/>
          <a:p>
            <a:r>
              <a:rPr sz="1800" b="1">
                <a:solidFill>
                  <a:srgbClr val="38BDF8"/>
                </a:solidFill>
                <a:latin typeface="Plus Jakarta Sans"/>
              </a:rPr>
              <a:t>01</a:t>
            </a:r>
          </a:p>
        </p:txBody>
      </p:sp>
      <p:sp>
        <p:nvSpPr>
          <p:cNvPr id="6" name="TextBox 5"/>
          <p:cNvSpPr txBox="1"/>
          <p:nvPr/>
        </p:nvSpPr>
        <p:spPr>
          <a:xfrm>
            <a:off x="1250000" y="1850000"/>
            <a:ext cx="9500000" cy="400000"/>
          </a:xfrm>
          <a:prstGeom prst="rect">
            <a:avLst/>
          </a:prstGeom>
          <a:noFill/>
        </p:spPr>
        <p:txBody>
          <a:bodyPr wrap="none">
            <a:spAutoFit/>
          </a:bodyPr>
          <a:lstStyle/>
          <a:p>
            <a:r>
              <a:rPr sz="1500">
                <a:solidFill>
                  <a:srgbClr val="CBD5E1"/>
                </a:solidFill>
                <a:latin typeface="Inter"/>
              </a:rPr>
              <a:t>Why Harness Engineering Matters</a:t>
            </a:r>
          </a:p>
        </p:txBody>
      </p:sp>
      <p:sp>
        <p:nvSpPr>
          <p:cNvPr id="7" name="TextBox 6"/>
          <p:cNvSpPr txBox="1"/>
          <p:nvPr/>
        </p:nvSpPr>
        <p:spPr>
          <a:xfrm>
            <a:off x="533400" y="2470000"/>
            <a:ext cx="700000" cy="400000"/>
          </a:xfrm>
          <a:prstGeom prst="rect">
            <a:avLst/>
          </a:prstGeom>
          <a:noFill/>
        </p:spPr>
        <p:txBody>
          <a:bodyPr wrap="none">
            <a:spAutoFit/>
          </a:bodyPr>
          <a:lstStyle/>
          <a:p>
            <a:r>
              <a:rPr sz="1800" b="1">
                <a:solidFill>
                  <a:srgbClr val="38BDF8"/>
                </a:solidFill>
                <a:latin typeface="Plus Jakarta Sans"/>
              </a:rPr>
              <a:t>02</a:t>
            </a:r>
          </a:p>
        </p:txBody>
      </p:sp>
      <p:sp>
        <p:nvSpPr>
          <p:cNvPr id="8" name="TextBox 7"/>
          <p:cNvSpPr txBox="1"/>
          <p:nvPr/>
        </p:nvSpPr>
        <p:spPr>
          <a:xfrm>
            <a:off x="1250000" y="2470000"/>
            <a:ext cx="9500000" cy="400000"/>
          </a:xfrm>
          <a:prstGeom prst="rect">
            <a:avLst/>
          </a:prstGeom>
          <a:noFill/>
        </p:spPr>
        <p:txBody>
          <a:bodyPr wrap="none">
            <a:spAutoFit/>
          </a:bodyPr>
          <a:lstStyle/>
          <a:p>
            <a:r>
              <a:rPr sz="1500">
                <a:solidFill>
                  <a:srgbClr val="CBD5E1"/>
                </a:solidFill>
                <a:latin typeface="Inter"/>
              </a:rPr>
              <a:t>Anatomy &amp; Evolution of an Agent Harness</a:t>
            </a:r>
          </a:p>
        </p:txBody>
      </p:sp>
      <p:sp>
        <p:nvSpPr>
          <p:cNvPr id="9" name="TextBox 8"/>
          <p:cNvSpPr txBox="1"/>
          <p:nvPr/>
        </p:nvSpPr>
        <p:spPr>
          <a:xfrm>
            <a:off x="533400" y="3090000"/>
            <a:ext cx="700000" cy="400000"/>
          </a:xfrm>
          <a:prstGeom prst="rect">
            <a:avLst/>
          </a:prstGeom>
          <a:noFill/>
        </p:spPr>
        <p:txBody>
          <a:bodyPr wrap="none">
            <a:spAutoFit/>
          </a:bodyPr>
          <a:lstStyle/>
          <a:p>
            <a:r>
              <a:rPr sz="1800" b="1">
                <a:solidFill>
                  <a:srgbClr val="38BDF8"/>
                </a:solidFill>
                <a:latin typeface="Plus Jakarta Sans"/>
              </a:rPr>
              <a:t>03</a:t>
            </a:r>
          </a:p>
        </p:txBody>
      </p:sp>
      <p:sp>
        <p:nvSpPr>
          <p:cNvPr id="10" name="TextBox 9"/>
          <p:cNvSpPr txBox="1"/>
          <p:nvPr/>
        </p:nvSpPr>
        <p:spPr>
          <a:xfrm>
            <a:off x="1250000" y="3090000"/>
            <a:ext cx="9500000" cy="400000"/>
          </a:xfrm>
          <a:prstGeom prst="rect">
            <a:avLst/>
          </a:prstGeom>
          <a:noFill/>
        </p:spPr>
        <p:txBody>
          <a:bodyPr wrap="none">
            <a:spAutoFit/>
          </a:bodyPr>
          <a:lstStyle/>
          <a:p>
            <a:r>
              <a:rPr sz="1500">
                <a:solidFill>
                  <a:srgbClr val="CBD5E1"/>
                </a:solidFill>
                <a:latin typeface="Inter"/>
              </a:rPr>
              <a:t>PowerSpine: ISG's Standard Harness</a:t>
            </a:r>
          </a:p>
        </p:txBody>
      </p:sp>
      <p:sp>
        <p:nvSpPr>
          <p:cNvPr id="11" name="TextBox 10"/>
          <p:cNvSpPr txBox="1"/>
          <p:nvPr/>
        </p:nvSpPr>
        <p:spPr>
          <a:xfrm>
            <a:off x="533400" y="3710000"/>
            <a:ext cx="700000" cy="400000"/>
          </a:xfrm>
          <a:prstGeom prst="rect">
            <a:avLst/>
          </a:prstGeom>
          <a:noFill/>
        </p:spPr>
        <p:txBody>
          <a:bodyPr wrap="none">
            <a:spAutoFit/>
          </a:bodyPr>
          <a:lstStyle/>
          <a:p>
            <a:r>
              <a:rPr sz="1800" b="1">
                <a:solidFill>
                  <a:srgbClr val="38BDF8"/>
                </a:solidFill>
                <a:latin typeface="Plus Jakarta Sans"/>
              </a:rPr>
              <a:t>04</a:t>
            </a:r>
          </a:p>
        </p:txBody>
      </p:sp>
      <p:sp>
        <p:nvSpPr>
          <p:cNvPr id="12" name="TextBox 11"/>
          <p:cNvSpPr txBox="1"/>
          <p:nvPr/>
        </p:nvSpPr>
        <p:spPr>
          <a:xfrm>
            <a:off x="1250000" y="3710000"/>
            <a:ext cx="9500000" cy="400000"/>
          </a:xfrm>
          <a:prstGeom prst="rect">
            <a:avLst/>
          </a:prstGeom>
          <a:noFill/>
        </p:spPr>
        <p:txBody>
          <a:bodyPr wrap="none">
            <a:spAutoFit/>
          </a:bodyPr>
          <a:lstStyle/>
          <a:p>
            <a:r>
              <a:rPr sz="1500">
                <a:solidFill>
                  <a:srgbClr val="CBD5E1"/>
                </a:solidFill>
                <a:latin typeface="Inter"/>
              </a:rPr>
              <a:t>Core Harness Control Patterns</a:t>
            </a:r>
          </a:p>
        </p:txBody>
      </p:sp>
      <p:sp>
        <p:nvSpPr>
          <p:cNvPr id="13" name="TextBox 12"/>
          <p:cNvSpPr txBox="1"/>
          <p:nvPr/>
        </p:nvSpPr>
        <p:spPr>
          <a:xfrm>
            <a:off x="533400" y="4330000"/>
            <a:ext cx="700000" cy="400000"/>
          </a:xfrm>
          <a:prstGeom prst="rect">
            <a:avLst/>
          </a:prstGeom>
          <a:noFill/>
        </p:spPr>
        <p:txBody>
          <a:bodyPr wrap="none">
            <a:spAutoFit/>
          </a:bodyPr>
          <a:lstStyle/>
          <a:p>
            <a:r>
              <a:rPr sz="1800" b="1">
                <a:solidFill>
                  <a:srgbClr val="38BDF8"/>
                </a:solidFill>
                <a:latin typeface="Plus Jakarta Sans"/>
              </a:rPr>
              <a:t>05</a:t>
            </a:r>
          </a:p>
        </p:txBody>
      </p:sp>
      <p:sp>
        <p:nvSpPr>
          <p:cNvPr id="14" name="TextBox 13"/>
          <p:cNvSpPr txBox="1"/>
          <p:nvPr/>
        </p:nvSpPr>
        <p:spPr>
          <a:xfrm>
            <a:off x="1250000" y="4330000"/>
            <a:ext cx="9500000" cy="400000"/>
          </a:xfrm>
          <a:prstGeom prst="rect">
            <a:avLst/>
          </a:prstGeom>
          <a:noFill/>
        </p:spPr>
        <p:txBody>
          <a:bodyPr wrap="none">
            <a:spAutoFit/>
          </a:bodyPr>
          <a:lstStyle/>
          <a:p>
            <a:r>
              <a:rPr sz="1500">
                <a:solidFill>
                  <a:srgbClr val="CBD5E1"/>
                </a:solidFill>
                <a:latin typeface="Inter"/>
              </a:rPr>
              <a:t>Harness Engineering &amp; Spec-Driven Development</a:t>
            </a:r>
          </a:p>
        </p:txBody>
      </p:sp>
      <p:sp>
        <p:nvSpPr>
          <p:cNvPr id="15" name="TextBox 14"/>
          <p:cNvSpPr txBox="1"/>
          <p:nvPr/>
        </p:nvSpPr>
        <p:spPr>
          <a:xfrm>
            <a:off x="533400" y="4950000"/>
            <a:ext cx="700000" cy="400000"/>
          </a:xfrm>
          <a:prstGeom prst="rect">
            <a:avLst/>
          </a:prstGeom>
          <a:noFill/>
        </p:spPr>
        <p:txBody>
          <a:bodyPr wrap="none">
            <a:spAutoFit/>
          </a:bodyPr>
          <a:lstStyle/>
          <a:p>
            <a:r>
              <a:rPr sz="1800" b="1">
                <a:solidFill>
                  <a:srgbClr val="38BDF8"/>
                </a:solidFill>
                <a:latin typeface="Plus Jakarta Sans"/>
              </a:rPr>
              <a:t>06</a:t>
            </a:r>
          </a:p>
        </p:txBody>
      </p:sp>
      <p:sp>
        <p:nvSpPr>
          <p:cNvPr id="16" name="TextBox 15"/>
          <p:cNvSpPr txBox="1"/>
          <p:nvPr/>
        </p:nvSpPr>
        <p:spPr>
          <a:xfrm>
            <a:off x="1250000" y="4950000"/>
            <a:ext cx="9500000" cy="400000"/>
          </a:xfrm>
          <a:prstGeom prst="rect">
            <a:avLst/>
          </a:prstGeom>
          <a:noFill/>
        </p:spPr>
        <p:txBody>
          <a:bodyPr wrap="none">
            <a:spAutoFit/>
          </a:bodyPr>
          <a:lstStyle/>
          <a:p>
            <a:r>
              <a:rPr sz="1500">
                <a:solidFill>
                  <a:srgbClr val="CBD5E1"/>
                </a:solidFill>
                <a:latin typeface="Inter"/>
              </a:rPr>
              <a:t>Harness in Practice: Adoption Across ISG</a:t>
            </a:r>
          </a:p>
        </p:txBody>
      </p:sp>
      <p:sp>
        <p:nvSpPr>
          <p:cNvPr id="17" name="TextBox 16"/>
          <p:cNvSpPr txBox="1"/>
          <p:nvPr/>
        </p:nvSpPr>
        <p:spPr>
          <a:xfrm>
            <a:off x="533400" y="5570000"/>
            <a:ext cx="700000" cy="400000"/>
          </a:xfrm>
          <a:prstGeom prst="rect">
            <a:avLst/>
          </a:prstGeom>
          <a:noFill/>
        </p:spPr>
        <p:txBody>
          <a:bodyPr wrap="none">
            <a:spAutoFit/>
          </a:bodyPr>
          <a:lstStyle/>
          <a:p>
            <a:r>
              <a:rPr sz="1800" b="1">
                <a:solidFill>
                  <a:srgbClr val="38BDF8"/>
                </a:solidFill>
                <a:latin typeface="Plus Jakarta Sans"/>
              </a:rPr>
              <a:t>07</a:t>
            </a:r>
          </a:p>
        </p:txBody>
      </p:sp>
      <p:sp>
        <p:nvSpPr>
          <p:cNvPr id="18" name="TextBox 17"/>
          <p:cNvSpPr txBox="1"/>
          <p:nvPr/>
        </p:nvSpPr>
        <p:spPr>
          <a:xfrm>
            <a:off x="1250000" y="5570000"/>
            <a:ext cx="9500000" cy="400000"/>
          </a:xfrm>
          <a:prstGeom prst="rect">
            <a:avLst/>
          </a:prstGeom>
          <a:noFill/>
        </p:spPr>
        <p:txBody>
          <a:bodyPr wrap="none">
            <a:spAutoFit/>
          </a:bodyPr>
          <a:lstStyle/>
          <a:p>
            <a:r>
              <a:rPr sz="1500">
                <a:solidFill>
                  <a:srgbClr val="CBD5E1"/>
                </a:solidFill>
                <a:latin typeface="Inter"/>
              </a:rPr>
              <a:t>Key Takeaways &amp; Practical Principles</a:t>
            </a:r>
          </a:p>
        </p:txBody>
      </p:sp>
      <p:sp>
        <p:nvSpPr>
          <p:cNvPr id="19" name="TextBox 18"/>
          <p:cNvSpPr txBox="1"/>
          <p:nvPr/>
        </p:nvSpPr>
        <p:spPr>
          <a:xfrm>
            <a:off x="533400" y="6190000"/>
            <a:ext cx="700000" cy="400000"/>
          </a:xfrm>
          <a:prstGeom prst="rect">
            <a:avLst/>
          </a:prstGeom>
          <a:noFill/>
        </p:spPr>
        <p:txBody>
          <a:bodyPr wrap="none">
            <a:spAutoFit/>
          </a:bodyPr>
          <a:lstStyle/>
          <a:p>
            <a:r>
              <a:rPr sz="1800" b="1">
                <a:solidFill>
                  <a:srgbClr val="38BDF8"/>
                </a:solidFill>
                <a:latin typeface="Plus Jakarta Sans"/>
              </a:rPr>
              <a:t>08</a:t>
            </a:r>
          </a:p>
        </p:txBody>
      </p:sp>
      <p:sp>
        <p:nvSpPr>
          <p:cNvPr id="20" name="TextBox 19"/>
          <p:cNvSpPr txBox="1"/>
          <p:nvPr/>
        </p:nvSpPr>
        <p:spPr>
          <a:xfrm>
            <a:off x="1250000" y="6190000"/>
            <a:ext cx="9500000" cy="400000"/>
          </a:xfrm>
          <a:prstGeom prst="rect">
            <a:avLst/>
          </a:prstGeom>
          <a:noFill/>
        </p:spPr>
        <p:txBody>
          <a:bodyPr wrap="square">
            <a:spAutoFit/>
          </a:bodyPr>
          <a:lstStyle/>
          <a:p>
            <a:r>
              <a:rPr sz="1500">
                <a:solidFill>
                  <a:srgbClr val="CBD5E1"/>
                </a:solidFill>
                <a:latin typeface="Inter"/>
              </a:rPr>
              <a:t>Live Demo, What's Next, and Closing Discussion</a:t>
            </a:r>
          </a:p>
        </p:txBody>
      </p:sp>
      <p:pic>
        <p:nvPicPr>
          <p:cNvPr id="21" name="Picture 20" descr="image.png"/>
          <p:cNvPicPr>
            <a:picLocks noChangeAspect="1"/>
          </p:cNvPicPr>
          <p:nvPr/>
        </p:nvPicPr>
        <p:blipFill>
          <a:blip r:embed="rId3"/>
          <a:stretch>
            <a:fillRect/>
          </a:stretch>
        </p:blipFill>
        <p:spPr>
          <a:xfrm>
            <a:off x="11208600" y="420000"/>
            <a:ext cx="588462" cy="45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285750"/>
          </a:xfrm>
          <a:prstGeom prst="rect">
            <a:avLst/>
          </a:prstGeom>
          <a:noFill/>
        </p:spPr>
        <p:txBody>
          <a:bodyPr wrap="square" lIns="0" tIns="0" rIns="0" bIns="0" anchor="t">
            <a:spAutoFit/>
          </a:bodyPr>
          <a:lstStyle/>
          <a:p>
            <a:pPr algn="l"/>
            <a:r>
              <a:rPr sz="1800" b="1" i="0" u="none" dirty="0">
                <a:solidFill>
                  <a:srgbClr val="F8FAFC"/>
                </a:solidFill>
                <a:latin typeface="Plus Jakarta Sans"/>
              </a:rPr>
              <a:t>Agent = Harness + LLM</a:t>
            </a:r>
          </a:p>
        </p:txBody>
      </p:sp>
      <p:sp>
        <p:nvSpPr>
          <p:cNvPr id="4" name="TextBox 3"/>
          <p:cNvSpPr txBox="1"/>
          <p:nvPr/>
        </p:nvSpPr>
        <p:spPr>
          <a:xfrm>
            <a:off x="533400" y="1150000"/>
            <a:ext cx="11125200" cy="236190"/>
          </a:xfrm>
          <a:prstGeom prst="rect">
            <a:avLst/>
          </a:prstGeom>
          <a:noFill/>
        </p:spPr>
        <p:txBody>
          <a:bodyPr wrap="square" lIns="0" tIns="0" rIns="0" bIns="0" anchor="t">
            <a:spAutoFit/>
          </a:bodyPr>
          <a:lstStyle/>
          <a:p>
            <a:pPr algn="l">
              <a:lnSpc>
                <a:spcPts val="1860"/>
              </a:lnSpc>
            </a:pPr>
            <a:r>
              <a:rPr sz="1200" b="0" i="0" u="none">
                <a:solidFill>
                  <a:srgbClr val="94A3B8"/>
                </a:solidFill>
                <a:latin typeface="Inter"/>
              </a:rPr>
              <a:t>An agent is a model's reasoning wrapped in a harness that steers, checks, and constrains it.</a:t>
            </a:r>
          </a:p>
        </p:txBody>
      </p:sp>
      <p:sp>
        <p:nvSpPr>
          <p:cNvPr id="5" name="Rounded Rectangle 4"/>
          <p:cNvSpPr/>
          <p:nvPr/>
        </p:nvSpPr>
        <p:spPr>
          <a:xfrm>
            <a:off x="700000" y="2600000"/>
            <a:ext cx="3100000" cy="1500000"/>
          </a:xfrm>
          <a:prstGeom prst="roundRect">
            <a:avLst/>
          </a:prstGeom>
          <a:solidFill>
            <a:srgbClr val="0F17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600" b="1">
                <a:solidFill>
                  <a:srgbClr val="38BDF8"/>
                </a:solidFill>
                <a:latin typeface="Plus Jakarta Sans"/>
              </a:rPr>
              <a:t>LLM</a:t>
            </a:r>
          </a:p>
          <a:p>
            <a:pPr algn="ctr"/>
            <a:r>
              <a:rPr sz="1050">
                <a:solidFill>
                  <a:srgbClr val="CBD5E1"/>
                </a:solidFill>
                <a:latin typeface="Inter"/>
              </a:rPr>
              <a:t>Reasoning Engine
(the model's raw intelligence)</a:t>
            </a:r>
          </a:p>
        </p:txBody>
      </p:sp>
      <p:sp>
        <p:nvSpPr>
          <p:cNvPr id="6" name="TextBox 5"/>
          <p:cNvSpPr txBox="1"/>
          <p:nvPr/>
        </p:nvSpPr>
        <p:spPr>
          <a:xfrm>
            <a:off x="3820000" y="2950000"/>
            <a:ext cx="600000" cy="800000"/>
          </a:xfrm>
          <a:prstGeom prst="rect">
            <a:avLst/>
          </a:prstGeom>
          <a:noFill/>
        </p:spPr>
        <p:txBody>
          <a:bodyPr wrap="square">
            <a:spAutoFit/>
          </a:bodyPr>
          <a:lstStyle/>
          <a:p>
            <a:pPr algn="ctr"/>
            <a:r>
              <a:rPr sz="3600" b="1">
                <a:solidFill>
                  <a:srgbClr val="F8FAFC"/>
                </a:solidFill>
                <a:latin typeface="Plus Jakarta Sans"/>
              </a:rPr>
              <a:t>+</a:t>
            </a:r>
          </a:p>
        </p:txBody>
      </p:sp>
      <p:sp>
        <p:nvSpPr>
          <p:cNvPr id="7" name="Rounded Rectangle 6"/>
          <p:cNvSpPr/>
          <p:nvPr/>
        </p:nvSpPr>
        <p:spPr>
          <a:xfrm>
            <a:off x="4440000" y="2600000"/>
            <a:ext cx="3100000" cy="1500000"/>
          </a:xfrm>
          <a:prstGeom prst="roundRect">
            <a:avLst/>
          </a:prstGeom>
          <a:solidFill>
            <a:srgbClr val="0F172A"/>
          </a:solidFill>
          <a:ln w="19050">
            <a:solidFill>
              <a:srgbClr val="818CF6"/>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600" b="1">
                <a:solidFill>
                  <a:srgbClr val="818CF6"/>
                </a:solidFill>
                <a:latin typeface="Plus Jakarta Sans"/>
              </a:rPr>
              <a:t>Harness</a:t>
            </a:r>
          </a:p>
          <a:p>
            <a:pPr algn="ctr"/>
            <a:r>
              <a:rPr sz="1050">
                <a:solidFill>
                  <a:srgbClr val="CBD5E1"/>
                </a:solidFill>
                <a:latin typeface="Inter"/>
              </a:rPr>
              <a:t>Guides, Sensors,
Guardrails &amp; Sandbox</a:t>
            </a:r>
          </a:p>
        </p:txBody>
      </p:sp>
      <p:sp>
        <p:nvSpPr>
          <p:cNvPr id="8" name="TextBox 7"/>
          <p:cNvSpPr txBox="1"/>
          <p:nvPr/>
        </p:nvSpPr>
        <p:spPr>
          <a:xfrm>
            <a:off x="7560000" y="2950000"/>
            <a:ext cx="600000" cy="800000"/>
          </a:xfrm>
          <a:prstGeom prst="rect">
            <a:avLst/>
          </a:prstGeom>
          <a:noFill/>
        </p:spPr>
        <p:txBody>
          <a:bodyPr wrap="square">
            <a:spAutoFit/>
          </a:bodyPr>
          <a:lstStyle/>
          <a:p>
            <a:pPr algn="ctr"/>
            <a:r>
              <a:rPr sz="3600" b="1">
                <a:solidFill>
                  <a:srgbClr val="F8FAFC"/>
                </a:solidFill>
                <a:latin typeface="Plus Jakarta Sans"/>
              </a:rPr>
              <a:t>=</a:t>
            </a:r>
          </a:p>
        </p:txBody>
      </p:sp>
      <p:sp>
        <p:nvSpPr>
          <p:cNvPr id="9" name="Rounded Rectangle 8"/>
          <p:cNvSpPr/>
          <p:nvPr/>
        </p:nvSpPr>
        <p:spPr>
          <a:xfrm>
            <a:off x="8180000" y="2600000"/>
            <a:ext cx="3100000" cy="1500000"/>
          </a:xfrm>
          <a:prstGeom prst="roundRect">
            <a:avLst/>
          </a:prstGeom>
          <a:solidFill>
            <a:srgbClr val="0F172A"/>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600" b="1">
                <a:solidFill>
                  <a:srgbClr val="34D399"/>
                </a:solidFill>
                <a:latin typeface="Plus Jakarta Sans"/>
              </a:rPr>
              <a:t>Agent</a:t>
            </a:r>
          </a:p>
          <a:p>
            <a:pPr algn="ctr"/>
            <a:r>
              <a:rPr sz="1050">
                <a:solidFill>
                  <a:srgbClr val="CBD5E1"/>
                </a:solidFill>
                <a:latin typeface="Inter"/>
              </a:rPr>
              <a:t>Reliable, safe,
production-ready behavior</a:t>
            </a:r>
          </a:p>
        </p:txBody>
      </p:sp>
      <p:sp>
        <p:nvSpPr>
          <p:cNvPr id="10" name="TextBox 9"/>
          <p:cNvSpPr txBox="1"/>
          <p:nvPr/>
        </p:nvSpPr>
        <p:spPr>
          <a:xfrm>
            <a:off x="533400" y="4450000"/>
            <a:ext cx="11125200" cy="400000"/>
          </a:xfrm>
          <a:prstGeom prst="rect">
            <a:avLst/>
          </a:prstGeom>
          <a:noFill/>
        </p:spPr>
        <p:txBody>
          <a:bodyPr wrap="square">
            <a:spAutoFit/>
          </a:bodyPr>
          <a:lstStyle/>
          <a:p>
            <a:pPr algn="ctr"/>
            <a:r>
              <a:rPr sz="1300" b="0">
                <a:solidFill>
                  <a:srgbClr val="CBD5E1"/>
                </a:solidFill>
                <a:latin typeface="Inter"/>
              </a:rPr>
              <a:t>Intelligence alone isn't an agent — the harness is what makes it one.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704975" y="2901255"/>
            <a:ext cx="9221152" cy="285750"/>
          </a:xfrm>
          <a:prstGeom prst="rect">
            <a:avLst/>
          </a:prstGeom>
          <a:noFill/>
        </p:spPr>
        <p:txBody>
          <a:bodyPr wrap="square" lIns="0" tIns="0" rIns="0" bIns="0" anchor="t">
            <a:spAutoFit/>
          </a:bodyPr>
          <a:lstStyle/>
          <a:p>
            <a:pPr algn="l"/>
            <a:r>
              <a:rPr sz="1800" b="1" i="0" u="none" dirty="0">
                <a:solidFill>
                  <a:srgbClr val="F8FAFC"/>
                </a:solidFill>
                <a:latin typeface="Plus Jakarta Sans"/>
              </a:rPr>
              <a:t>Harness</a:t>
            </a:r>
          </a:p>
        </p:txBody>
      </p:sp>
      <p:sp>
        <p:nvSpPr>
          <p:cNvPr id="4" name="TextBox 3"/>
          <p:cNvSpPr txBox="1"/>
          <p:nvPr/>
        </p:nvSpPr>
        <p:spPr>
          <a:xfrm>
            <a:off x="1704975" y="3606105"/>
            <a:ext cx="8782050" cy="236190"/>
          </a:xfrm>
          <a:prstGeom prst="rect">
            <a:avLst/>
          </a:prstGeom>
          <a:noFill/>
        </p:spPr>
        <p:txBody>
          <a:bodyPr wrap="square" lIns="0" tIns="0" rIns="0" bIns="0" anchor="t">
            <a:spAutoFit/>
          </a:bodyPr>
          <a:lstStyle/>
          <a:p>
            <a:pPr algn="l">
              <a:lnSpc>
                <a:spcPts val="1860"/>
              </a:lnSpc>
            </a:pPr>
            <a:r>
              <a:rPr sz="1200" b="0" i="0" u="none">
                <a:solidFill>
                  <a:srgbClr val="94A3B8"/>
                </a:solidFill>
                <a:latin typeface="Inter"/>
              </a:rPr>
              <a:t>The engineered infrastructure of guides, sensors, guardrails, and sandboxes built around a model to make its behavior reliable, safe, and repeatable.</a:t>
            </a:r>
          </a:p>
        </p:txBody>
      </p:sp>
      <p:pic>
        <p:nvPicPr>
          <p:cNvPr id="5" name="Picture 4" descr="image.png"/>
          <p:cNvPicPr>
            <a:picLocks noChangeAspect="1"/>
          </p:cNvPicPr>
          <p:nvPr/>
        </p:nvPicPr>
        <p:blipFill>
          <a:blip r:embed="rId3"/>
          <a:stretch>
            <a:fillRect/>
          </a:stretch>
        </p:blipFill>
        <p:spPr>
          <a:xfrm>
            <a:off x="5821000" y="2151255"/>
            <a:ext cx="592308" cy="55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285750"/>
          </a:xfrm>
          <a:prstGeom prst="rect">
            <a:avLst/>
          </a:prstGeom>
          <a:noFill/>
        </p:spPr>
        <p:txBody>
          <a:bodyPr wrap="square" lIns="0" tIns="0" rIns="0" bIns="0" anchor="t">
            <a:spAutoFit/>
          </a:bodyPr>
          <a:lstStyle/>
          <a:p>
            <a:pPr algn="l"/>
            <a:r>
              <a:rPr sz="1800" b="1" i="0" u="none" dirty="0">
                <a:solidFill>
                  <a:srgbClr val="F8FAFC"/>
                </a:solidFill>
                <a:latin typeface="Plus Jakarta Sans"/>
              </a:rPr>
              <a:t>Spec-Driven Development</a:t>
            </a:r>
          </a:p>
        </p:txBody>
      </p:sp>
      <p:sp>
        <p:nvSpPr>
          <p:cNvPr id="4" name="TextBox 3"/>
          <p:cNvSpPr txBox="1"/>
          <p:nvPr/>
        </p:nvSpPr>
        <p:spPr>
          <a:xfrm>
            <a:off x="533400" y="1150000"/>
            <a:ext cx="11125200" cy="500000"/>
          </a:xfrm>
          <a:prstGeom prst="rect">
            <a:avLst/>
          </a:prstGeom>
          <a:noFill/>
        </p:spPr>
        <p:txBody>
          <a:bodyPr wrap="square" lIns="0" tIns="0" rIns="0" bIns="0" anchor="t">
            <a:spAutoFit/>
          </a:bodyPr>
          <a:lstStyle/>
          <a:p>
            <a:pPr algn="l">
              <a:lnSpc>
                <a:spcPts val="1860"/>
              </a:lnSpc>
            </a:pPr>
            <a:r>
              <a:rPr sz="1200" b="0" i="0" u="none" dirty="0">
                <a:solidFill>
                  <a:srgbClr val="94A3B8"/>
                </a:solidFill>
                <a:latin typeface="Inter"/>
              </a:rPr>
              <a:t>Define the spec and Definition of Done first, then generate and verify code against it — not the other way around.</a:t>
            </a:r>
            <a:endParaRPr lang="en-US" sz="1200" b="0" i="0" u="none" dirty="0">
              <a:solidFill>
                <a:srgbClr val="94A3B8"/>
              </a:solidFill>
              <a:latin typeface="Inter"/>
            </a:endParaRPr>
          </a:p>
        </p:txBody>
      </p:sp>
      <p:sp>
        <p:nvSpPr>
          <p:cNvPr id="5" name="Rounded Rectangle 4"/>
          <p:cNvSpPr/>
          <p:nvPr/>
        </p:nvSpPr>
        <p:spPr>
          <a:xfrm>
            <a:off x="700000" y="2600000"/>
            <a:ext cx="3100000" cy="1500000"/>
          </a:xfrm>
          <a:prstGeom prst="roundRect">
            <a:avLst/>
          </a:prstGeom>
          <a:solidFill>
            <a:srgbClr val="0F172A"/>
          </a:solidFill>
          <a:ln w="1905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500" b="1">
                <a:solidFill>
                  <a:srgbClr val="38BDF8"/>
                </a:solidFill>
                <a:latin typeface="Plus Jakarta Sans"/>
              </a:rPr>
              <a:t>Spec</a:t>
            </a:r>
          </a:p>
          <a:p>
            <a:pPr algn="ctr"/>
            <a:r>
              <a:rPr sz="1050">
                <a:solidFill>
                  <a:srgbClr val="CBD5E1"/>
                </a:solidFill>
                <a:latin typeface="Inter"/>
              </a:rPr>
              <a:t>Requirements &amp;
Definition of Done</a:t>
            </a:r>
          </a:p>
        </p:txBody>
      </p:sp>
      <p:sp>
        <p:nvSpPr>
          <p:cNvPr id="6" name="TextBox 5"/>
          <p:cNvSpPr txBox="1"/>
          <p:nvPr/>
        </p:nvSpPr>
        <p:spPr>
          <a:xfrm>
            <a:off x="3820000" y="2950000"/>
            <a:ext cx="600000" cy="800000"/>
          </a:xfrm>
          <a:prstGeom prst="rect">
            <a:avLst/>
          </a:prstGeom>
          <a:noFill/>
        </p:spPr>
        <p:txBody>
          <a:bodyPr wrap="square">
            <a:spAutoFit/>
          </a:bodyPr>
          <a:lstStyle/>
          <a:p>
            <a:pPr algn="ctr"/>
            <a:r>
              <a:rPr sz="3600" b="1">
                <a:solidFill>
                  <a:srgbClr val="F8FAFC"/>
                </a:solidFill>
                <a:latin typeface="Plus Jakarta Sans"/>
              </a:rPr>
              <a:t>→</a:t>
            </a:r>
          </a:p>
        </p:txBody>
      </p:sp>
      <p:sp>
        <p:nvSpPr>
          <p:cNvPr id="7" name="Rounded Rectangle 6"/>
          <p:cNvSpPr/>
          <p:nvPr/>
        </p:nvSpPr>
        <p:spPr>
          <a:xfrm>
            <a:off x="4440000" y="2600000"/>
            <a:ext cx="3100000" cy="1500000"/>
          </a:xfrm>
          <a:prstGeom prst="roundRect">
            <a:avLst/>
          </a:prstGeom>
          <a:solidFill>
            <a:srgbClr val="0F172A"/>
          </a:solidFill>
          <a:ln w="19050">
            <a:solidFill>
              <a:srgbClr val="818CF6"/>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500" b="1">
                <a:solidFill>
                  <a:srgbClr val="818CF6"/>
                </a:solidFill>
                <a:latin typeface="Plus Jakarta Sans"/>
              </a:rPr>
              <a:t>Harness / Agent</a:t>
            </a:r>
          </a:p>
          <a:p>
            <a:pPr algn="ctr"/>
            <a:r>
              <a:rPr sz="1050">
                <a:solidFill>
                  <a:srgbClr val="CBD5E1"/>
                </a:solidFill>
                <a:latin typeface="Inter"/>
              </a:rPr>
              <a:t>Develops → Verifies →
Validates against the spec</a:t>
            </a:r>
          </a:p>
        </p:txBody>
      </p:sp>
      <p:sp>
        <p:nvSpPr>
          <p:cNvPr id="8" name="TextBox 7"/>
          <p:cNvSpPr txBox="1"/>
          <p:nvPr/>
        </p:nvSpPr>
        <p:spPr>
          <a:xfrm>
            <a:off x="7560000" y="2950000"/>
            <a:ext cx="600000" cy="800000"/>
          </a:xfrm>
          <a:prstGeom prst="rect">
            <a:avLst/>
          </a:prstGeom>
          <a:noFill/>
        </p:spPr>
        <p:txBody>
          <a:bodyPr wrap="square">
            <a:spAutoFit/>
          </a:bodyPr>
          <a:lstStyle/>
          <a:p>
            <a:pPr algn="ctr"/>
            <a:r>
              <a:rPr sz="3600" b="1">
                <a:solidFill>
                  <a:srgbClr val="F8FAFC"/>
                </a:solidFill>
                <a:latin typeface="Plus Jakarta Sans"/>
              </a:rPr>
              <a:t>→</a:t>
            </a:r>
          </a:p>
        </p:txBody>
      </p:sp>
      <p:sp>
        <p:nvSpPr>
          <p:cNvPr id="9" name="Rounded Rectangle 8"/>
          <p:cNvSpPr/>
          <p:nvPr/>
        </p:nvSpPr>
        <p:spPr>
          <a:xfrm>
            <a:off x="8180000" y="2600000"/>
            <a:ext cx="3100000" cy="1500000"/>
          </a:xfrm>
          <a:prstGeom prst="roundRect">
            <a:avLst/>
          </a:prstGeom>
          <a:solidFill>
            <a:srgbClr val="0F172A"/>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wrap="square" lIns="120000" rIns="120000" rtlCol="0" anchor="ctr"/>
          <a:lstStyle/>
          <a:p>
            <a:pPr algn="ctr"/>
            <a:r>
              <a:rPr sz="1500" b="1">
                <a:solidFill>
                  <a:srgbClr val="34D399"/>
                </a:solidFill>
                <a:latin typeface="Plus Jakarta Sans"/>
              </a:rPr>
              <a:t>Shipped Application</a:t>
            </a:r>
          </a:p>
          <a:p>
            <a:pPr algn="ctr"/>
            <a:r>
              <a:rPr sz="1050">
                <a:solidFill>
                  <a:srgbClr val="CBD5E1"/>
                </a:solidFill>
                <a:latin typeface="Inter"/>
              </a:rPr>
              <a:t>Matches the spec,
not just “looks right”</a:t>
            </a:r>
          </a:p>
        </p:txBody>
      </p:sp>
      <p:sp>
        <p:nvSpPr>
          <p:cNvPr id="10" name="TextBox 9"/>
          <p:cNvSpPr txBox="1"/>
          <p:nvPr/>
        </p:nvSpPr>
        <p:spPr>
          <a:xfrm>
            <a:off x="533400" y="4450000"/>
            <a:ext cx="11125200" cy="400000"/>
          </a:xfrm>
          <a:prstGeom prst="rect">
            <a:avLst/>
          </a:prstGeom>
          <a:noFill/>
        </p:spPr>
        <p:txBody>
          <a:bodyPr wrap="square">
            <a:spAutoFit/>
          </a:bodyPr>
          <a:lstStyle/>
          <a:p>
            <a:pPr algn="ctr"/>
            <a:r>
              <a:rPr sz="1300" b="0">
                <a:solidFill>
                  <a:srgbClr val="CBD5E1"/>
                </a:solidFill>
                <a:latin typeface="Inter"/>
              </a:rPr>
              <a:t>The harness takes the spec and drives development, verification, and validation of the application.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409575"/>
          </a:xfrm>
          <a:prstGeom prst="rect">
            <a:avLst/>
          </a:prstGeom>
          <a:noFill/>
        </p:spPr>
        <p:txBody>
          <a:bodyPr wrap="square">
            <a:spAutoFit/>
          </a:bodyPr>
          <a:lstStyle/>
          <a:p>
            <a:r>
              <a:rPr sz="2550" b="1">
                <a:solidFill>
                  <a:srgbClr val="F8FAFC"/>
                </a:solidFill>
                <a:latin typeface="Plus Jakarta Sans"/>
              </a:rPr>
              <a:t>Why the Harness Wins</a:t>
            </a:r>
          </a:p>
        </p:txBody>
      </p:sp>
      <p:sp>
        <p:nvSpPr>
          <p:cNvPr id="4" name="TextBox 3"/>
          <p:cNvSpPr txBox="1"/>
          <p:nvPr/>
        </p:nvSpPr>
        <p:spPr>
          <a:xfrm>
            <a:off x="533400" y="1150000"/>
            <a:ext cx="11125200" cy="300000"/>
          </a:xfrm>
          <a:prstGeom prst="rect">
            <a:avLst/>
          </a:prstGeom>
          <a:noFill/>
        </p:spPr>
        <p:txBody>
          <a:bodyPr wrap="square">
            <a:spAutoFit/>
          </a:bodyPr>
          <a:lstStyle/>
          <a:p>
            <a:r>
              <a:rPr sz="1200" b="0">
                <a:solidFill>
                  <a:srgbClr val="94A3B8"/>
                </a:solidFill>
                <a:latin typeface="Inter"/>
              </a:rPr>
              <a:t>The illusion of raw LLM capability — same model, radically different results</a:t>
            </a:r>
          </a:p>
        </p:txBody>
      </p:sp>
      <p:sp>
        <p:nvSpPr>
          <p:cNvPr id="5" name="TextBox 4"/>
          <p:cNvSpPr txBox="1"/>
          <p:nvPr/>
        </p:nvSpPr>
        <p:spPr>
          <a:xfrm>
            <a:off x="533400" y="1750000"/>
            <a:ext cx="5300000" cy="300000"/>
          </a:xfrm>
          <a:prstGeom prst="rect">
            <a:avLst/>
          </a:prstGeom>
          <a:noFill/>
        </p:spPr>
        <p:txBody>
          <a:bodyPr wrap="square">
            <a:spAutoFit/>
          </a:bodyPr>
          <a:lstStyle/>
          <a:p>
            <a:r>
              <a:rPr sz="1400" b="1">
                <a:solidFill>
                  <a:srgbClr val="38BDF8"/>
                </a:solidFill>
                <a:latin typeface="Plus Jakarta Sans"/>
              </a:rPr>
              <a:t>GAIA Benchmark</a:t>
            </a:r>
          </a:p>
        </p:txBody>
      </p:sp>
      <p:sp>
        <p:nvSpPr>
          <p:cNvPr id="6" name="TextBox 5"/>
          <p:cNvSpPr txBox="1"/>
          <p:nvPr/>
        </p:nvSpPr>
        <p:spPr>
          <a:xfrm>
            <a:off x="533400" y="2080000"/>
            <a:ext cx="5300000" cy="260000"/>
          </a:xfrm>
          <a:prstGeom prst="rect">
            <a:avLst/>
          </a:prstGeom>
          <a:noFill/>
        </p:spPr>
        <p:txBody>
          <a:bodyPr wrap="square">
            <a:spAutoFit/>
          </a:bodyPr>
          <a:lstStyle/>
          <a:p>
            <a:r>
              <a:rPr sz="1100" b="0">
                <a:solidFill>
                  <a:srgbClr val="94A3B8"/>
                </a:solidFill>
                <a:latin typeface="Inter"/>
              </a:rPr>
              <a:t>Multi-step reasoning, tool use &amp; web browsing</a:t>
            </a:r>
          </a:p>
        </p:txBody>
      </p:sp>
      <p:sp>
        <p:nvSpPr>
          <p:cNvPr id="7" name="TextBox 6"/>
          <p:cNvSpPr txBox="1"/>
          <p:nvPr/>
        </p:nvSpPr>
        <p:spPr>
          <a:xfrm>
            <a:off x="533400" y="2450000"/>
            <a:ext cx="2600000" cy="950000"/>
          </a:xfrm>
          <a:prstGeom prst="rect">
            <a:avLst/>
          </a:prstGeom>
          <a:noFill/>
        </p:spPr>
        <p:txBody>
          <a:bodyPr wrap="square">
            <a:spAutoFit/>
          </a:bodyPr>
          <a:lstStyle/>
          <a:p>
            <a:pPr algn="ctr"/>
            <a:r>
              <a:rPr sz="6000" b="1">
                <a:solidFill>
                  <a:srgbClr val="F87171"/>
                </a:solidFill>
                <a:latin typeface="Plus Jakarta Sans"/>
              </a:rPr>
              <a:t>15%</a:t>
            </a:r>
          </a:p>
        </p:txBody>
      </p:sp>
      <p:sp>
        <p:nvSpPr>
          <p:cNvPr id="8" name="TextBox 7"/>
          <p:cNvSpPr txBox="1"/>
          <p:nvPr/>
        </p:nvSpPr>
        <p:spPr>
          <a:xfrm>
            <a:off x="533400" y="3420000"/>
            <a:ext cx="2600000" cy="500000"/>
          </a:xfrm>
          <a:prstGeom prst="rect">
            <a:avLst/>
          </a:prstGeom>
          <a:noFill/>
        </p:spPr>
        <p:txBody>
          <a:bodyPr wrap="square">
            <a:spAutoFit/>
          </a:bodyPr>
          <a:lstStyle/>
          <a:p>
            <a:pPr algn="ctr"/>
            <a:r>
              <a:rPr sz="1100" b="0">
                <a:solidFill>
                  <a:srgbClr val="94A3B8"/>
                </a:solidFill>
                <a:latin typeface="Inter"/>
              </a:rPr>
              <a:t>Raw LLM
(GPT-4, zero-shot)</a:t>
            </a:r>
          </a:p>
        </p:txBody>
      </p:sp>
      <p:sp>
        <p:nvSpPr>
          <p:cNvPr id="9" name="TextBox 8"/>
          <p:cNvSpPr txBox="1"/>
          <p:nvPr/>
        </p:nvSpPr>
        <p:spPr>
          <a:xfrm>
            <a:off x="3200000" y="2600000"/>
            <a:ext cx="700000" cy="700000"/>
          </a:xfrm>
          <a:prstGeom prst="rect">
            <a:avLst/>
          </a:prstGeom>
          <a:noFill/>
        </p:spPr>
        <p:txBody>
          <a:bodyPr wrap="square">
            <a:spAutoFit/>
          </a:bodyPr>
          <a:lstStyle/>
          <a:p>
            <a:pPr algn="ctr"/>
            <a:r>
              <a:rPr sz="3600" b="0">
                <a:solidFill>
                  <a:srgbClr val="CBD5E1"/>
                </a:solidFill>
                <a:latin typeface="Inter"/>
              </a:rPr>
              <a:t>→</a:t>
            </a:r>
          </a:p>
        </p:txBody>
      </p:sp>
      <p:sp>
        <p:nvSpPr>
          <p:cNvPr id="10" name="TextBox 9"/>
          <p:cNvSpPr txBox="1"/>
          <p:nvPr/>
        </p:nvSpPr>
        <p:spPr>
          <a:xfrm>
            <a:off x="3966600" y="2450000"/>
            <a:ext cx="2600000" cy="950000"/>
          </a:xfrm>
          <a:prstGeom prst="rect">
            <a:avLst/>
          </a:prstGeom>
          <a:noFill/>
        </p:spPr>
        <p:txBody>
          <a:bodyPr wrap="square">
            <a:spAutoFit/>
          </a:bodyPr>
          <a:lstStyle/>
          <a:p>
            <a:pPr algn="ctr"/>
            <a:r>
              <a:rPr sz="6000" b="1">
                <a:solidFill>
                  <a:srgbClr val="34D399"/>
                </a:solidFill>
                <a:latin typeface="Plus Jakarta Sans"/>
              </a:rPr>
              <a:t>80%</a:t>
            </a:r>
          </a:p>
        </p:txBody>
      </p:sp>
      <p:sp>
        <p:nvSpPr>
          <p:cNvPr id="11" name="TextBox 10"/>
          <p:cNvSpPr txBox="1"/>
          <p:nvPr/>
        </p:nvSpPr>
        <p:spPr>
          <a:xfrm>
            <a:off x="3966600" y="3420000"/>
            <a:ext cx="2600000" cy="500000"/>
          </a:xfrm>
          <a:prstGeom prst="rect">
            <a:avLst/>
          </a:prstGeom>
          <a:noFill/>
        </p:spPr>
        <p:txBody>
          <a:bodyPr wrap="square">
            <a:spAutoFit/>
          </a:bodyPr>
          <a:lstStyle/>
          <a:p>
            <a:pPr algn="ctr"/>
            <a:r>
              <a:rPr sz="1100" b="0">
                <a:solidFill>
                  <a:srgbClr val="94A3B8"/>
                </a:solidFill>
                <a:latin typeface="Inter"/>
              </a:rPr>
              <a:t>With Harness
(h2oGPTe agentic harness)</a:t>
            </a:r>
          </a:p>
        </p:txBody>
      </p:sp>
      <p:sp>
        <p:nvSpPr>
          <p:cNvPr id="12" name="TextBox 11"/>
          <p:cNvSpPr txBox="1"/>
          <p:nvPr/>
        </p:nvSpPr>
        <p:spPr>
          <a:xfrm>
            <a:off x="6350000" y="2700000"/>
            <a:ext cx="100000" cy="400000"/>
          </a:xfrm>
          <a:prstGeom prst="rect">
            <a:avLst/>
          </a:prstGeom>
          <a:noFill/>
        </p:spPr>
        <p:txBody>
          <a:bodyPr wrap="square">
            <a:spAutoFit/>
          </a:bodyPr>
          <a:lstStyle/>
          <a:p>
            <a:pPr algn="ctr"/>
            <a:r>
              <a:rPr sz="3000" b="0">
                <a:solidFill>
                  <a:srgbClr val="94A3B8"/>
                </a:solidFill>
                <a:latin typeface="Inter"/>
              </a:rPr>
              <a:t>•</a:t>
            </a:r>
          </a:p>
        </p:txBody>
      </p:sp>
      <p:sp>
        <p:nvSpPr>
          <p:cNvPr id="13" name="TextBox 12"/>
          <p:cNvSpPr txBox="1"/>
          <p:nvPr/>
        </p:nvSpPr>
        <p:spPr>
          <a:xfrm>
            <a:off x="6900000" y="1750000"/>
            <a:ext cx="4800000" cy="300000"/>
          </a:xfrm>
          <a:prstGeom prst="rect">
            <a:avLst/>
          </a:prstGeom>
          <a:noFill/>
        </p:spPr>
        <p:txBody>
          <a:bodyPr wrap="square">
            <a:spAutoFit/>
          </a:bodyPr>
          <a:lstStyle/>
          <a:p>
            <a:r>
              <a:rPr sz="1400" b="1">
                <a:solidFill>
                  <a:srgbClr val="818CF6"/>
                </a:solidFill>
                <a:latin typeface="Plus Jakarta Sans"/>
              </a:rPr>
              <a:t>SWE-bench Verified</a:t>
            </a:r>
          </a:p>
        </p:txBody>
      </p:sp>
      <p:sp>
        <p:nvSpPr>
          <p:cNvPr id="14" name="TextBox 13"/>
          <p:cNvSpPr txBox="1"/>
          <p:nvPr/>
        </p:nvSpPr>
        <p:spPr>
          <a:xfrm>
            <a:off x="6900000" y="2080000"/>
            <a:ext cx="4800000" cy="260000"/>
          </a:xfrm>
          <a:prstGeom prst="rect">
            <a:avLst/>
          </a:prstGeom>
          <a:noFill/>
        </p:spPr>
        <p:txBody>
          <a:bodyPr wrap="square">
            <a:spAutoFit/>
          </a:bodyPr>
          <a:lstStyle/>
          <a:p>
            <a:r>
              <a:rPr sz="1100" b="0">
                <a:solidFill>
                  <a:srgbClr val="94A3B8"/>
                </a:solidFill>
                <a:latin typeface="Inter"/>
              </a:rPr>
              <a:t>Same model, different harness, real GitHub issues</a:t>
            </a:r>
          </a:p>
        </p:txBody>
      </p:sp>
      <p:sp>
        <p:nvSpPr>
          <p:cNvPr id="15" name="TextBox 14"/>
          <p:cNvSpPr txBox="1"/>
          <p:nvPr/>
        </p:nvSpPr>
        <p:spPr>
          <a:xfrm>
            <a:off x="6900000" y="2450000"/>
            <a:ext cx="2200000" cy="950000"/>
          </a:xfrm>
          <a:prstGeom prst="rect">
            <a:avLst/>
          </a:prstGeom>
          <a:noFill/>
        </p:spPr>
        <p:txBody>
          <a:bodyPr wrap="square">
            <a:spAutoFit/>
          </a:bodyPr>
          <a:lstStyle/>
          <a:p>
            <a:pPr algn="ctr"/>
            <a:r>
              <a:rPr sz="6000" b="1">
                <a:solidFill>
                  <a:srgbClr val="F87171"/>
                </a:solidFill>
                <a:latin typeface="Plus Jakarta Sans"/>
              </a:rPr>
              <a:t>61%</a:t>
            </a:r>
          </a:p>
        </p:txBody>
      </p:sp>
      <p:sp>
        <p:nvSpPr>
          <p:cNvPr id="16" name="TextBox 15"/>
          <p:cNvSpPr txBox="1"/>
          <p:nvPr/>
        </p:nvSpPr>
        <p:spPr>
          <a:xfrm>
            <a:off x="6900000" y="3420000"/>
            <a:ext cx="2200000" cy="500000"/>
          </a:xfrm>
          <a:prstGeom prst="rect">
            <a:avLst/>
          </a:prstGeom>
          <a:noFill/>
        </p:spPr>
        <p:txBody>
          <a:bodyPr wrap="square">
            <a:spAutoFit/>
          </a:bodyPr>
          <a:lstStyle/>
          <a:p>
            <a:pPr algn="ctr"/>
            <a:r>
              <a:rPr sz="1100" b="0">
                <a:solidFill>
                  <a:srgbClr val="94A3B8"/>
                </a:solidFill>
                <a:latin typeface="Inter"/>
              </a:rPr>
              <a:t>Weakest Harness
(same model backbone)</a:t>
            </a:r>
          </a:p>
        </p:txBody>
      </p:sp>
      <p:sp>
        <p:nvSpPr>
          <p:cNvPr id="17" name="TextBox 16"/>
          <p:cNvSpPr txBox="1"/>
          <p:nvPr/>
        </p:nvSpPr>
        <p:spPr>
          <a:xfrm>
            <a:off x="9150000" y="2600000"/>
            <a:ext cx="500000" cy="700000"/>
          </a:xfrm>
          <a:prstGeom prst="rect">
            <a:avLst/>
          </a:prstGeom>
          <a:noFill/>
        </p:spPr>
        <p:txBody>
          <a:bodyPr wrap="square">
            <a:spAutoFit/>
          </a:bodyPr>
          <a:lstStyle/>
          <a:p>
            <a:pPr algn="ctr"/>
            <a:r>
              <a:rPr sz="3200" b="0">
                <a:solidFill>
                  <a:srgbClr val="CBD5E1"/>
                </a:solidFill>
                <a:latin typeface="Inter"/>
              </a:rPr>
              <a:t>→</a:t>
            </a:r>
          </a:p>
        </p:txBody>
      </p:sp>
      <p:sp>
        <p:nvSpPr>
          <p:cNvPr id="18" name="TextBox 17"/>
          <p:cNvSpPr txBox="1"/>
          <p:nvPr/>
        </p:nvSpPr>
        <p:spPr>
          <a:xfrm>
            <a:off x="9650000" y="2450000"/>
            <a:ext cx="2000000" cy="950000"/>
          </a:xfrm>
          <a:prstGeom prst="rect">
            <a:avLst/>
          </a:prstGeom>
          <a:noFill/>
        </p:spPr>
        <p:txBody>
          <a:bodyPr wrap="square">
            <a:spAutoFit/>
          </a:bodyPr>
          <a:lstStyle/>
          <a:p>
            <a:pPr algn="ctr"/>
            <a:r>
              <a:rPr sz="6000" b="1">
                <a:solidFill>
                  <a:srgbClr val="34D399"/>
                </a:solidFill>
                <a:latin typeface="Plus Jakarta Sans"/>
              </a:rPr>
              <a:t>73%</a:t>
            </a:r>
          </a:p>
        </p:txBody>
      </p:sp>
      <p:sp>
        <p:nvSpPr>
          <p:cNvPr id="19" name="TextBox 18"/>
          <p:cNvSpPr txBox="1"/>
          <p:nvPr/>
        </p:nvSpPr>
        <p:spPr>
          <a:xfrm>
            <a:off x="9650000" y="3420000"/>
            <a:ext cx="2000000" cy="500000"/>
          </a:xfrm>
          <a:prstGeom prst="rect">
            <a:avLst/>
          </a:prstGeom>
          <a:noFill/>
        </p:spPr>
        <p:txBody>
          <a:bodyPr wrap="square">
            <a:spAutoFit/>
          </a:bodyPr>
          <a:lstStyle/>
          <a:p>
            <a:pPr algn="ctr"/>
            <a:r>
              <a:rPr sz="1100" b="0">
                <a:solidFill>
                  <a:srgbClr val="94A3B8"/>
                </a:solidFill>
                <a:latin typeface="Inter"/>
              </a:rPr>
              <a:t>Best Harness
(same model backbone)</a:t>
            </a:r>
          </a:p>
        </p:txBody>
      </p:sp>
      <p:sp>
        <p:nvSpPr>
          <p:cNvPr id="20" name="TextBox 19"/>
          <p:cNvSpPr txBox="1"/>
          <p:nvPr/>
        </p:nvSpPr>
        <p:spPr>
          <a:xfrm>
            <a:off x="533400" y="4550000"/>
            <a:ext cx="11125200" cy="500000"/>
          </a:xfrm>
          <a:prstGeom prst="rect">
            <a:avLst/>
          </a:prstGeom>
          <a:noFill/>
        </p:spPr>
        <p:txBody>
          <a:bodyPr wrap="square">
            <a:spAutoFit/>
          </a:bodyPr>
          <a:lstStyle/>
          <a:p>
            <a:r>
              <a:rPr sz="1300" b="0">
                <a:solidFill>
                  <a:srgbClr val="F8FAFC"/>
                </a:solidFill>
                <a:latin typeface="Inter"/>
              </a:rPr>
              <a:t>“The LLM is the CPU. The Harness is the Operating System.” Investing in harness engineering is one of the highest-ROI levers for turning a coin-flip model into a production-grade system.</a:t>
            </a:r>
          </a:p>
        </p:txBody>
      </p:sp>
      <p:sp>
        <p:nvSpPr>
          <p:cNvPr id="21" name="TextBox 20"/>
          <p:cNvSpPr txBox="1"/>
          <p:nvPr/>
        </p:nvSpPr>
        <p:spPr>
          <a:xfrm>
            <a:off x="533400" y="6350000"/>
            <a:ext cx="11125200" cy="350000"/>
          </a:xfrm>
          <a:prstGeom prst="rect">
            <a:avLst/>
          </a:prstGeom>
          <a:noFill/>
        </p:spPr>
        <p:txBody>
          <a:bodyPr wrap="square">
            <a:spAutoFit/>
          </a:bodyPr>
          <a:lstStyle/>
          <a:p>
            <a:r>
              <a:rPr sz="850" b="0">
                <a:solidFill>
                  <a:srgbClr val="64748B"/>
                </a:solidFill>
                <a:latin typeface="Inter"/>
              </a:rPr>
              <a:t>Sources: Mialon et al., GAIA: A Benchmark for General AI Assistants (arXiv:2311.12983); H2O.ai GAIA leaderboard results; CLAW-SWE-Bench harness comparison study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409575"/>
          </a:xfrm>
          <a:prstGeom prst="rect">
            <a:avLst/>
          </a:prstGeom>
          <a:noFill/>
        </p:spPr>
        <p:txBody>
          <a:bodyPr wrap="square">
            <a:spAutoFit/>
          </a:bodyPr>
          <a:lstStyle/>
          <a:p>
            <a:r>
              <a:rPr sz="2550" b="1">
                <a:solidFill>
                  <a:srgbClr val="F8FAFC"/>
                </a:solidFill>
                <a:latin typeface="Plus Jakarta Sans"/>
              </a:rPr>
              <a:t>The Harness Effect, Confirmed Across Benchmarks</a:t>
            </a:r>
          </a:p>
        </p:txBody>
      </p:sp>
      <p:sp>
        <p:nvSpPr>
          <p:cNvPr id="4" name="TextBox 3"/>
          <p:cNvSpPr txBox="1"/>
          <p:nvPr/>
        </p:nvSpPr>
        <p:spPr>
          <a:xfrm>
            <a:off x="533400" y="1150000"/>
            <a:ext cx="11125200" cy="300000"/>
          </a:xfrm>
          <a:prstGeom prst="rect">
            <a:avLst/>
          </a:prstGeom>
          <a:noFill/>
        </p:spPr>
        <p:txBody>
          <a:bodyPr wrap="square">
            <a:spAutoFit/>
          </a:bodyPr>
          <a:lstStyle/>
          <a:p>
            <a:r>
              <a:rPr sz="1200" b="0">
                <a:solidFill>
                  <a:srgbClr val="94A3B8"/>
                </a:solidFill>
                <a:latin typeface="Inter"/>
              </a:rPr>
              <a:t>Independent studies keep finding the same pattern: hold the model constant, change only the harness</a:t>
            </a:r>
          </a:p>
        </p:txBody>
      </p:sp>
      <p:sp>
        <p:nvSpPr>
          <p:cNvPr id="21" name="TextBox 20"/>
          <p:cNvSpPr txBox="1"/>
          <p:nvPr/>
        </p:nvSpPr>
        <p:spPr>
          <a:xfrm>
            <a:off x="533400" y="4700000"/>
            <a:ext cx="11125200" cy="700000"/>
          </a:xfrm>
          <a:prstGeom prst="rect">
            <a:avLst/>
          </a:prstGeom>
          <a:noFill/>
        </p:spPr>
        <p:txBody>
          <a:bodyPr wrap="square">
            <a:spAutoFit/>
          </a:bodyPr>
          <a:lstStyle/>
          <a:p>
            <a:r>
              <a:rPr sz="1300" b="0">
                <a:solidFill>
                  <a:srgbClr val="F8FAFC"/>
                </a:solidFill>
                <a:latin typeface="Inter"/>
              </a:rPr>
              <a:t>The variable being tested is never “is the model smart enough.” It's “does the harness around it manage state, catch errors, and verify results.” That's the investment case for harness engineering.</a:t>
            </a:r>
          </a:p>
        </p:txBody>
      </p:sp>
      <p:sp>
        <p:nvSpPr>
          <p:cNvPr id="22" name="TextBox 21"/>
          <p:cNvSpPr txBox="1"/>
          <p:nvPr/>
        </p:nvSpPr>
        <p:spPr>
          <a:xfrm>
            <a:off x="533400" y="6350000"/>
            <a:ext cx="11125200" cy="350000"/>
          </a:xfrm>
          <a:prstGeom prst="rect">
            <a:avLst/>
          </a:prstGeom>
          <a:noFill/>
        </p:spPr>
        <p:txBody>
          <a:bodyPr wrap="square">
            <a:spAutoFit/>
          </a:bodyPr>
          <a:lstStyle/>
          <a:p>
            <a:r>
              <a:rPr sz="850" b="0">
                <a:solidFill>
                  <a:srgbClr val="64748B"/>
                </a:solidFill>
                <a:latin typeface="Inter"/>
              </a:rPr>
              <a:t>Sources: Mialon et al., GAIA (arXiv:2311.12983); H2O.ai GAIA leaderboard announcements (2024–2025); CLAW-SWE-Bench harness comparison study; scaffold-effect benchmark trackers (SWE-bench Verified, 2026).</a:t>
            </a:r>
          </a:p>
        </p:txBody>
      </p:sp>
      <p:graphicFrame>
        <p:nvGraphicFramePr>
          <p:cNvPr id="23" name="Chart 22"/>
          <p:cNvGraphicFramePr>
            <a:graphicFrameLocks noGrp="1"/>
          </p:cNvGraphicFramePr>
          <p:nvPr/>
        </p:nvGraphicFramePr>
        <p:xfrm>
          <a:off x="533400" y="1750000"/>
          <a:ext cx="11125200" cy="2850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704975" y="2901255"/>
            <a:ext cx="9221152" cy="285750"/>
          </a:xfrm>
          <a:prstGeom prst="rect">
            <a:avLst/>
          </a:prstGeom>
          <a:noFill/>
        </p:spPr>
        <p:txBody>
          <a:bodyPr wrap="square" lIns="0" tIns="0" rIns="0" bIns="0" anchor="t">
            <a:spAutoFit/>
          </a:bodyPr>
          <a:lstStyle/>
          <a:p>
            <a:pPr algn="l"/>
            <a:r>
              <a:rPr sz="1800" b="1" i="0" u="none" dirty="0">
                <a:solidFill>
                  <a:srgbClr val="F8FAFC"/>
                </a:solidFill>
                <a:latin typeface="Plus Jakarta Sans"/>
              </a:rPr>
              <a:t>The Anatomy &amp; Evolution</a:t>
            </a:r>
          </a:p>
        </p:txBody>
      </p:sp>
      <p:sp>
        <p:nvSpPr>
          <p:cNvPr id="4" name="TextBox 3"/>
          <p:cNvSpPr txBox="1"/>
          <p:nvPr/>
        </p:nvSpPr>
        <p:spPr>
          <a:xfrm>
            <a:off x="1704975" y="3606105"/>
            <a:ext cx="8782050" cy="236190"/>
          </a:xfrm>
          <a:prstGeom prst="rect">
            <a:avLst/>
          </a:prstGeom>
          <a:noFill/>
        </p:spPr>
        <p:txBody>
          <a:bodyPr wrap="square" lIns="0" tIns="0" rIns="0" bIns="0" anchor="t">
            <a:spAutoFit/>
          </a:bodyPr>
          <a:lstStyle/>
          <a:p>
            <a:pPr algn="l">
              <a:lnSpc>
                <a:spcPts val="1860"/>
              </a:lnSpc>
            </a:pPr>
            <a:r>
              <a:rPr sz="1200" b="0" i="0" u="none">
                <a:solidFill>
                  <a:srgbClr val="94A3B8"/>
                </a:solidFill>
                <a:latin typeface="Inter"/>
              </a:rPr>
              <a:t>Why raw model intelligence converges across providers while harness quality determines real-world production reliability.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2065585"/>
            <a:ext cx="11125200" cy="3374528"/>
          </a:xfrm>
          <a:prstGeom prst="rect">
            <a:avLst/>
          </a:prstGeom>
        </p:spPr>
      </p:pic>
      <p:pic>
        <p:nvPicPr>
          <p:cNvPr id="4" name="Picture 3" descr="image.png"/>
          <p:cNvPicPr>
            <a:picLocks noChangeAspect="1"/>
          </p:cNvPicPr>
          <p:nvPr/>
        </p:nvPicPr>
        <p:blipFill>
          <a:blip r:embed="rId4"/>
          <a:stretch>
            <a:fillRect/>
          </a:stretch>
        </p:blipFill>
        <p:spPr>
          <a:xfrm>
            <a:off x="742950" y="2522785"/>
            <a:ext cx="10706100" cy="2707778"/>
          </a:xfrm>
          <a:prstGeom prst="rect">
            <a:avLst/>
          </a:prstGeom>
        </p:spPr>
      </p:pic>
      <p:pic>
        <p:nvPicPr>
          <p:cNvPr id="5" name="Picture 4" descr="image.png"/>
          <p:cNvPicPr>
            <a:picLocks noChangeAspect="1"/>
          </p:cNvPicPr>
          <p:nvPr/>
        </p:nvPicPr>
        <p:blipFill>
          <a:blip r:embed="rId5"/>
          <a:stretch>
            <a:fillRect/>
          </a:stretch>
        </p:blipFill>
        <p:spPr>
          <a:xfrm>
            <a:off x="942975" y="4119116"/>
            <a:ext cx="10306050" cy="911423"/>
          </a:xfrm>
          <a:prstGeom prst="rect">
            <a:avLst/>
          </a:prstGeom>
        </p:spPr>
      </p:pic>
      <p:pic>
        <p:nvPicPr>
          <p:cNvPr id="6" name="Picture 5" descr="image.png"/>
          <p:cNvPicPr>
            <a:picLocks noChangeAspect="1"/>
          </p:cNvPicPr>
          <p:nvPr/>
        </p:nvPicPr>
        <p:blipFill>
          <a:blip r:embed="rId6"/>
          <a:stretch>
            <a:fillRect/>
          </a:stretch>
        </p:blipFill>
        <p:spPr>
          <a:xfrm>
            <a:off x="942975" y="2970460"/>
            <a:ext cx="2469356" cy="958155"/>
          </a:xfrm>
          <a:prstGeom prst="rect">
            <a:avLst/>
          </a:prstGeom>
        </p:spPr>
      </p:pic>
      <p:pic>
        <p:nvPicPr>
          <p:cNvPr id="7" name="Picture 6" descr="image.png"/>
          <p:cNvPicPr>
            <a:picLocks noChangeAspect="1"/>
          </p:cNvPicPr>
          <p:nvPr/>
        </p:nvPicPr>
        <p:blipFill>
          <a:blip r:embed="rId7"/>
          <a:stretch>
            <a:fillRect/>
          </a:stretch>
        </p:blipFill>
        <p:spPr>
          <a:xfrm>
            <a:off x="3555206" y="2970460"/>
            <a:ext cx="2469356" cy="958155"/>
          </a:xfrm>
          <a:prstGeom prst="rect">
            <a:avLst/>
          </a:prstGeom>
        </p:spPr>
      </p:pic>
      <p:pic>
        <p:nvPicPr>
          <p:cNvPr id="8" name="Picture 7" descr="image.png"/>
          <p:cNvPicPr>
            <a:picLocks noChangeAspect="1"/>
          </p:cNvPicPr>
          <p:nvPr/>
        </p:nvPicPr>
        <p:blipFill>
          <a:blip r:embed="rId8"/>
          <a:stretch>
            <a:fillRect/>
          </a:stretch>
        </p:blipFill>
        <p:spPr>
          <a:xfrm>
            <a:off x="6167437" y="2970460"/>
            <a:ext cx="2469356" cy="958155"/>
          </a:xfrm>
          <a:prstGeom prst="rect">
            <a:avLst/>
          </a:prstGeom>
        </p:spPr>
      </p:pic>
      <p:pic>
        <p:nvPicPr>
          <p:cNvPr id="9" name="Picture 8" descr="image.png"/>
          <p:cNvPicPr>
            <a:picLocks noChangeAspect="1"/>
          </p:cNvPicPr>
          <p:nvPr/>
        </p:nvPicPr>
        <p:blipFill>
          <a:blip r:embed="rId8"/>
          <a:stretch>
            <a:fillRect/>
          </a:stretch>
        </p:blipFill>
        <p:spPr>
          <a:xfrm>
            <a:off x="8779668" y="2970460"/>
            <a:ext cx="2469356" cy="958155"/>
          </a:xfrm>
          <a:prstGeom prst="rect">
            <a:avLst/>
          </a:prstGeom>
        </p:spPr>
      </p:pic>
      <p:sp>
        <p:nvSpPr>
          <p:cNvPr id="10" name="TextBox 9"/>
          <p:cNvSpPr txBox="1"/>
          <p:nvPr/>
        </p:nvSpPr>
        <p:spPr>
          <a:xfrm>
            <a:off x="742950" y="2275135"/>
            <a:ext cx="10706100" cy="152400"/>
          </a:xfrm>
          <a:prstGeom prst="rect">
            <a:avLst/>
          </a:prstGeom>
          <a:noFill/>
        </p:spPr>
        <p:txBody>
          <a:bodyPr wrap="square" lIns="128587" tIns="0" rIns="0" bIns="0" anchor="t">
            <a:spAutoFit/>
          </a:bodyPr>
          <a:lstStyle/>
          <a:p>
            <a:pPr algn="l"/>
            <a:r>
              <a:rPr sz="900" b="0" i="0" u="none">
                <a:solidFill>
                  <a:srgbClr val="64748B"/>
                </a:solidFill>
                <a:latin typeface="Fira Code"/>
              </a:rPr>
              <a:t>OUTER LAYER: SAFETY, GATEWAYS &amp; MONITORING (HITL / TELEMETRY / AUDIT LOGS)</a:t>
            </a:r>
          </a:p>
        </p:txBody>
      </p:sp>
      <p:pic>
        <p:nvPicPr>
          <p:cNvPr id="11" name="Picture 10" descr="image.png"/>
          <p:cNvPicPr>
            <a:picLocks noChangeAspect="1"/>
          </p:cNvPicPr>
          <p:nvPr/>
        </p:nvPicPr>
        <p:blipFill>
          <a:blip r:embed="rId9"/>
          <a:stretch>
            <a:fillRect/>
          </a:stretch>
        </p:blipFill>
        <p:spPr>
          <a:xfrm>
            <a:off x="742950" y="2294185"/>
            <a:ext cx="128587" cy="114300"/>
          </a:xfrm>
          <a:prstGeom prst="rect">
            <a:avLst/>
          </a:prstGeom>
        </p:spPr>
      </p:pic>
      <p:sp>
        <p:nvSpPr>
          <p:cNvPr id="12" name="TextBox 11"/>
          <p:cNvSpPr txBox="1"/>
          <p:nvPr/>
        </p:nvSpPr>
        <p:spPr>
          <a:xfrm>
            <a:off x="942975" y="2722810"/>
            <a:ext cx="10306050" cy="152400"/>
          </a:xfrm>
          <a:prstGeom prst="rect">
            <a:avLst/>
          </a:prstGeom>
          <a:noFill/>
        </p:spPr>
        <p:txBody>
          <a:bodyPr wrap="square" lIns="157162" tIns="0" rIns="0" bIns="0" anchor="t">
            <a:spAutoFit/>
          </a:bodyPr>
          <a:lstStyle/>
          <a:p>
            <a:pPr algn="l"/>
            <a:r>
              <a:rPr sz="900" b="0" i="0" u="none">
                <a:solidFill>
                  <a:srgbClr val="64748B"/>
                </a:solidFill>
                <a:latin typeface="Fira Code"/>
              </a:rPr>
              <a:t>MIDDLE LAYER: CONTROL LOOP &amp; EXECUTION SANDBOX</a:t>
            </a:r>
          </a:p>
        </p:txBody>
      </p:sp>
      <p:pic>
        <p:nvPicPr>
          <p:cNvPr id="13" name="Picture 12" descr="image.png"/>
          <p:cNvPicPr>
            <a:picLocks noChangeAspect="1"/>
          </p:cNvPicPr>
          <p:nvPr/>
        </p:nvPicPr>
        <p:blipFill>
          <a:blip r:embed="rId10"/>
          <a:stretch>
            <a:fillRect/>
          </a:stretch>
        </p:blipFill>
        <p:spPr>
          <a:xfrm>
            <a:off x="942975" y="2741860"/>
            <a:ext cx="157162" cy="114300"/>
          </a:xfrm>
          <a:prstGeom prst="rect">
            <a:avLst/>
          </a:prstGeom>
        </p:spPr>
      </p:pic>
      <p:sp>
        <p:nvSpPr>
          <p:cNvPr id="14" name="TextBox 13"/>
          <p:cNvSpPr txBox="1"/>
          <p:nvPr/>
        </p:nvSpPr>
        <p:spPr>
          <a:xfrm>
            <a:off x="905351" y="4328666"/>
            <a:ext cx="10381297" cy="238125"/>
          </a:xfrm>
          <a:prstGeom prst="rect">
            <a:avLst/>
          </a:prstGeom>
          <a:noFill/>
        </p:spPr>
        <p:txBody>
          <a:bodyPr wrap="square" lIns="190500" tIns="0" rIns="0" bIns="0" anchor="t">
            <a:spAutoFit/>
          </a:bodyPr>
          <a:lstStyle/>
          <a:p>
            <a:pPr algn="ctr"/>
            <a:r>
              <a:rPr sz="1500" b="0" i="0" u="none">
                <a:solidFill>
                  <a:srgbClr val="FFFFFF"/>
                </a:solidFill>
                <a:latin typeface="Plus Jakarta Sans SemiBold"/>
              </a:rPr>
              <a:t>Foundation Model Core (LLM / Reasoning Engine)</a:t>
            </a:r>
          </a:p>
        </p:txBody>
      </p:sp>
      <p:sp>
        <p:nvSpPr>
          <p:cNvPr id="15" name="TextBox 14"/>
          <p:cNvSpPr txBox="1"/>
          <p:nvPr/>
        </p:nvSpPr>
        <p:spPr>
          <a:xfrm>
            <a:off x="1152525" y="4614416"/>
            <a:ext cx="9886950" cy="206573"/>
          </a:xfrm>
          <a:prstGeom prst="rect">
            <a:avLst/>
          </a:prstGeom>
          <a:noFill/>
        </p:spPr>
        <p:txBody>
          <a:bodyPr wrap="square" lIns="0" tIns="0" rIns="0" bIns="0" anchor="t">
            <a:spAutoFit/>
          </a:bodyPr>
          <a:lstStyle/>
          <a:p>
            <a:pPr algn="ctr">
              <a:lnSpc>
                <a:spcPts val="1627"/>
              </a:lnSpc>
            </a:pPr>
            <a:r>
              <a:rPr sz="1050" b="0" i="0" u="none">
                <a:solidFill>
                  <a:srgbClr val="CBD5E1"/>
                </a:solidFill>
                <a:latin typeface="Inter"/>
              </a:rPr>
              <a:t>Stateless Predictor: Receives hydrated prompt context → Generates intent / tool invocation</a:t>
            </a:r>
          </a:p>
        </p:txBody>
      </p:sp>
      <p:pic>
        <p:nvPicPr>
          <p:cNvPr id="16" name="Picture 15" descr="image.png"/>
          <p:cNvPicPr>
            <a:picLocks noChangeAspect="1"/>
          </p:cNvPicPr>
          <p:nvPr/>
        </p:nvPicPr>
        <p:blipFill>
          <a:blip r:embed="rId11"/>
          <a:stretch>
            <a:fillRect/>
          </a:stretch>
        </p:blipFill>
        <p:spPr>
          <a:xfrm>
            <a:off x="1095375" y="3122860"/>
            <a:ext cx="2164556" cy="209550"/>
          </a:xfrm>
          <a:prstGeom prst="rect">
            <a:avLst/>
          </a:prstGeom>
        </p:spPr>
      </p:pic>
      <p:sp>
        <p:nvSpPr>
          <p:cNvPr id="17" name="TextBox 16"/>
          <p:cNvSpPr txBox="1"/>
          <p:nvPr/>
        </p:nvSpPr>
        <p:spPr>
          <a:xfrm>
            <a:off x="1041261" y="3408610"/>
            <a:ext cx="2272784" cy="180975"/>
          </a:xfrm>
          <a:prstGeom prst="rect">
            <a:avLst/>
          </a:prstGeom>
          <a:noFill/>
        </p:spPr>
        <p:txBody>
          <a:bodyPr wrap="square" lIns="0" tIns="0" rIns="0" bIns="0" anchor="t">
            <a:spAutoFit/>
          </a:bodyPr>
          <a:lstStyle/>
          <a:p>
            <a:pPr algn="ctr"/>
            <a:r>
              <a:rPr sz="1125" b="1" i="0" u="none">
                <a:solidFill>
                  <a:srgbClr val="F8FAFC"/>
                </a:solidFill>
                <a:latin typeface="Plus Jakarta Sans"/>
              </a:rPr>
              <a:t>Memory &amp; State</a:t>
            </a:r>
          </a:p>
        </p:txBody>
      </p:sp>
      <p:sp>
        <p:nvSpPr>
          <p:cNvPr id="18" name="TextBox 17"/>
          <p:cNvSpPr txBox="1"/>
          <p:nvPr/>
        </p:nvSpPr>
        <p:spPr>
          <a:xfrm>
            <a:off x="1095375" y="3627685"/>
            <a:ext cx="2164556" cy="148530"/>
          </a:xfrm>
          <a:prstGeom prst="rect">
            <a:avLst/>
          </a:prstGeom>
          <a:noFill/>
        </p:spPr>
        <p:txBody>
          <a:bodyPr wrap="square" lIns="0" tIns="0" rIns="0" bIns="0" anchor="t">
            <a:spAutoFit/>
          </a:bodyPr>
          <a:lstStyle/>
          <a:p>
            <a:pPr algn="ctr">
              <a:lnSpc>
                <a:spcPts val="1170"/>
              </a:lnSpc>
            </a:pPr>
            <a:r>
              <a:rPr sz="900" b="0" i="0" u="none">
                <a:solidFill>
                  <a:srgbClr val="94A3B8"/>
                </a:solidFill>
                <a:latin typeface="Inter"/>
              </a:rPr>
              <a:t>Compaction, session history &amp; storage</a:t>
            </a:r>
          </a:p>
        </p:txBody>
      </p:sp>
      <p:pic>
        <p:nvPicPr>
          <p:cNvPr id="19" name="Picture 18" descr="image.png"/>
          <p:cNvPicPr>
            <a:picLocks noChangeAspect="1"/>
          </p:cNvPicPr>
          <p:nvPr/>
        </p:nvPicPr>
        <p:blipFill>
          <a:blip r:embed="rId12"/>
          <a:stretch>
            <a:fillRect/>
          </a:stretch>
        </p:blipFill>
        <p:spPr>
          <a:xfrm>
            <a:off x="3707606" y="3122860"/>
            <a:ext cx="2164556" cy="209550"/>
          </a:xfrm>
          <a:prstGeom prst="rect">
            <a:avLst/>
          </a:prstGeom>
        </p:spPr>
      </p:pic>
      <p:sp>
        <p:nvSpPr>
          <p:cNvPr id="20" name="TextBox 19"/>
          <p:cNvSpPr txBox="1"/>
          <p:nvPr/>
        </p:nvSpPr>
        <p:spPr>
          <a:xfrm>
            <a:off x="3653492" y="3408610"/>
            <a:ext cx="2272784" cy="180975"/>
          </a:xfrm>
          <a:prstGeom prst="rect">
            <a:avLst/>
          </a:prstGeom>
          <a:noFill/>
        </p:spPr>
        <p:txBody>
          <a:bodyPr wrap="square" lIns="0" tIns="0" rIns="0" bIns="0" anchor="t">
            <a:spAutoFit/>
          </a:bodyPr>
          <a:lstStyle/>
          <a:p>
            <a:pPr algn="ctr"/>
            <a:r>
              <a:rPr sz="1125" b="1" i="0" u="none">
                <a:solidFill>
                  <a:srgbClr val="F8FAFC"/>
                </a:solidFill>
                <a:latin typeface="Plus Jakarta Sans"/>
              </a:rPr>
              <a:t>Tool Sandbox</a:t>
            </a:r>
          </a:p>
        </p:txBody>
      </p:sp>
      <p:sp>
        <p:nvSpPr>
          <p:cNvPr id="21" name="TextBox 20"/>
          <p:cNvSpPr txBox="1"/>
          <p:nvPr/>
        </p:nvSpPr>
        <p:spPr>
          <a:xfrm>
            <a:off x="3707606" y="3627685"/>
            <a:ext cx="2164556" cy="148530"/>
          </a:xfrm>
          <a:prstGeom prst="rect">
            <a:avLst/>
          </a:prstGeom>
          <a:noFill/>
        </p:spPr>
        <p:txBody>
          <a:bodyPr wrap="square" lIns="0" tIns="0" rIns="0" bIns="0" anchor="t">
            <a:spAutoFit/>
          </a:bodyPr>
          <a:lstStyle/>
          <a:p>
            <a:pPr algn="ctr">
              <a:lnSpc>
                <a:spcPts val="1170"/>
              </a:lnSpc>
            </a:pPr>
            <a:r>
              <a:rPr sz="900" b="0" i="0" u="none">
                <a:solidFill>
                  <a:srgbClr val="94A3B8"/>
                </a:solidFill>
                <a:latin typeface="Inter"/>
              </a:rPr>
              <a:t>Isolated micro-VMs &amp; CLI execution</a:t>
            </a:r>
          </a:p>
        </p:txBody>
      </p:sp>
      <p:pic>
        <p:nvPicPr>
          <p:cNvPr id="22" name="Picture 21" descr="image.png"/>
          <p:cNvPicPr>
            <a:picLocks noChangeAspect="1"/>
          </p:cNvPicPr>
          <p:nvPr/>
        </p:nvPicPr>
        <p:blipFill>
          <a:blip r:embed="rId13"/>
          <a:stretch>
            <a:fillRect/>
          </a:stretch>
        </p:blipFill>
        <p:spPr>
          <a:xfrm>
            <a:off x="6319837" y="3122860"/>
            <a:ext cx="2164556" cy="209550"/>
          </a:xfrm>
          <a:prstGeom prst="rect">
            <a:avLst/>
          </a:prstGeom>
        </p:spPr>
      </p:pic>
      <p:sp>
        <p:nvSpPr>
          <p:cNvPr id="23" name="TextBox 22"/>
          <p:cNvSpPr txBox="1"/>
          <p:nvPr/>
        </p:nvSpPr>
        <p:spPr>
          <a:xfrm>
            <a:off x="6265723" y="3408610"/>
            <a:ext cx="2272784" cy="180975"/>
          </a:xfrm>
          <a:prstGeom prst="rect">
            <a:avLst/>
          </a:prstGeom>
          <a:noFill/>
        </p:spPr>
        <p:txBody>
          <a:bodyPr wrap="square" lIns="0" tIns="0" rIns="0" bIns="0" anchor="t">
            <a:spAutoFit/>
          </a:bodyPr>
          <a:lstStyle/>
          <a:p>
            <a:pPr algn="ctr"/>
            <a:r>
              <a:rPr sz="1125" b="1" i="0" u="none">
                <a:solidFill>
                  <a:srgbClr val="F8FAFC"/>
                </a:solidFill>
                <a:latin typeface="Plus Jakarta Sans"/>
              </a:rPr>
              <a:t>Guardrails</a:t>
            </a:r>
          </a:p>
        </p:txBody>
      </p:sp>
      <p:sp>
        <p:nvSpPr>
          <p:cNvPr id="24" name="TextBox 23"/>
          <p:cNvSpPr txBox="1"/>
          <p:nvPr/>
        </p:nvSpPr>
        <p:spPr>
          <a:xfrm>
            <a:off x="6319837" y="3627685"/>
            <a:ext cx="2164556" cy="148530"/>
          </a:xfrm>
          <a:prstGeom prst="rect">
            <a:avLst/>
          </a:prstGeom>
          <a:noFill/>
        </p:spPr>
        <p:txBody>
          <a:bodyPr wrap="square" lIns="0" tIns="0" rIns="0" bIns="0" anchor="t">
            <a:spAutoFit/>
          </a:bodyPr>
          <a:lstStyle/>
          <a:p>
            <a:pPr algn="ctr">
              <a:lnSpc>
                <a:spcPts val="1170"/>
              </a:lnSpc>
            </a:pPr>
            <a:r>
              <a:rPr sz="900" b="0" i="0" u="none">
                <a:solidFill>
                  <a:srgbClr val="94A3B8"/>
                </a:solidFill>
                <a:latin typeface="Inter"/>
              </a:rPr>
              <a:t>Schema validation &amp; rate limits</a:t>
            </a:r>
          </a:p>
        </p:txBody>
      </p:sp>
      <p:pic>
        <p:nvPicPr>
          <p:cNvPr id="25" name="Picture 24" descr="image.png"/>
          <p:cNvPicPr>
            <a:picLocks noChangeAspect="1"/>
          </p:cNvPicPr>
          <p:nvPr/>
        </p:nvPicPr>
        <p:blipFill>
          <a:blip r:embed="rId14"/>
          <a:stretch>
            <a:fillRect/>
          </a:stretch>
        </p:blipFill>
        <p:spPr>
          <a:xfrm>
            <a:off x="8932068" y="3122860"/>
            <a:ext cx="2164556" cy="209550"/>
          </a:xfrm>
          <a:prstGeom prst="rect">
            <a:avLst/>
          </a:prstGeom>
        </p:spPr>
      </p:pic>
      <p:sp>
        <p:nvSpPr>
          <p:cNvPr id="26" name="TextBox 25"/>
          <p:cNvSpPr txBox="1"/>
          <p:nvPr/>
        </p:nvSpPr>
        <p:spPr>
          <a:xfrm>
            <a:off x="8877954" y="3408610"/>
            <a:ext cx="2272784" cy="180975"/>
          </a:xfrm>
          <a:prstGeom prst="rect">
            <a:avLst/>
          </a:prstGeom>
          <a:noFill/>
        </p:spPr>
        <p:txBody>
          <a:bodyPr wrap="square" lIns="0" tIns="0" rIns="0" bIns="0" anchor="t">
            <a:spAutoFit/>
          </a:bodyPr>
          <a:lstStyle/>
          <a:p>
            <a:pPr algn="ctr"/>
            <a:r>
              <a:rPr sz="1125" b="1" i="0" u="none">
                <a:solidFill>
                  <a:srgbClr val="F8FAFC"/>
                </a:solidFill>
                <a:latin typeface="Plus Jakarta Sans"/>
              </a:rPr>
              <a:t>Feedback Evaluator</a:t>
            </a:r>
          </a:p>
        </p:txBody>
      </p:sp>
      <p:sp>
        <p:nvSpPr>
          <p:cNvPr id="27" name="TextBox 26"/>
          <p:cNvSpPr txBox="1"/>
          <p:nvPr/>
        </p:nvSpPr>
        <p:spPr>
          <a:xfrm>
            <a:off x="8932068" y="3627685"/>
            <a:ext cx="2164556" cy="148530"/>
          </a:xfrm>
          <a:prstGeom prst="rect">
            <a:avLst/>
          </a:prstGeom>
          <a:noFill/>
        </p:spPr>
        <p:txBody>
          <a:bodyPr wrap="square" lIns="0" tIns="0" rIns="0" bIns="0" anchor="t">
            <a:spAutoFit/>
          </a:bodyPr>
          <a:lstStyle/>
          <a:p>
            <a:pPr algn="ctr">
              <a:lnSpc>
                <a:spcPts val="1170"/>
              </a:lnSpc>
            </a:pPr>
            <a:r>
              <a:rPr sz="900" b="0" i="0" u="none">
                <a:solidFill>
                  <a:srgbClr val="94A3B8"/>
                </a:solidFill>
                <a:latin typeface="Inter"/>
              </a:rPr>
              <a:t>AST checks, linters &amp; unit tests</a:t>
            </a:r>
          </a:p>
        </p:txBody>
      </p:sp>
      <p:pic>
        <p:nvPicPr>
          <p:cNvPr id="28" name="Picture 27" descr="image.png"/>
          <p:cNvPicPr>
            <a:picLocks noChangeAspect="1"/>
          </p:cNvPicPr>
          <p:nvPr/>
        </p:nvPicPr>
        <p:blipFill>
          <a:blip r:embed="rId15"/>
          <a:stretch>
            <a:fillRect/>
          </a:stretch>
        </p:blipFill>
        <p:spPr>
          <a:xfrm>
            <a:off x="3724275" y="4366766"/>
            <a:ext cx="190500" cy="190500"/>
          </a:xfrm>
          <a:prstGeom prst="rect">
            <a:avLst/>
          </a:prstGeom>
        </p:spPr>
      </p:pic>
      <p:sp>
        <p:nvSpPr>
          <p:cNvPr id="29" name="TextBox 28"/>
          <p:cNvSpPr txBox="1"/>
          <p:nvPr/>
        </p:nvSpPr>
        <p:spPr>
          <a:xfrm>
            <a:off x="533400" y="438150"/>
            <a:ext cx="11658600" cy="409575"/>
          </a:xfrm>
          <a:prstGeom prst="rect">
            <a:avLst/>
          </a:prstGeom>
          <a:noFill/>
        </p:spPr>
        <p:txBody>
          <a:bodyPr wrap="square" lIns="0" tIns="0" rIns="0" bIns="0" anchor="t">
            <a:spAutoFit/>
          </a:bodyPr>
          <a:lstStyle/>
          <a:p>
            <a:pPr algn="l"/>
            <a:r>
              <a:rPr sz="2550" b="1" i="0" u="none" dirty="0">
                <a:solidFill>
                  <a:srgbClr val="F8FAFC"/>
                </a:solidFill>
                <a:latin typeface="Plus Jakarta Sans"/>
              </a:rPr>
              <a:t>Anatomy of an Agent Harness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1085850"/>
            <a:ext cx="11125200" cy="5334000"/>
          </a:xfrm>
          <a:prstGeom prst="rect">
            <a:avLst/>
          </a:prstGeom>
        </p:spPr>
      </p:pic>
      <p:sp>
        <p:nvSpPr>
          <p:cNvPr id="4" name="TextBox 3"/>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The Execution Control Loop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3733800"/>
            <a:ext cx="11125200" cy="38100"/>
          </a:xfrm>
          <a:prstGeom prst="rect">
            <a:avLst/>
          </a:prstGeom>
        </p:spPr>
      </p:pic>
      <p:pic>
        <p:nvPicPr>
          <p:cNvPr id="4" name="Picture 3" descr="image.png"/>
          <p:cNvPicPr>
            <a:picLocks noChangeAspect="1"/>
          </p:cNvPicPr>
          <p:nvPr/>
        </p:nvPicPr>
        <p:blipFill>
          <a:blip r:embed="rId4"/>
          <a:stretch>
            <a:fillRect/>
          </a:stretch>
        </p:blipFill>
        <p:spPr>
          <a:xfrm>
            <a:off x="533400" y="3990975"/>
            <a:ext cx="2447478" cy="1174253"/>
          </a:xfrm>
          <a:prstGeom prst="rect">
            <a:avLst/>
          </a:prstGeom>
        </p:spPr>
      </p:pic>
      <p:pic>
        <p:nvPicPr>
          <p:cNvPr id="5" name="Picture 4" descr="image.png"/>
          <p:cNvPicPr>
            <a:picLocks noChangeAspect="1"/>
          </p:cNvPicPr>
          <p:nvPr/>
        </p:nvPicPr>
        <p:blipFill>
          <a:blip r:embed="rId5"/>
          <a:stretch>
            <a:fillRect/>
          </a:stretch>
        </p:blipFill>
        <p:spPr>
          <a:xfrm>
            <a:off x="3425874" y="2340471"/>
            <a:ext cx="2447478" cy="1174253"/>
          </a:xfrm>
          <a:prstGeom prst="rect">
            <a:avLst/>
          </a:prstGeom>
        </p:spPr>
      </p:pic>
      <p:pic>
        <p:nvPicPr>
          <p:cNvPr id="6" name="Picture 5" descr="image.png"/>
          <p:cNvPicPr>
            <a:picLocks noChangeAspect="1"/>
          </p:cNvPicPr>
          <p:nvPr/>
        </p:nvPicPr>
        <p:blipFill>
          <a:blip r:embed="rId6"/>
          <a:stretch>
            <a:fillRect/>
          </a:stretch>
        </p:blipFill>
        <p:spPr>
          <a:xfrm>
            <a:off x="6318349" y="3990975"/>
            <a:ext cx="2447478" cy="1174253"/>
          </a:xfrm>
          <a:prstGeom prst="rect">
            <a:avLst/>
          </a:prstGeom>
        </p:spPr>
      </p:pic>
      <p:pic>
        <p:nvPicPr>
          <p:cNvPr id="7" name="Picture 6" descr="image.png"/>
          <p:cNvPicPr>
            <a:picLocks noChangeAspect="1"/>
          </p:cNvPicPr>
          <p:nvPr/>
        </p:nvPicPr>
        <p:blipFill>
          <a:blip r:embed="rId7"/>
          <a:stretch>
            <a:fillRect/>
          </a:stretch>
        </p:blipFill>
        <p:spPr>
          <a:xfrm>
            <a:off x="9210823" y="1956792"/>
            <a:ext cx="2447478" cy="1557932"/>
          </a:xfrm>
          <a:prstGeom prst="rect">
            <a:avLst/>
          </a:prstGeom>
        </p:spPr>
      </p:pic>
      <p:sp>
        <p:nvSpPr>
          <p:cNvPr id="8" name="TextBox 7"/>
          <p:cNvSpPr txBox="1"/>
          <p:nvPr/>
        </p:nvSpPr>
        <p:spPr>
          <a:xfrm>
            <a:off x="66223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2022: Prompting</a:t>
            </a:r>
          </a:p>
        </p:txBody>
      </p:sp>
      <p:sp>
        <p:nvSpPr>
          <p:cNvPr id="9" name="TextBox 8"/>
          <p:cNvSpPr txBox="1"/>
          <p:nvPr/>
        </p:nvSpPr>
        <p:spPr>
          <a:xfrm>
            <a:off x="714375"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Static system prompts and isolated text generation completions.</a:t>
            </a:r>
          </a:p>
        </p:txBody>
      </p:sp>
      <p:sp>
        <p:nvSpPr>
          <p:cNvPr id="10" name="TextBox 9"/>
          <p:cNvSpPr txBox="1"/>
          <p:nvPr/>
        </p:nvSpPr>
        <p:spPr>
          <a:xfrm>
            <a:off x="3554711" y="2521446"/>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2023-24: Context Eng</a:t>
            </a:r>
          </a:p>
        </p:txBody>
      </p:sp>
      <p:sp>
        <p:nvSpPr>
          <p:cNvPr id="11" name="TextBox 10"/>
          <p:cNvSpPr txBox="1"/>
          <p:nvPr/>
        </p:nvSpPr>
        <p:spPr>
          <a:xfrm>
            <a:off x="3606849" y="2835771"/>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RAG pipelines, vector stores, and simple function calling hooks.</a:t>
            </a:r>
          </a:p>
        </p:txBody>
      </p:sp>
      <p:sp>
        <p:nvSpPr>
          <p:cNvPr id="12" name="TextBox 11"/>
          <p:cNvSpPr txBox="1"/>
          <p:nvPr/>
        </p:nvSpPr>
        <p:spPr>
          <a:xfrm>
            <a:off x="644718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2025: Agentic Loops</a:t>
            </a:r>
          </a:p>
        </p:txBody>
      </p:sp>
      <p:sp>
        <p:nvSpPr>
          <p:cNvPr id="13" name="TextBox 12"/>
          <p:cNvSpPr txBox="1"/>
          <p:nvPr/>
        </p:nvSpPr>
        <p:spPr>
          <a:xfrm>
            <a:off x="6499324"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ReAct loops, basic multi-agent handoffs, and basic memory state.</a:t>
            </a:r>
          </a:p>
        </p:txBody>
      </p:sp>
      <p:sp>
        <p:nvSpPr>
          <p:cNvPr id="14" name="TextBox 13"/>
          <p:cNvSpPr txBox="1"/>
          <p:nvPr/>
        </p:nvSpPr>
        <p:spPr>
          <a:xfrm>
            <a:off x="9339660" y="2137767"/>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2026+: Harness Systems</a:t>
            </a:r>
          </a:p>
        </p:txBody>
      </p:sp>
      <p:sp>
        <p:nvSpPr>
          <p:cNvPr id="15" name="TextBox 14"/>
          <p:cNvSpPr txBox="1"/>
          <p:nvPr/>
        </p:nvSpPr>
        <p:spPr>
          <a:xfrm>
            <a:off x="9391798" y="2452092"/>
            <a:ext cx="2085528" cy="767357"/>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Complete execution envelopes: Micro-VM sandboxes, context compaction, deterministic feedback.</a:t>
            </a: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Evolution of Harness Engineering</a:t>
            </a:r>
          </a:p>
        </p:txBody>
      </p:sp>
      <p:sp>
        <p:nvSpPr>
          <p:cNvPr id="17" name="Rounded Rectangle 16"/>
          <p:cNvSpPr/>
          <p:nvPr/>
        </p:nvSpPr>
        <p:spPr>
          <a:xfrm>
            <a:off x="1661889"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5436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46838"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33931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1681162"/>
            <a:ext cx="5419725" cy="4143226"/>
          </a:xfrm>
          <a:prstGeom prst="rect">
            <a:avLst/>
          </a:prstGeom>
        </p:spPr>
      </p:pic>
      <p:pic>
        <p:nvPicPr>
          <p:cNvPr id="4" name="Picture 3" descr="image.png"/>
          <p:cNvPicPr>
            <a:picLocks noChangeAspect="1"/>
          </p:cNvPicPr>
          <p:nvPr/>
        </p:nvPicPr>
        <p:blipFill>
          <a:blip r:embed="rId4"/>
          <a:stretch>
            <a:fillRect/>
          </a:stretch>
        </p:blipFill>
        <p:spPr>
          <a:xfrm>
            <a:off x="6238875" y="1681162"/>
            <a:ext cx="5419725" cy="4143226"/>
          </a:xfrm>
          <a:prstGeom prst="rect">
            <a:avLst/>
          </a:prstGeom>
        </p:spPr>
      </p:pic>
      <p:pic>
        <p:nvPicPr>
          <p:cNvPr id="5" name="Picture 4" descr="image.png"/>
          <p:cNvPicPr>
            <a:picLocks noChangeAspect="1"/>
          </p:cNvPicPr>
          <p:nvPr/>
        </p:nvPicPr>
        <p:blipFill>
          <a:blip r:embed="rId5"/>
          <a:stretch>
            <a:fillRect/>
          </a:stretch>
        </p:blipFill>
        <p:spPr>
          <a:xfrm>
            <a:off x="781050" y="2167532"/>
            <a:ext cx="247650" cy="247650"/>
          </a:xfrm>
          <a:prstGeom prst="rect">
            <a:avLst/>
          </a:prstGeom>
        </p:spPr>
      </p:pic>
      <p:pic>
        <p:nvPicPr>
          <p:cNvPr id="6" name="Picture 5" descr="image.png"/>
          <p:cNvPicPr>
            <a:picLocks noChangeAspect="1"/>
          </p:cNvPicPr>
          <p:nvPr/>
        </p:nvPicPr>
        <p:blipFill>
          <a:blip r:embed="rId6"/>
          <a:stretch>
            <a:fillRect/>
          </a:stretch>
        </p:blipFill>
        <p:spPr>
          <a:xfrm>
            <a:off x="933450" y="2949326"/>
            <a:ext cx="114300" cy="152400"/>
          </a:xfrm>
          <a:prstGeom prst="rect">
            <a:avLst/>
          </a:prstGeom>
        </p:spPr>
      </p:pic>
      <p:pic>
        <p:nvPicPr>
          <p:cNvPr id="7" name="Picture 6" descr="image.png"/>
          <p:cNvPicPr>
            <a:picLocks noChangeAspect="1"/>
          </p:cNvPicPr>
          <p:nvPr/>
        </p:nvPicPr>
        <p:blipFill>
          <a:blip r:embed="rId7"/>
          <a:stretch>
            <a:fillRect/>
          </a:stretch>
        </p:blipFill>
        <p:spPr>
          <a:xfrm>
            <a:off x="933450" y="3875930"/>
            <a:ext cx="171450" cy="152400"/>
          </a:xfrm>
          <a:prstGeom prst="rect">
            <a:avLst/>
          </a:prstGeom>
        </p:spPr>
      </p:pic>
      <p:pic>
        <p:nvPicPr>
          <p:cNvPr id="8" name="Picture 7" descr="image.png"/>
          <p:cNvPicPr>
            <a:picLocks noChangeAspect="1"/>
          </p:cNvPicPr>
          <p:nvPr/>
        </p:nvPicPr>
        <p:blipFill>
          <a:blip r:embed="rId8"/>
          <a:stretch>
            <a:fillRect/>
          </a:stretch>
        </p:blipFill>
        <p:spPr>
          <a:xfrm>
            <a:off x="933450" y="4802534"/>
            <a:ext cx="190500" cy="152400"/>
          </a:xfrm>
          <a:prstGeom prst="rect">
            <a:avLst/>
          </a:prstGeom>
        </p:spPr>
      </p:pic>
      <p:pic>
        <p:nvPicPr>
          <p:cNvPr id="9" name="Picture 8" descr="image.png"/>
          <p:cNvPicPr>
            <a:picLocks noChangeAspect="1"/>
          </p:cNvPicPr>
          <p:nvPr/>
        </p:nvPicPr>
        <p:blipFill>
          <a:blip r:embed="rId9"/>
          <a:stretch>
            <a:fillRect/>
          </a:stretch>
        </p:blipFill>
        <p:spPr>
          <a:xfrm>
            <a:off x="6486525" y="2167532"/>
            <a:ext cx="247650" cy="247650"/>
          </a:xfrm>
          <a:prstGeom prst="rect">
            <a:avLst/>
          </a:prstGeom>
        </p:spPr>
      </p:pic>
      <p:pic>
        <p:nvPicPr>
          <p:cNvPr id="10" name="Picture 9" descr="image.png"/>
          <p:cNvPicPr>
            <a:picLocks noChangeAspect="1"/>
          </p:cNvPicPr>
          <p:nvPr/>
        </p:nvPicPr>
        <p:blipFill>
          <a:blip r:embed="rId10"/>
          <a:stretch>
            <a:fillRect/>
          </a:stretch>
        </p:blipFill>
        <p:spPr>
          <a:xfrm>
            <a:off x="6638925" y="2949326"/>
            <a:ext cx="133350" cy="152400"/>
          </a:xfrm>
          <a:prstGeom prst="rect">
            <a:avLst/>
          </a:prstGeom>
        </p:spPr>
      </p:pic>
      <p:pic>
        <p:nvPicPr>
          <p:cNvPr id="11" name="Picture 10" descr="image.png"/>
          <p:cNvPicPr>
            <a:picLocks noChangeAspect="1"/>
          </p:cNvPicPr>
          <p:nvPr/>
        </p:nvPicPr>
        <p:blipFill>
          <a:blip r:embed="rId11"/>
          <a:stretch>
            <a:fillRect/>
          </a:stretch>
        </p:blipFill>
        <p:spPr>
          <a:xfrm>
            <a:off x="6638925" y="3875930"/>
            <a:ext cx="152400" cy="152400"/>
          </a:xfrm>
          <a:prstGeom prst="rect">
            <a:avLst/>
          </a:prstGeom>
        </p:spPr>
      </p:pic>
      <p:pic>
        <p:nvPicPr>
          <p:cNvPr id="12" name="Picture 11" descr="image.png"/>
          <p:cNvPicPr>
            <a:picLocks noChangeAspect="1"/>
          </p:cNvPicPr>
          <p:nvPr/>
        </p:nvPicPr>
        <p:blipFill>
          <a:blip r:embed="rId12"/>
          <a:stretch>
            <a:fillRect/>
          </a:stretch>
        </p:blipFill>
        <p:spPr>
          <a:xfrm>
            <a:off x="6638925" y="4610695"/>
            <a:ext cx="190500" cy="152400"/>
          </a:xfrm>
          <a:prstGeom prst="rect">
            <a:avLst/>
          </a:prstGeom>
        </p:spPr>
      </p:pic>
      <p:sp>
        <p:nvSpPr>
          <p:cNvPr id="13" name="TextBox 12"/>
          <p:cNvSpPr txBox="1"/>
          <p:nvPr/>
        </p:nvSpPr>
        <p:spPr>
          <a:xfrm>
            <a:off x="1143000" y="1957387"/>
            <a:ext cx="3300412" cy="266700"/>
          </a:xfrm>
          <a:prstGeom prst="rect">
            <a:avLst/>
          </a:prstGeom>
          <a:noFill/>
        </p:spPr>
        <p:txBody>
          <a:bodyPr wrap="square" lIns="0" tIns="0" rIns="0" bIns="0" anchor="t">
            <a:spAutoFit/>
          </a:bodyPr>
          <a:lstStyle/>
          <a:p>
            <a:pPr algn="l"/>
            <a:r>
              <a:rPr sz="1650" b="0" i="0" u="none">
                <a:solidFill>
                  <a:srgbClr val="F8FAFC"/>
                </a:solidFill>
                <a:latin typeface="Plus Jakarta Sans SemiBold"/>
              </a:rPr>
              <a:t>PowerSpine: The Central Harness</a:t>
            </a:r>
          </a:p>
        </p:txBody>
      </p:sp>
      <p:sp>
        <p:nvSpPr>
          <p:cNvPr id="14" name="TextBox 13"/>
          <p:cNvSpPr txBox="1"/>
          <p:nvPr/>
        </p:nvSpPr>
        <p:spPr>
          <a:xfrm>
            <a:off x="1143000" y="2319337"/>
            <a:ext cx="3143250" cy="191839"/>
          </a:xfrm>
          <a:prstGeom prst="rect">
            <a:avLst/>
          </a:prstGeom>
          <a:noFill/>
        </p:spPr>
        <p:txBody>
          <a:bodyPr wrap="square" lIns="0" tIns="0" rIns="0" bIns="0" anchor="t">
            <a:spAutoFit/>
          </a:bodyPr>
          <a:lstStyle/>
          <a:p>
            <a:pPr algn="l">
              <a:lnSpc>
                <a:spcPts val="1511"/>
              </a:lnSpc>
            </a:pPr>
            <a:r>
              <a:rPr sz="975" b="0" i="0" u="none">
                <a:solidFill>
                  <a:srgbClr val="38BDF8"/>
                </a:solidFill>
                <a:latin typeface="Inter"/>
              </a:rPr>
              <a:t>One standard harness, built for every team to build on</a:t>
            </a:r>
          </a:p>
        </p:txBody>
      </p:sp>
      <p:sp>
        <p:nvSpPr>
          <p:cNvPr id="15" name="TextBox 14"/>
          <p:cNvSpPr txBox="1"/>
          <p:nvPr/>
        </p:nvSpPr>
        <p:spPr>
          <a:xfrm>
            <a:off x="1162050" y="2920751"/>
            <a:ext cx="4391025" cy="161925"/>
          </a:xfrm>
          <a:prstGeom prst="rect">
            <a:avLst/>
          </a:prstGeom>
          <a:noFill/>
        </p:spPr>
        <p:txBody>
          <a:bodyPr wrap="square" lIns="0" tIns="0" rIns="0" bIns="0" anchor="t">
            <a:spAutoFit/>
          </a:bodyPr>
          <a:lstStyle/>
          <a:p>
            <a:pPr algn="l"/>
            <a:r>
              <a:rPr sz="1050" b="1" i="0" u="none">
                <a:solidFill>
                  <a:srgbClr val="F8FAFC"/>
                </a:solidFill>
                <a:latin typeface="Inter"/>
              </a:rPr>
              <a:t>One Central Harness, Federated Edges</a:t>
            </a:r>
          </a:p>
        </p:txBody>
      </p:sp>
      <p:sp>
        <p:nvSpPr>
          <p:cNvPr id="16" name="TextBox 15"/>
          <p:cNvSpPr txBox="1"/>
          <p:nvPr/>
        </p:nvSpPr>
        <p:spPr>
          <a:xfrm>
            <a:off x="1162050" y="3101726"/>
            <a:ext cx="43910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PowerSpine sets the ISG-wide standard for Spec-Driven Development, while federated edges let every product and engineering team adapt and innovate within that framework.</a:t>
            </a:r>
          </a:p>
        </p:txBody>
      </p:sp>
      <p:sp>
        <p:nvSpPr>
          <p:cNvPr id="17" name="TextBox 16"/>
          <p:cNvSpPr txBox="1"/>
          <p:nvPr/>
        </p:nvSpPr>
        <p:spPr>
          <a:xfrm>
            <a:off x="1219200" y="3847355"/>
            <a:ext cx="4333875" cy="161925"/>
          </a:xfrm>
          <a:prstGeom prst="rect">
            <a:avLst/>
          </a:prstGeom>
          <a:noFill/>
        </p:spPr>
        <p:txBody>
          <a:bodyPr wrap="square" lIns="0" tIns="0" rIns="0" bIns="0" anchor="t">
            <a:spAutoFit/>
          </a:bodyPr>
          <a:lstStyle/>
          <a:p>
            <a:pPr algn="l"/>
            <a:r>
              <a:rPr sz="1050" b="1" i="0" u="none">
                <a:solidFill>
                  <a:srgbClr val="F8FAFC"/>
                </a:solidFill>
                <a:latin typeface="Inter"/>
              </a:rPr>
              <a:t>/spine Central: Unified Portal</a:t>
            </a:r>
          </a:p>
        </p:txBody>
      </p:sp>
      <p:sp>
        <p:nvSpPr>
          <p:cNvPr id="18" name="TextBox 17"/>
          <p:cNvSpPr txBox="1"/>
          <p:nvPr/>
        </p:nvSpPr>
        <p:spPr>
          <a:xfrm>
            <a:off x="1219200" y="4028330"/>
            <a:ext cx="43338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Launched today — one portal for spec management, observability, and pipeline status across ISG. Live for R&amp;D now; explore it and share feedback.</a:t>
            </a:r>
          </a:p>
        </p:txBody>
      </p:sp>
      <p:sp>
        <p:nvSpPr>
          <p:cNvPr id="19" name="TextBox 18"/>
          <p:cNvSpPr txBox="1"/>
          <p:nvPr/>
        </p:nvSpPr>
        <p:spPr>
          <a:xfrm>
            <a:off x="1238250" y="4773959"/>
            <a:ext cx="4314825" cy="161925"/>
          </a:xfrm>
          <a:prstGeom prst="rect">
            <a:avLst/>
          </a:prstGeom>
          <a:noFill/>
        </p:spPr>
        <p:txBody>
          <a:bodyPr wrap="square" lIns="0" tIns="0" rIns="0" bIns="0" anchor="t">
            <a:spAutoFit/>
          </a:bodyPr>
          <a:lstStyle/>
          <a:p>
            <a:pPr algn="l"/>
            <a:r>
              <a:rPr sz="1050" b="1" i="0" u="none">
                <a:solidFill>
                  <a:srgbClr val="F8FAFC"/>
                </a:solidFill>
                <a:latin typeface="Inter"/>
              </a:rPr>
              <a:t>Onboarding Across ISG</a:t>
            </a:r>
          </a:p>
        </p:txBody>
      </p:sp>
      <p:sp>
        <p:nvSpPr>
          <p:cNvPr id="20" name="TextBox 19"/>
          <p:cNvSpPr txBox="1"/>
          <p:nvPr/>
        </p:nvSpPr>
        <p:spPr>
          <a:xfrm>
            <a:off x="1238250" y="4954934"/>
            <a:ext cx="43148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More teams and products join over the coming weeks, extending consistent visibility across the full Spec-Driven Development lifecycle.</a:t>
            </a:r>
          </a:p>
        </p:txBody>
      </p:sp>
      <p:sp>
        <p:nvSpPr>
          <p:cNvPr id="21" name="TextBox 20"/>
          <p:cNvSpPr txBox="1"/>
          <p:nvPr/>
        </p:nvSpPr>
        <p:spPr>
          <a:xfrm>
            <a:off x="6848475" y="1957387"/>
            <a:ext cx="3060382" cy="266700"/>
          </a:xfrm>
          <a:prstGeom prst="rect">
            <a:avLst/>
          </a:prstGeom>
          <a:noFill/>
        </p:spPr>
        <p:txBody>
          <a:bodyPr wrap="square" lIns="0" tIns="0" rIns="0" bIns="0" anchor="t">
            <a:spAutoFit/>
          </a:bodyPr>
          <a:lstStyle/>
          <a:p>
            <a:pPr algn="l"/>
            <a:r>
              <a:rPr sz="1650" b="0" i="0" u="none">
                <a:solidFill>
                  <a:srgbClr val="F8FAFC"/>
                </a:solidFill>
                <a:latin typeface="Plus Jakarta Sans SemiBold"/>
              </a:rPr>
              <a:t>The Operating Model Behind It</a:t>
            </a:r>
          </a:p>
        </p:txBody>
      </p:sp>
      <p:sp>
        <p:nvSpPr>
          <p:cNvPr id="22" name="TextBox 21"/>
          <p:cNvSpPr txBox="1"/>
          <p:nvPr/>
        </p:nvSpPr>
        <p:spPr>
          <a:xfrm>
            <a:off x="6848475" y="2319337"/>
            <a:ext cx="2914650" cy="191839"/>
          </a:xfrm>
          <a:prstGeom prst="rect">
            <a:avLst/>
          </a:prstGeom>
          <a:noFill/>
        </p:spPr>
        <p:txBody>
          <a:bodyPr wrap="square" lIns="0" tIns="0" rIns="0" bIns="0" anchor="t">
            <a:spAutoFit/>
          </a:bodyPr>
          <a:lstStyle/>
          <a:p>
            <a:pPr algn="l">
              <a:lnSpc>
                <a:spcPts val="1511"/>
              </a:lnSpc>
            </a:pPr>
            <a:r>
              <a:rPr sz="975" b="0" i="0" u="none">
                <a:solidFill>
                  <a:srgbClr val="818CF8"/>
                </a:solidFill>
                <a:latin typeface="Inter"/>
              </a:rPr>
              <a:t>Built to scale responsibly across ISG</a:t>
            </a:r>
          </a:p>
        </p:txBody>
      </p:sp>
      <p:sp>
        <p:nvSpPr>
          <p:cNvPr id="23" name="TextBox 22"/>
          <p:cNvSpPr txBox="1"/>
          <p:nvPr/>
        </p:nvSpPr>
        <p:spPr>
          <a:xfrm>
            <a:off x="6886575" y="2920751"/>
            <a:ext cx="4371975" cy="161925"/>
          </a:xfrm>
          <a:prstGeom prst="rect">
            <a:avLst/>
          </a:prstGeom>
          <a:noFill/>
        </p:spPr>
        <p:txBody>
          <a:bodyPr wrap="square" lIns="0" tIns="0" rIns="0" bIns="0" anchor="t">
            <a:spAutoFit/>
          </a:bodyPr>
          <a:lstStyle/>
          <a:p>
            <a:pPr algn="l"/>
            <a:r>
              <a:rPr sz="1050" b="1" i="0" u="none">
                <a:solidFill>
                  <a:srgbClr val="F8FAFC"/>
                </a:solidFill>
                <a:latin typeface="Inter"/>
              </a:rPr>
              <a:t>Centralized + Embedded Agent Ops</a:t>
            </a:r>
          </a:p>
        </p:txBody>
      </p:sp>
      <p:sp>
        <p:nvSpPr>
          <p:cNvPr id="24" name="TextBox 23"/>
          <p:cNvSpPr txBox="1"/>
          <p:nvPr/>
        </p:nvSpPr>
        <p:spPr>
          <a:xfrm>
            <a:off x="6886575" y="3101726"/>
            <a:ext cx="43719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A new centralized Agent Ops team is complemented by Agent Ops teams embedded directly in product and engineering.</a:t>
            </a:r>
          </a:p>
        </p:txBody>
      </p:sp>
      <p:sp>
        <p:nvSpPr>
          <p:cNvPr id="25" name="TextBox 24"/>
          <p:cNvSpPr txBox="1"/>
          <p:nvPr/>
        </p:nvSpPr>
        <p:spPr>
          <a:xfrm>
            <a:off x="6905625" y="3847355"/>
            <a:ext cx="4343400" cy="161925"/>
          </a:xfrm>
          <a:prstGeom prst="rect">
            <a:avLst/>
          </a:prstGeom>
          <a:noFill/>
        </p:spPr>
        <p:txBody>
          <a:bodyPr wrap="square" lIns="0" tIns="0" rIns="0" bIns="0" anchor="t">
            <a:spAutoFit/>
          </a:bodyPr>
          <a:lstStyle/>
          <a:p>
            <a:pPr algn="l"/>
            <a:r>
              <a:rPr sz="1050" b="1" i="0" u="none">
                <a:solidFill>
                  <a:srgbClr val="F8FAFC"/>
                </a:solidFill>
                <a:latin typeface="Inter"/>
              </a:rPr>
              <a:t>Data Strategy &amp; Governance</a:t>
            </a:r>
          </a:p>
        </p:txBody>
      </p:sp>
      <p:sp>
        <p:nvSpPr>
          <p:cNvPr id="26" name="TextBox 25"/>
          <p:cNvSpPr txBox="1"/>
          <p:nvPr/>
        </p:nvSpPr>
        <p:spPr>
          <a:xfrm>
            <a:off x="6905625" y="4028330"/>
            <a:ext cx="4343400" cy="191839"/>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More structure is forming around data strategy and governance as these teams stand up — creating new opportunities across ISG.</a:t>
            </a:r>
          </a:p>
        </p:txBody>
      </p:sp>
      <p:sp>
        <p:nvSpPr>
          <p:cNvPr id="27" name="TextBox 26"/>
          <p:cNvSpPr txBox="1"/>
          <p:nvPr/>
        </p:nvSpPr>
        <p:spPr>
          <a:xfrm>
            <a:off x="6943725" y="4582120"/>
            <a:ext cx="4314825" cy="161925"/>
          </a:xfrm>
          <a:prstGeom prst="rect">
            <a:avLst/>
          </a:prstGeom>
          <a:noFill/>
        </p:spPr>
        <p:txBody>
          <a:bodyPr wrap="square" lIns="0" tIns="0" rIns="0" bIns="0" anchor="t">
            <a:spAutoFit/>
          </a:bodyPr>
          <a:lstStyle/>
          <a:p>
            <a:pPr algn="l"/>
            <a:r>
              <a:rPr sz="1050" b="1" i="0" u="none">
                <a:solidFill>
                  <a:srgbClr val="F8FAFC"/>
                </a:solidFill>
                <a:latin typeface="Inter"/>
              </a:rPr>
              <a:t>Speed AND Quality, Not a Trade-off</a:t>
            </a:r>
          </a:p>
        </p:txBody>
      </p:sp>
      <p:sp>
        <p:nvSpPr>
          <p:cNvPr id="28" name="TextBox 27"/>
          <p:cNvSpPr txBox="1"/>
          <p:nvPr/>
        </p:nvSpPr>
        <p:spPr>
          <a:xfrm>
            <a:off x="6943725" y="4763095"/>
            <a:ext cx="43148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Moving the quality gate upstream means fewer surprises mid-flight — this transformation asks us to achieve both, not choose.</a:t>
            </a:r>
          </a:p>
        </p:txBody>
      </p:sp>
      <p:sp>
        <p:nvSpPr>
          <p:cNvPr id="29" name="TextBox 28"/>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PowerSpine: One AI Development Approach for ISG</a:t>
            </a:r>
          </a:p>
        </p:txBody>
      </p:sp>
      <p:sp>
        <p:nvSpPr>
          <p:cNvPr id="30" name="TextBox 29"/>
          <p:cNvSpPr txBox="1"/>
          <p:nvPr/>
        </p:nvSpPr>
        <p:spPr>
          <a:xfrm>
            <a:off x="533400" y="1450000"/>
            <a:ext cx="11658600" cy="300000"/>
          </a:xfrm>
          <a:prstGeom prst="rect">
            <a:avLst/>
          </a:prstGeom>
          <a:noFill/>
        </p:spPr>
        <p:txBody>
          <a:bodyPr wrap="square">
            <a:spAutoFit/>
          </a:bodyPr>
          <a:lstStyle/>
          <a:p>
            <a:r>
              <a:rPr sz="1200">
                <a:solidFill>
                  <a:srgbClr val="94A3B8"/>
                </a:solidFill>
                <a:latin typeface="Inter"/>
              </a:rPr>
              <a:t>A message from Arthur Lewis — unifying Spec-Driven Development across ISG with one central harness and federated edges.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3733800"/>
            <a:ext cx="11125200" cy="38100"/>
          </a:xfrm>
          <a:prstGeom prst="rect">
            <a:avLst/>
          </a:prstGeom>
        </p:spPr>
      </p:pic>
      <p:pic>
        <p:nvPicPr>
          <p:cNvPr id="4" name="Picture 3" descr="image.png"/>
          <p:cNvPicPr>
            <a:picLocks noChangeAspect="1"/>
          </p:cNvPicPr>
          <p:nvPr/>
        </p:nvPicPr>
        <p:blipFill>
          <a:blip r:embed="rId4"/>
          <a:stretch>
            <a:fillRect/>
          </a:stretch>
        </p:blipFill>
        <p:spPr>
          <a:xfrm>
            <a:off x="533400" y="3990975"/>
            <a:ext cx="2447478" cy="1174253"/>
          </a:xfrm>
          <a:prstGeom prst="rect">
            <a:avLst/>
          </a:prstGeom>
        </p:spPr>
      </p:pic>
      <p:pic>
        <p:nvPicPr>
          <p:cNvPr id="5" name="Picture 4" descr="image.png"/>
          <p:cNvPicPr>
            <a:picLocks noChangeAspect="1"/>
          </p:cNvPicPr>
          <p:nvPr/>
        </p:nvPicPr>
        <p:blipFill>
          <a:blip r:embed="rId5"/>
          <a:stretch>
            <a:fillRect/>
          </a:stretch>
        </p:blipFill>
        <p:spPr>
          <a:xfrm>
            <a:off x="3425874" y="2340471"/>
            <a:ext cx="2447478" cy="1174253"/>
          </a:xfrm>
          <a:prstGeom prst="rect">
            <a:avLst/>
          </a:prstGeom>
        </p:spPr>
      </p:pic>
      <p:pic>
        <p:nvPicPr>
          <p:cNvPr id="6" name="Picture 5" descr="image.png"/>
          <p:cNvPicPr>
            <a:picLocks noChangeAspect="1"/>
          </p:cNvPicPr>
          <p:nvPr/>
        </p:nvPicPr>
        <p:blipFill>
          <a:blip r:embed="rId6"/>
          <a:stretch>
            <a:fillRect/>
          </a:stretch>
        </p:blipFill>
        <p:spPr>
          <a:xfrm>
            <a:off x="6318349" y="3990975"/>
            <a:ext cx="2447478" cy="1174253"/>
          </a:xfrm>
          <a:prstGeom prst="rect">
            <a:avLst/>
          </a:prstGeom>
        </p:spPr>
      </p:pic>
      <p:pic>
        <p:nvPicPr>
          <p:cNvPr id="7" name="Picture 6" descr="image.png"/>
          <p:cNvPicPr>
            <a:picLocks noChangeAspect="1"/>
          </p:cNvPicPr>
          <p:nvPr/>
        </p:nvPicPr>
        <p:blipFill>
          <a:blip r:embed="rId7"/>
          <a:stretch>
            <a:fillRect/>
          </a:stretch>
        </p:blipFill>
        <p:spPr>
          <a:xfrm>
            <a:off x="9210823" y="1956792"/>
            <a:ext cx="2447478" cy="1557932"/>
          </a:xfrm>
          <a:prstGeom prst="rect">
            <a:avLst/>
          </a:prstGeom>
        </p:spPr>
      </p:pic>
      <p:sp>
        <p:nvSpPr>
          <p:cNvPr id="8" name="TextBox 7"/>
          <p:cNvSpPr txBox="1"/>
          <p:nvPr/>
        </p:nvSpPr>
        <p:spPr>
          <a:xfrm>
            <a:off x="662236" y="4126234"/>
            <a:ext cx="2189804" cy="219075"/>
          </a:xfrm>
          <a:prstGeom prst="rect">
            <a:avLst/>
          </a:prstGeom>
          <a:noFill/>
        </p:spPr>
        <p:txBody>
          <a:bodyPr wrap="square" lIns="0" tIns="0" rIns="0" bIns="0" anchor="t">
            <a:spAutoFit/>
          </a:bodyPr>
          <a:lstStyle/>
          <a:p>
            <a:pPr algn="ctr"/>
            <a:r>
              <a:rPr sz="1350" b="0" i="0" u="none" dirty="0">
                <a:solidFill>
                  <a:srgbClr val="38BDF8"/>
                </a:solidFill>
                <a:latin typeface="Plus Jakarta Sans SemiBold"/>
              </a:rPr>
              <a:t>DPC Pod: 101 Features / 8 Weeks</a:t>
            </a:r>
          </a:p>
        </p:txBody>
      </p:sp>
      <p:sp>
        <p:nvSpPr>
          <p:cNvPr id="9" name="TextBox 8"/>
          <p:cNvSpPr txBox="1"/>
          <p:nvPr/>
        </p:nvSpPr>
        <p:spPr>
          <a:xfrm>
            <a:off x="714375"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A five-person DPC pod shipped the first ISG release built entirely on Spec-Driven Development.</a:t>
            </a:r>
          </a:p>
        </p:txBody>
      </p:sp>
      <p:sp>
        <p:nvSpPr>
          <p:cNvPr id="10" name="TextBox 9"/>
          <p:cNvSpPr txBox="1"/>
          <p:nvPr/>
        </p:nvSpPr>
        <p:spPr>
          <a:xfrm>
            <a:off x="3554711" y="2521446"/>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Polaris: 20 → 10 Months</a:t>
            </a:r>
          </a:p>
        </p:txBody>
      </p:sp>
      <p:sp>
        <p:nvSpPr>
          <p:cNvPr id="11" name="TextBox 10"/>
          <p:cNvSpPr txBox="1"/>
          <p:nvPr/>
        </p:nvSpPr>
        <p:spPr>
          <a:xfrm>
            <a:off x="3606849" y="2835771"/>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The Polaris team cut its delivery timeline in half by moving the quality gate upstream.</a:t>
            </a:r>
          </a:p>
        </p:txBody>
      </p:sp>
      <p:sp>
        <p:nvSpPr>
          <p:cNvPr id="12" name="TextBox 11"/>
          <p:cNvSpPr txBox="1"/>
          <p:nvPr/>
        </p:nvSpPr>
        <p:spPr>
          <a:xfrm>
            <a:off x="644718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UDS: +80% Contributions</a:t>
            </a:r>
          </a:p>
        </p:txBody>
      </p:sp>
      <p:sp>
        <p:nvSpPr>
          <p:cNvPr id="13" name="TextBox 12"/>
          <p:cNvSpPr txBox="1"/>
          <p:nvPr/>
        </p:nvSpPr>
        <p:spPr>
          <a:xfrm>
            <a:off x="6499324"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The UDS team saw an 80% increase in contributions under Spec-Driven Development.</a:t>
            </a:r>
          </a:p>
        </p:txBody>
      </p:sp>
      <p:sp>
        <p:nvSpPr>
          <p:cNvPr id="14" name="TextBox 13"/>
          <p:cNvSpPr txBox="1"/>
          <p:nvPr/>
        </p:nvSpPr>
        <p:spPr>
          <a:xfrm>
            <a:off x="9339660" y="2137767"/>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UDS: 7x Faster Delivery</a:t>
            </a:r>
          </a:p>
        </p:txBody>
      </p:sp>
      <p:sp>
        <p:nvSpPr>
          <p:cNvPr id="15" name="TextBox 14"/>
          <p:cNvSpPr txBox="1"/>
          <p:nvPr/>
        </p:nvSpPr>
        <p:spPr>
          <a:xfrm>
            <a:off x="9391798" y="2452092"/>
            <a:ext cx="2085528" cy="767357"/>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UDS is shipping net-new features 7x faster — with fewer defects at release.</a:t>
            </a: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Why It Matters: Early Results Across ISG</a:t>
            </a:r>
          </a:p>
        </p:txBody>
      </p:sp>
      <p:sp>
        <p:nvSpPr>
          <p:cNvPr id="17" name="Rounded Rectangle 16"/>
          <p:cNvSpPr/>
          <p:nvPr/>
        </p:nvSpPr>
        <p:spPr>
          <a:xfrm>
            <a:off x="1661889"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5436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46838"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33931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3400" y="1450000"/>
            <a:ext cx="11658600" cy="300000"/>
          </a:xfrm>
          <a:prstGeom prst="rect">
            <a:avLst/>
          </a:prstGeom>
          <a:noFill/>
        </p:spPr>
        <p:txBody>
          <a:bodyPr wrap="square">
            <a:spAutoFit/>
          </a:bodyPr>
          <a:lstStyle/>
          <a:p>
            <a:r>
              <a:rPr sz="1200">
                <a:solidFill>
                  <a:srgbClr val="94A3B8"/>
                </a:solidFill>
                <a:latin typeface="Inter"/>
              </a:rPr>
              <a:t>Real outcomes from teams already building on Spec-Driven Development</a:t>
            </a:r>
          </a:p>
        </p:txBody>
      </p:sp>
      <p:sp>
        <p:nvSpPr>
          <p:cNvPr id="22" name="TextBox 21"/>
          <p:cNvSpPr txBox="1"/>
          <p:nvPr/>
        </p:nvSpPr>
        <p:spPr>
          <a:xfrm>
            <a:off x="533400" y="5550000"/>
            <a:ext cx="11125200" cy="324742"/>
          </a:xfrm>
          <a:prstGeom prst="rect">
            <a:avLst/>
          </a:prstGeom>
          <a:noFill/>
        </p:spPr>
        <p:txBody>
          <a:bodyPr wrap="square">
            <a:spAutoFit/>
          </a:bodyPr>
          <a:lstStyle/>
          <a:p>
            <a:r>
              <a:rPr sz="1650">
                <a:solidFill>
                  <a:srgbClr val="CBD5E1"/>
                </a:solidFill>
                <a:latin typeface="Inter"/>
              </a:rPr>
              <a:t>“This transformation doesn’t ask us to trade speed for quality and security. It asks us to achieve both.”</a:t>
            </a:r>
          </a:p>
        </p:txBody>
      </p:sp>
      <p:sp>
        <p:nvSpPr>
          <p:cNvPr id="23" name="TextBox 22"/>
          <p:cNvSpPr txBox="1"/>
          <p:nvPr/>
        </p:nvSpPr>
        <p:spPr>
          <a:xfrm>
            <a:off x="533400" y="6000000"/>
            <a:ext cx="11125200" cy="190500"/>
          </a:xfrm>
          <a:prstGeom prst="rect">
            <a:avLst/>
          </a:prstGeom>
          <a:noFill/>
        </p:spPr>
        <p:txBody>
          <a:bodyPr wrap="square">
            <a:spAutoFit/>
          </a:bodyPr>
          <a:lstStyle/>
          <a:p>
            <a:r>
              <a:rPr sz="1275">
                <a:solidFill>
                  <a:srgbClr val="94A3B8"/>
                </a:solidFill>
                <a:latin typeface="Inter"/>
              </a:rPr>
              <a:t>— Arthur Lewis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409575"/>
          </a:xfrm>
          <a:prstGeom prst="rect">
            <a:avLst/>
          </a:prstGeom>
          <a:noFill/>
        </p:spPr>
        <p:txBody>
          <a:bodyPr wrap="square">
            <a:spAutoFit/>
          </a:bodyPr>
          <a:lstStyle/>
          <a:p>
            <a:r>
              <a:rPr sz="2550" b="1">
                <a:solidFill>
                  <a:srgbClr val="F8FAFC"/>
                </a:solidFill>
                <a:latin typeface="Plus Jakarta Sans"/>
              </a:rPr>
              <a:t>Why These Comparisons Matter</a:t>
            </a:r>
          </a:p>
        </p:txBody>
      </p:sp>
      <p:sp>
        <p:nvSpPr>
          <p:cNvPr id="4" name="TextBox 3"/>
          <p:cNvSpPr txBox="1"/>
          <p:nvPr/>
        </p:nvSpPr>
        <p:spPr>
          <a:xfrm>
            <a:off x="533400" y="1150000"/>
            <a:ext cx="11125200" cy="500000"/>
          </a:xfrm>
          <a:prstGeom prst="rect">
            <a:avLst/>
          </a:prstGeom>
          <a:noFill/>
        </p:spPr>
        <p:txBody>
          <a:bodyPr wrap="square">
            <a:spAutoFit/>
          </a:bodyPr>
          <a:lstStyle/>
          <a:p>
            <a:r>
              <a:rPr sz="1300" b="0">
                <a:solidFill>
                  <a:srgbClr val="94A3B8"/>
                </a:solidFill>
                <a:latin typeface="Inter"/>
              </a:rPr>
              <a:t>A harness is a set of controls layered around a model. The next few slides walk through the two families of controls that make those layers concrete — and why both are necessary, not optional.</a:t>
            </a:r>
          </a:p>
        </p:txBody>
      </p:sp>
      <p:sp>
        <p:nvSpPr>
          <p:cNvPr id="5" name="TextBox 4"/>
          <p:cNvSpPr txBox="1"/>
          <p:nvPr/>
        </p:nvSpPr>
        <p:spPr>
          <a:xfrm>
            <a:off x="1266775" y="2700000"/>
            <a:ext cx="4400000" cy="280000"/>
          </a:xfrm>
          <a:prstGeom prst="rect">
            <a:avLst/>
          </a:prstGeom>
          <a:noFill/>
        </p:spPr>
        <p:txBody>
          <a:bodyPr wrap="square">
            <a:spAutoFit/>
          </a:bodyPr>
          <a:lstStyle/>
          <a:p>
            <a:r>
              <a:rPr sz="1550" b="1">
                <a:solidFill>
                  <a:srgbClr val="38BDF8"/>
                </a:solidFill>
                <a:latin typeface="Plus Jakarta Sans"/>
              </a:rPr>
              <a:t>Computational Controls</a:t>
            </a:r>
          </a:p>
        </p:txBody>
      </p:sp>
      <p:sp>
        <p:nvSpPr>
          <p:cNvPr id="6" name="TextBox 5"/>
          <p:cNvSpPr txBox="1"/>
          <p:nvPr/>
        </p:nvSpPr>
        <p:spPr>
          <a:xfrm>
            <a:off x="1266775" y="3050000"/>
            <a:ext cx="4400000" cy="900000"/>
          </a:xfrm>
          <a:prstGeom prst="rect">
            <a:avLst/>
          </a:prstGeom>
          <a:noFill/>
        </p:spPr>
        <p:txBody>
          <a:bodyPr wrap="square">
            <a:spAutoFit/>
          </a:bodyPr>
          <a:lstStyle/>
          <a:p>
            <a:r>
              <a:rPr sz="1250" b="0">
                <a:solidFill>
                  <a:srgbClr val="CBD5E1"/>
                </a:solidFill>
                <a:latin typeface="Inter"/>
              </a:rPr>
              <a:t>Feedforward vs. Feedback: whether the harness steers behavior before the model acts, or evaluates and corrects it after — and why real harnesses need both.</a:t>
            </a:r>
          </a:p>
        </p:txBody>
      </p:sp>
      <p:sp>
        <p:nvSpPr>
          <p:cNvPr id="7" name="TextBox 6"/>
          <p:cNvSpPr txBox="1"/>
          <p:nvPr/>
        </p:nvSpPr>
        <p:spPr>
          <a:xfrm>
            <a:off x="6886525" y="2700000"/>
            <a:ext cx="4400000" cy="280000"/>
          </a:xfrm>
          <a:prstGeom prst="rect">
            <a:avLst/>
          </a:prstGeom>
          <a:noFill/>
        </p:spPr>
        <p:txBody>
          <a:bodyPr wrap="square">
            <a:spAutoFit/>
          </a:bodyPr>
          <a:lstStyle/>
          <a:p>
            <a:r>
              <a:rPr sz="1550" b="1">
                <a:solidFill>
                  <a:srgbClr val="818CF6"/>
                </a:solidFill>
                <a:latin typeface="Plus Jakarta Sans"/>
              </a:rPr>
              <a:t>Memory Controls</a:t>
            </a:r>
          </a:p>
        </p:txBody>
      </p:sp>
      <p:sp>
        <p:nvSpPr>
          <p:cNvPr id="8" name="TextBox 7"/>
          <p:cNvSpPr txBox="1"/>
          <p:nvPr/>
        </p:nvSpPr>
        <p:spPr>
          <a:xfrm>
            <a:off x="6886525" y="3050000"/>
            <a:ext cx="4400000" cy="900000"/>
          </a:xfrm>
          <a:prstGeom prst="rect">
            <a:avLst/>
          </a:prstGeom>
          <a:noFill/>
        </p:spPr>
        <p:txBody>
          <a:bodyPr wrap="square">
            <a:spAutoFit/>
          </a:bodyPr>
          <a:lstStyle/>
          <a:p>
            <a:r>
              <a:rPr sz="1250" b="0">
                <a:solidFill>
                  <a:srgbClr val="CBD5E1"/>
                </a:solidFill>
                <a:latin typeface="Inter"/>
              </a:rPr>
              <a:t>Context Compaction vs. Tool Offloading: how a harness manages a model's limited attention budget over a long-running task, instead of letting context rot.</a:t>
            </a:r>
          </a:p>
        </p:txBody>
      </p:sp>
      <p:sp>
        <p:nvSpPr>
          <p:cNvPr id="9" name="TextBox 8"/>
          <p:cNvSpPr txBox="1"/>
          <p:nvPr/>
        </p:nvSpPr>
        <p:spPr>
          <a:xfrm>
            <a:off x="533400" y="4600000"/>
            <a:ext cx="11125200" cy="400000"/>
          </a:xfrm>
          <a:prstGeom prst="rect">
            <a:avLst/>
          </a:prstGeom>
          <a:noFill/>
        </p:spPr>
        <p:txBody>
          <a:bodyPr wrap="square">
            <a:spAutoFit/>
          </a:bodyPr>
          <a:lstStyle/>
          <a:p>
            <a:r>
              <a:rPr sz="1300" b="0">
                <a:solidFill>
                  <a:srgbClr val="F8FAFC"/>
                </a:solidFill>
                <a:latin typeface="Inter"/>
              </a:rPr>
              <a:t>Together, these four mechanisms are what separate a harness that merely runs from one you can trust.</a:t>
            </a:r>
          </a:p>
        </p:txBody>
      </p:sp>
      <p:pic>
        <p:nvPicPr>
          <p:cNvPr id="10" name="Picture 9" descr="image.png"/>
          <p:cNvPicPr>
            <a:picLocks noChangeAspect="1"/>
          </p:cNvPicPr>
          <p:nvPr/>
        </p:nvPicPr>
        <p:blipFill>
          <a:blip r:embed="rId3"/>
          <a:stretch>
            <a:fillRect/>
          </a:stretch>
        </p:blipFill>
        <p:spPr>
          <a:xfrm>
            <a:off x="866775" y="2680000"/>
            <a:ext cx="392308" cy="300000"/>
          </a:xfrm>
          <a:prstGeom prst="rect">
            <a:avLst/>
          </a:prstGeom>
        </p:spPr>
      </p:pic>
      <p:pic>
        <p:nvPicPr>
          <p:cNvPr id="11" name="Picture 10" descr="image.png"/>
          <p:cNvPicPr>
            <a:picLocks noChangeAspect="1"/>
          </p:cNvPicPr>
          <p:nvPr/>
        </p:nvPicPr>
        <p:blipFill>
          <a:blip r:embed="rId4"/>
          <a:stretch>
            <a:fillRect/>
          </a:stretch>
        </p:blipFill>
        <p:spPr>
          <a:xfrm>
            <a:off x="5112765" y="2731516"/>
            <a:ext cx="3026087" cy="30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1681162"/>
            <a:ext cx="5419725" cy="4143226"/>
          </a:xfrm>
          <a:prstGeom prst="rect">
            <a:avLst/>
          </a:prstGeom>
        </p:spPr>
      </p:pic>
      <p:pic>
        <p:nvPicPr>
          <p:cNvPr id="4" name="Picture 3" descr="image.png"/>
          <p:cNvPicPr>
            <a:picLocks noChangeAspect="1"/>
          </p:cNvPicPr>
          <p:nvPr/>
        </p:nvPicPr>
        <p:blipFill>
          <a:blip r:embed="rId4"/>
          <a:stretch>
            <a:fillRect/>
          </a:stretch>
        </p:blipFill>
        <p:spPr>
          <a:xfrm>
            <a:off x="6238875" y="1681162"/>
            <a:ext cx="5419725" cy="4143226"/>
          </a:xfrm>
          <a:prstGeom prst="rect">
            <a:avLst/>
          </a:prstGeom>
        </p:spPr>
      </p:pic>
      <p:pic>
        <p:nvPicPr>
          <p:cNvPr id="5" name="Picture 4" descr="image.png"/>
          <p:cNvPicPr>
            <a:picLocks noChangeAspect="1"/>
          </p:cNvPicPr>
          <p:nvPr/>
        </p:nvPicPr>
        <p:blipFill>
          <a:blip r:embed="rId5"/>
          <a:stretch>
            <a:fillRect/>
          </a:stretch>
        </p:blipFill>
        <p:spPr>
          <a:xfrm>
            <a:off x="781050" y="2167532"/>
            <a:ext cx="247650" cy="247650"/>
          </a:xfrm>
          <a:prstGeom prst="rect">
            <a:avLst/>
          </a:prstGeom>
        </p:spPr>
      </p:pic>
      <p:pic>
        <p:nvPicPr>
          <p:cNvPr id="6" name="Picture 5" descr="image.png"/>
          <p:cNvPicPr>
            <a:picLocks noChangeAspect="1"/>
          </p:cNvPicPr>
          <p:nvPr/>
        </p:nvPicPr>
        <p:blipFill>
          <a:blip r:embed="rId6"/>
          <a:stretch>
            <a:fillRect/>
          </a:stretch>
        </p:blipFill>
        <p:spPr>
          <a:xfrm>
            <a:off x="933450" y="2949326"/>
            <a:ext cx="114300" cy="152400"/>
          </a:xfrm>
          <a:prstGeom prst="rect">
            <a:avLst/>
          </a:prstGeom>
        </p:spPr>
      </p:pic>
      <p:pic>
        <p:nvPicPr>
          <p:cNvPr id="7" name="Picture 6" descr="image.png"/>
          <p:cNvPicPr>
            <a:picLocks noChangeAspect="1"/>
          </p:cNvPicPr>
          <p:nvPr/>
        </p:nvPicPr>
        <p:blipFill>
          <a:blip r:embed="rId7"/>
          <a:stretch>
            <a:fillRect/>
          </a:stretch>
        </p:blipFill>
        <p:spPr>
          <a:xfrm>
            <a:off x="933450" y="3875930"/>
            <a:ext cx="171450" cy="152400"/>
          </a:xfrm>
          <a:prstGeom prst="rect">
            <a:avLst/>
          </a:prstGeom>
        </p:spPr>
      </p:pic>
      <p:pic>
        <p:nvPicPr>
          <p:cNvPr id="8" name="Picture 7" descr="image.png"/>
          <p:cNvPicPr>
            <a:picLocks noChangeAspect="1"/>
          </p:cNvPicPr>
          <p:nvPr/>
        </p:nvPicPr>
        <p:blipFill>
          <a:blip r:embed="rId8"/>
          <a:stretch>
            <a:fillRect/>
          </a:stretch>
        </p:blipFill>
        <p:spPr>
          <a:xfrm>
            <a:off x="933450" y="4802534"/>
            <a:ext cx="190500" cy="152400"/>
          </a:xfrm>
          <a:prstGeom prst="rect">
            <a:avLst/>
          </a:prstGeom>
        </p:spPr>
      </p:pic>
      <p:pic>
        <p:nvPicPr>
          <p:cNvPr id="9" name="Picture 8" descr="image.png"/>
          <p:cNvPicPr>
            <a:picLocks noChangeAspect="1"/>
          </p:cNvPicPr>
          <p:nvPr/>
        </p:nvPicPr>
        <p:blipFill>
          <a:blip r:embed="rId9"/>
          <a:stretch>
            <a:fillRect/>
          </a:stretch>
        </p:blipFill>
        <p:spPr>
          <a:xfrm>
            <a:off x="6486525" y="2167532"/>
            <a:ext cx="247650" cy="247650"/>
          </a:xfrm>
          <a:prstGeom prst="rect">
            <a:avLst/>
          </a:prstGeom>
        </p:spPr>
      </p:pic>
      <p:pic>
        <p:nvPicPr>
          <p:cNvPr id="10" name="Picture 9" descr="image.png"/>
          <p:cNvPicPr>
            <a:picLocks noChangeAspect="1"/>
          </p:cNvPicPr>
          <p:nvPr/>
        </p:nvPicPr>
        <p:blipFill>
          <a:blip r:embed="rId10"/>
          <a:stretch>
            <a:fillRect/>
          </a:stretch>
        </p:blipFill>
        <p:spPr>
          <a:xfrm>
            <a:off x="6638925" y="2949326"/>
            <a:ext cx="133350" cy="152400"/>
          </a:xfrm>
          <a:prstGeom prst="rect">
            <a:avLst/>
          </a:prstGeom>
        </p:spPr>
      </p:pic>
      <p:pic>
        <p:nvPicPr>
          <p:cNvPr id="11" name="Picture 10" descr="image.png"/>
          <p:cNvPicPr>
            <a:picLocks noChangeAspect="1"/>
          </p:cNvPicPr>
          <p:nvPr/>
        </p:nvPicPr>
        <p:blipFill>
          <a:blip r:embed="rId11"/>
          <a:stretch>
            <a:fillRect/>
          </a:stretch>
        </p:blipFill>
        <p:spPr>
          <a:xfrm>
            <a:off x="6638925" y="3875930"/>
            <a:ext cx="152400" cy="152400"/>
          </a:xfrm>
          <a:prstGeom prst="rect">
            <a:avLst/>
          </a:prstGeom>
        </p:spPr>
      </p:pic>
      <p:pic>
        <p:nvPicPr>
          <p:cNvPr id="12" name="Picture 11" descr="image.png"/>
          <p:cNvPicPr>
            <a:picLocks noChangeAspect="1"/>
          </p:cNvPicPr>
          <p:nvPr/>
        </p:nvPicPr>
        <p:blipFill>
          <a:blip r:embed="rId12"/>
          <a:stretch>
            <a:fillRect/>
          </a:stretch>
        </p:blipFill>
        <p:spPr>
          <a:xfrm>
            <a:off x="6638925" y="4610695"/>
            <a:ext cx="190500" cy="152400"/>
          </a:xfrm>
          <a:prstGeom prst="rect">
            <a:avLst/>
          </a:prstGeom>
        </p:spPr>
      </p:pic>
      <p:sp>
        <p:nvSpPr>
          <p:cNvPr id="13" name="TextBox 12"/>
          <p:cNvSpPr txBox="1"/>
          <p:nvPr/>
        </p:nvSpPr>
        <p:spPr>
          <a:xfrm>
            <a:off x="1143000" y="1957387"/>
            <a:ext cx="3300412" cy="266700"/>
          </a:xfrm>
          <a:prstGeom prst="rect">
            <a:avLst/>
          </a:prstGeom>
          <a:noFill/>
        </p:spPr>
        <p:txBody>
          <a:bodyPr wrap="square" lIns="0" tIns="0" rIns="0" bIns="0" anchor="t">
            <a:spAutoFit/>
          </a:bodyPr>
          <a:lstStyle/>
          <a:p>
            <a:pPr algn="l"/>
            <a:r>
              <a:rPr sz="1650" b="0" i="0" u="none">
                <a:solidFill>
                  <a:srgbClr val="F8FAFC"/>
                </a:solidFill>
                <a:latin typeface="Plus Jakarta Sans SemiBold"/>
              </a:rPr>
              <a:t>Feedforward Controls (Guides)</a:t>
            </a:r>
          </a:p>
        </p:txBody>
      </p:sp>
      <p:sp>
        <p:nvSpPr>
          <p:cNvPr id="14" name="TextBox 13"/>
          <p:cNvSpPr txBox="1"/>
          <p:nvPr/>
        </p:nvSpPr>
        <p:spPr>
          <a:xfrm>
            <a:off x="1143000" y="2319337"/>
            <a:ext cx="3143250" cy="191839"/>
          </a:xfrm>
          <a:prstGeom prst="rect">
            <a:avLst/>
          </a:prstGeom>
          <a:noFill/>
        </p:spPr>
        <p:txBody>
          <a:bodyPr wrap="square" lIns="0" tIns="0" rIns="0" bIns="0" anchor="t">
            <a:spAutoFit/>
          </a:bodyPr>
          <a:lstStyle/>
          <a:p>
            <a:pPr algn="l">
              <a:lnSpc>
                <a:spcPts val="1511"/>
              </a:lnSpc>
            </a:pPr>
            <a:r>
              <a:rPr sz="975" b="0" i="0" u="none">
                <a:solidFill>
                  <a:srgbClr val="38BDF8"/>
                </a:solidFill>
                <a:latin typeface="Inter"/>
              </a:rPr>
              <a:t>Steers behavior </a:t>
            </a:r>
            <a:r>
              <a:rPr sz="975" b="0" i="1" u="none">
                <a:solidFill>
                  <a:srgbClr val="38BDF8"/>
                </a:solidFill>
                <a:latin typeface="Inter"/>
              </a:rPr>
              <a:t>before</a:t>
            </a:r>
            <a:r>
              <a:rPr sz="975" b="0" i="0" u="none">
                <a:solidFill>
                  <a:srgbClr val="38BDF8"/>
                </a:solidFill>
                <a:latin typeface="Inter"/>
              </a:rPr>
              <a:t> model invocation</a:t>
            </a:r>
          </a:p>
        </p:txBody>
      </p:sp>
      <p:sp>
        <p:nvSpPr>
          <p:cNvPr id="15" name="TextBox 14"/>
          <p:cNvSpPr txBox="1"/>
          <p:nvPr/>
        </p:nvSpPr>
        <p:spPr>
          <a:xfrm>
            <a:off x="1162050" y="2920751"/>
            <a:ext cx="4391025" cy="161925"/>
          </a:xfrm>
          <a:prstGeom prst="rect">
            <a:avLst/>
          </a:prstGeom>
          <a:noFill/>
        </p:spPr>
        <p:txBody>
          <a:bodyPr wrap="square" lIns="0" tIns="0" rIns="0" bIns="0" anchor="t">
            <a:spAutoFit/>
          </a:bodyPr>
          <a:lstStyle/>
          <a:p>
            <a:pPr algn="l"/>
            <a:r>
              <a:rPr sz="1050" b="1" i="0" u="none">
                <a:solidFill>
                  <a:srgbClr val="F8FAFC"/>
                </a:solidFill>
                <a:latin typeface="Inter"/>
              </a:rPr>
              <a:t>AGENTS.md &amp; Repository Architecture Guides</a:t>
            </a:r>
          </a:p>
        </p:txBody>
      </p:sp>
      <p:sp>
        <p:nvSpPr>
          <p:cNvPr id="16" name="TextBox 15"/>
          <p:cNvSpPr txBox="1"/>
          <p:nvPr/>
        </p:nvSpPr>
        <p:spPr>
          <a:xfrm>
            <a:off x="1162050" y="3101726"/>
            <a:ext cx="43910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Informs the agent of workspace rules, style guidelines, and design boundaries.</a:t>
            </a:r>
          </a:p>
        </p:txBody>
      </p:sp>
      <p:sp>
        <p:nvSpPr>
          <p:cNvPr id="17" name="TextBox 16"/>
          <p:cNvSpPr txBox="1"/>
          <p:nvPr/>
        </p:nvSpPr>
        <p:spPr>
          <a:xfrm>
            <a:off x="1219200" y="3847355"/>
            <a:ext cx="4333875" cy="161925"/>
          </a:xfrm>
          <a:prstGeom prst="rect">
            <a:avLst/>
          </a:prstGeom>
          <a:noFill/>
        </p:spPr>
        <p:txBody>
          <a:bodyPr wrap="square" lIns="0" tIns="0" rIns="0" bIns="0" anchor="t">
            <a:spAutoFit/>
          </a:bodyPr>
          <a:lstStyle/>
          <a:p>
            <a:pPr algn="l"/>
            <a:r>
              <a:rPr sz="1050" b="1" i="0" u="none">
                <a:solidFill>
                  <a:srgbClr val="F8FAFC"/>
                </a:solidFill>
                <a:latin typeface="Inter"/>
              </a:rPr>
              <a:t>Progressive Tool Disclosure</a:t>
            </a:r>
          </a:p>
        </p:txBody>
      </p:sp>
      <p:sp>
        <p:nvSpPr>
          <p:cNvPr id="18" name="TextBox 17"/>
          <p:cNvSpPr txBox="1"/>
          <p:nvPr/>
        </p:nvSpPr>
        <p:spPr>
          <a:xfrm>
            <a:off x="1219200" y="4028330"/>
            <a:ext cx="43338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Dynamically restricts tool schemas to prevent context bloating and hallucination.</a:t>
            </a:r>
          </a:p>
        </p:txBody>
      </p:sp>
      <p:sp>
        <p:nvSpPr>
          <p:cNvPr id="19" name="TextBox 18"/>
          <p:cNvSpPr txBox="1"/>
          <p:nvPr/>
        </p:nvSpPr>
        <p:spPr>
          <a:xfrm>
            <a:off x="1238250" y="4773959"/>
            <a:ext cx="4314825" cy="161925"/>
          </a:xfrm>
          <a:prstGeom prst="rect">
            <a:avLst/>
          </a:prstGeom>
          <a:noFill/>
        </p:spPr>
        <p:txBody>
          <a:bodyPr wrap="square" lIns="0" tIns="0" rIns="0" bIns="0" anchor="t">
            <a:spAutoFit/>
          </a:bodyPr>
          <a:lstStyle/>
          <a:p>
            <a:pPr algn="l"/>
            <a:r>
              <a:rPr sz="1050" b="1" i="0" u="none">
                <a:solidFill>
                  <a:srgbClr val="F8FAFC"/>
                </a:solidFill>
                <a:latin typeface="Inter"/>
              </a:rPr>
              <a:t>Upfront Sprint Contracts</a:t>
            </a:r>
          </a:p>
        </p:txBody>
      </p:sp>
      <p:sp>
        <p:nvSpPr>
          <p:cNvPr id="20" name="TextBox 19"/>
          <p:cNvSpPr txBox="1"/>
          <p:nvPr/>
        </p:nvSpPr>
        <p:spPr>
          <a:xfrm>
            <a:off x="1238250" y="4954934"/>
            <a:ext cx="43148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Negotiates strict "Definition of Done" acceptance criteria before generating code.</a:t>
            </a:r>
          </a:p>
        </p:txBody>
      </p:sp>
      <p:sp>
        <p:nvSpPr>
          <p:cNvPr id="21" name="TextBox 20"/>
          <p:cNvSpPr txBox="1"/>
          <p:nvPr/>
        </p:nvSpPr>
        <p:spPr>
          <a:xfrm>
            <a:off x="6848475" y="1957387"/>
            <a:ext cx="3060382" cy="266700"/>
          </a:xfrm>
          <a:prstGeom prst="rect">
            <a:avLst/>
          </a:prstGeom>
          <a:noFill/>
        </p:spPr>
        <p:txBody>
          <a:bodyPr wrap="square" lIns="0" tIns="0" rIns="0" bIns="0" anchor="t">
            <a:spAutoFit/>
          </a:bodyPr>
          <a:lstStyle/>
          <a:p>
            <a:pPr algn="l"/>
            <a:r>
              <a:rPr sz="1650" b="0" i="0" u="none">
                <a:solidFill>
                  <a:srgbClr val="F8FAFC"/>
                </a:solidFill>
                <a:latin typeface="Plus Jakarta Sans SemiBold"/>
              </a:rPr>
              <a:t>Feedback Controls (Sensors)</a:t>
            </a:r>
          </a:p>
        </p:txBody>
      </p:sp>
      <p:sp>
        <p:nvSpPr>
          <p:cNvPr id="22" name="TextBox 21"/>
          <p:cNvSpPr txBox="1"/>
          <p:nvPr/>
        </p:nvSpPr>
        <p:spPr>
          <a:xfrm>
            <a:off x="6848475" y="2319337"/>
            <a:ext cx="2914650" cy="191839"/>
          </a:xfrm>
          <a:prstGeom prst="rect">
            <a:avLst/>
          </a:prstGeom>
          <a:noFill/>
        </p:spPr>
        <p:txBody>
          <a:bodyPr wrap="square" lIns="0" tIns="0" rIns="0" bIns="0" anchor="t">
            <a:spAutoFit/>
          </a:bodyPr>
          <a:lstStyle/>
          <a:p>
            <a:pPr algn="l">
              <a:lnSpc>
                <a:spcPts val="1511"/>
              </a:lnSpc>
            </a:pPr>
            <a:r>
              <a:rPr sz="975" b="0" i="0" u="none">
                <a:solidFill>
                  <a:srgbClr val="818CF8"/>
                </a:solidFill>
                <a:latin typeface="Inter"/>
              </a:rPr>
              <a:t>Evaluates output </a:t>
            </a:r>
            <a:r>
              <a:rPr sz="975" b="0" i="1" u="none">
                <a:solidFill>
                  <a:srgbClr val="818CF8"/>
                </a:solidFill>
                <a:latin typeface="Inter"/>
              </a:rPr>
              <a:t>after</a:t>
            </a:r>
            <a:r>
              <a:rPr sz="975" b="0" i="0" u="none">
                <a:solidFill>
                  <a:srgbClr val="818CF8"/>
                </a:solidFill>
                <a:latin typeface="Inter"/>
              </a:rPr>
              <a:t> tool execution</a:t>
            </a:r>
          </a:p>
        </p:txBody>
      </p:sp>
      <p:sp>
        <p:nvSpPr>
          <p:cNvPr id="23" name="TextBox 22"/>
          <p:cNvSpPr txBox="1"/>
          <p:nvPr/>
        </p:nvSpPr>
        <p:spPr>
          <a:xfrm>
            <a:off x="6886575" y="2920751"/>
            <a:ext cx="4371975" cy="161925"/>
          </a:xfrm>
          <a:prstGeom prst="rect">
            <a:avLst/>
          </a:prstGeom>
          <a:noFill/>
        </p:spPr>
        <p:txBody>
          <a:bodyPr wrap="square" lIns="0" tIns="0" rIns="0" bIns="0" anchor="t">
            <a:spAutoFit/>
          </a:bodyPr>
          <a:lstStyle/>
          <a:p>
            <a:pPr algn="l"/>
            <a:r>
              <a:rPr sz="1050" b="1" i="0" u="none">
                <a:solidFill>
                  <a:srgbClr val="F8FAFC"/>
                </a:solidFill>
                <a:latin typeface="Inter"/>
              </a:rPr>
              <a:t>Deterministic AST &amp; Linter Feeds</a:t>
            </a:r>
          </a:p>
        </p:txBody>
      </p:sp>
      <p:sp>
        <p:nvSpPr>
          <p:cNvPr id="24" name="TextBox 23"/>
          <p:cNvSpPr txBox="1"/>
          <p:nvPr/>
        </p:nvSpPr>
        <p:spPr>
          <a:xfrm>
            <a:off x="6886575" y="3101726"/>
            <a:ext cx="43719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Formats static analyzer &amp; syntax compiler errors directly into prompt feedback.</a:t>
            </a:r>
          </a:p>
        </p:txBody>
      </p:sp>
      <p:sp>
        <p:nvSpPr>
          <p:cNvPr id="25" name="TextBox 24"/>
          <p:cNvSpPr txBox="1"/>
          <p:nvPr/>
        </p:nvSpPr>
        <p:spPr>
          <a:xfrm>
            <a:off x="6905625" y="3847355"/>
            <a:ext cx="4343400" cy="161925"/>
          </a:xfrm>
          <a:prstGeom prst="rect">
            <a:avLst/>
          </a:prstGeom>
          <a:noFill/>
        </p:spPr>
        <p:txBody>
          <a:bodyPr wrap="square" lIns="0" tIns="0" rIns="0" bIns="0" anchor="t">
            <a:spAutoFit/>
          </a:bodyPr>
          <a:lstStyle/>
          <a:p>
            <a:pPr algn="l"/>
            <a:r>
              <a:rPr sz="1050" b="1" i="0" u="none">
                <a:solidFill>
                  <a:srgbClr val="F8FAFC"/>
                </a:solidFill>
                <a:latin typeface="Inter"/>
              </a:rPr>
              <a:t>Automated Test Execution Suites</a:t>
            </a:r>
          </a:p>
        </p:txBody>
      </p:sp>
      <p:sp>
        <p:nvSpPr>
          <p:cNvPr id="26" name="TextBox 25"/>
          <p:cNvSpPr txBox="1"/>
          <p:nvPr/>
        </p:nvSpPr>
        <p:spPr>
          <a:xfrm>
            <a:off x="6905625" y="4028330"/>
            <a:ext cx="4343400" cy="191839"/>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Runs automated unit/integration tests in sandboxes to verify functionality.</a:t>
            </a:r>
          </a:p>
        </p:txBody>
      </p:sp>
      <p:sp>
        <p:nvSpPr>
          <p:cNvPr id="27" name="TextBox 26"/>
          <p:cNvSpPr txBox="1"/>
          <p:nvPr/>
        </p:nvSpPr>
        <p:spPr>
          <a:xfrm>
            <a:off x="6943725" y="4582120"/>
            <a:ext cx="4314825" cy="161925"/>
          </a:xfrm>
          <a:prstGeom prst="rect">
            <a:avLst/>
          </a:prstGeom>
          <a:noFill/>
        </p:spPr>
        <p:txBody>
          <a:bodyPr wrap="square" lIns="0" tIns="0" rIns="0" bIns="0" anchor="t">
            <a:spAutoFit/>
          </a:bodyPr>
          <a:lstStyle/>
          <a:p>
            <a:pPr algn="l"/>
            <a:r>
              <a:rPr sz="1050" b="1" i="0" u="none">
                <a:solidFill>
                  <a:srgbClr val="F8FAFC"/>
                </a:solidFill>
                <a:latin typeface="Inter"/>
              </a:rPr>
              <a:t>Evaluator-Agent Verification Loops</a:t>
            </a:r>
          </a:p>
        </p:txBody>
      </p:sp>
      <p:sp>
        <p:nvSpPr>
          <p:cNvPr id="28" name="TextBox 27"/>
          <p:cNvSpPr txBox="1"/>
          <p:nvPr/>
        </p:nvSpPr>
        <p:spPr>
          <a:xfrm>
            <a:off x="6943725" y="4763095"/>
            <a:ext cx="43148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De-couples generation from evaluation using independent LLM reviewer roles.</a:t>
            </a:r>
          </a:p>
        </p:txBody>
      </p:sp>
      <p:sp>
        <p:nvSpPr>
          <p:cNvPr id="29" name="TextBox 28"/>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Feedforward vs. Feedback Controls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2468909"/>
            <a:ext cx="4991100" cy="2567880"/>
          </a:xfrm>
          <a:prstGeom prst="rect">
            <a:avLst/>
          </a:prstGeom>
        </p:spPr>
      </p:pic>
      <p:pic>
        <p:nvPicPr>
          <p:cNvPr id="4" name="Picture 3" descr="image.png"/>
          <p:cNvPicPr>
            <a:picLocks noChangeAspect="1"/>
          </p:cNvPicPr>
          <p:nvPr/>
        </p:nvPicPr>
        <p:blipFill>
          <a:blip r:embed="rId4"/>
          <a:stretch>
            <a:fillRect/>
          </a:stretch>
        </p:blipFill>
        <p:spPr>
          <a:xfrm>
            <a:off x="6667500" y="2468909"/>
            <a:ext cx="4991100" cy="2567880"/>
          </a:xfrm>
          <a:prstGeom prst="rect">
            <a:avLst/>
          </a:prstGeom>
        </p:spPr>
      </p:pic>
      <p:pic>
        <p:nvPicPr>
          <p:cNvPr id="5" name="Picture 4" descr="image.png"/>
          <p:cNvPicPr>
            <a:picLocks noChangeAspect="1"/>
          </p:cNvPicPr>
          <p:nvPr/>
        </p:nvPicPr>
        <p:blipFill>
          <a:blip r:embed="rId5"/>
          <a:stretch>
            <a:fillRect/>
          </a:stretch>
        </p:blipFill>
        <p:spPr>
          <a:xfrm>
            <a:off x="752475" y="3293715"/>
            <a:ext cx="4552950" cy="304800"/>
          </a:xfrm>
          <a:prstGeom prst="rect">
            <a:avLst/>
          </a:prstGeom>
        </p:spPr>
      </p:pic>
      <p:pic>
        <p:nvPicPr>
          <p:cNvPr id="6" name="Picture 5" descr="image.png"/>
          <p:cNvPicPr>
            <a:picLocks noChangeAspect="1"/>
          </p:cNvPicPr>
          <p:nvPr/>
        </p:nvPicPr>
        <p:blipFill>
          <a:blip r:embed="rId6"/>
          <a:stretch>
            <a:fillRect/>
          </a:stretch>
        </p:blipFill>
        <p:spPr>
          <a:xfrm>
            <a:off x="752475" y="3674715"/>
            <a:ext cx="4552950" cy="304800"/>
          </a:xfrm>
          <a:prstGeom prst="rect">
            <a:avLst/>
          </a:prstGeom>
        </p:spPr>
      </p:pic>
      <p:pic>
        <p:nvPicPr>
          <p:cNvPr id="7" name="Picture 6" descr="image.png"/>
          <p:cNvPicPr>
            <a:picLocks noChangeAspect="1"/>
          </p:cNvPicPr>
          <p:nvPr/>
        </p:nvPicPr>
        <p:blipFill>
          <a:blip r:embed="rId7"/>
          <a:stretch>
            <a:fillRect/>
          </a:stretch>
        </p:blipFill>
        <p:spPr>
          <a:xfrm>
            <a:off x="752475" y="4055715"/>
            <a:ext cx="4552950" cy="304800"/>
          </a:xfrm>
          <a:prstGeom prst="rect">
            <a:avLst/>
          </a:prstGeom>
        </p:spPr>
      </p:pic>
      <p:pic>
        <p:nvPicPr>
          <p:cNvPr id="8" name="Picture 7" descr="image.png"/>
          <p:cNvPicPr>
            <a:picLocks noChangeAspect="1"/>
          </p:cNvPicPr>
          <p:nvPr/>
        </p:nvPicPr>
        <p:blipFill>
          <a:blip r:embed="rId8"/>
          <a:stretch>
            <a:fillRect/>
          </a:stretch>
        </p:blipFill>
        <p:spPr>
          <a:xfrm>
            <a:off x="752475" y="4436715"/>
            <a:ext cx="4552950" cy="304800"/>
          </a:xfrm>
          <a:prstGeom prst="rect">
            <a:avLst/>
          </a:prstGeom>
        </p:spPr>
      </p:pic>
      <p:pic>
        <p:nvPicPr>
          <p:cNvPr id="9" name="Picture 8" descr="image.png"/>
          <p:cNvPicPr>
            <a:picLocks noChangeAspect="1"/>
          </p:cNvPicPr>
          <p:nvPr/>
        </p:nvPicPr>
        <p:blipFill>
          <a:blip r:embed="rId9"/>
          <a:stretch>
            <a:fillRect/>
          </a:stretch>
        </p:blipFill>
        <p:spPr>
          <a:xfrm>
            <a:off x="6886575" y="3293715"/>
            <a:ext cx="4552950" cy="304800"/>
          </a:xfrm>
          <a:prstGeom prst="rect">
            <a:avLst/>
          </a:prstGeom>
        </p:spPr>
      </p:pic>
      <p:pic>
        <p:nvPicPr>
          <p:cNvPr id="10" name="Picture 9" descr="image.png"/>
          <p:cNvPicPr>
            <a:picLocks noChangeAspect="1"/>
          </p:cNvPicPr>
          <p:nvPr/>
        </p:nvPicPr>
        <p:blipFill>
          <a:blip r:embed="rId10"/>
          <a:stretch>
            <a:fillRect/>
          </a:stretch>
        </p:blipFill>
        <p:spPr>
          <a:xfrm>
            <a:off x="6886575" y="3674715"/>
            <a:ext cx="4552950" cy="304800"/>
          </a:xfrm>
          <a:prstGeom prst="rect">
            <a:avLst/>
          </a:prstGeom>
        </p:spPr>
      </p:pic>
      <p:pic>
        <p:nvPicPr>
          <p:cNvPr id="11" name="Picture 10" descr="image.png"/>
          <p:cNvPicPr>
            <a:picLocks noChangeAspect="1"/>
          </p:cNvPicPr>
          <p:nvPr/>
        </p:nvPicPr>
        <p:blipFill>
          <a:blip r:embed="rId11"/>
          <a:stretch>
            <a:fillRect/>
          </a:stretch>
        </p:blipFill>
        <p:spPr>
          <a:xfrm>
            <a:off x="6886575" y="4055715"/>
            <a:ext cx="4552950" cy="304800"/>
          </a:xfrm>
          <a:prstGeom prst="rect">
            <a:avLst/>
          </a:prstGeom>
        </p:spPr>
      </p:pic>
      <p:pic>
        <p:nvPicPr>
          <p:cNvPr id="12" name="Picture 11" descr="image.png"/>
          <p:cNvPicPr>
            <a:picLocks noChangeAspect="1"/>
          </p:cNvPicPr>
          <p:nvPr/>
        </p:nvPicPr>
        <p:blipFill>
          <a:blip r:embed="rId12"/>
          <a:stretch>
            <a:fillRect/>
          </a:stretch>
        </p:blipFill>
        <p:spPr>
          <a:xfrm>
            <a:off x="6886575" y="4436715"/>
            <a:ext cx="4552950" cy="304800"/>
          </a:xfrm>
          <a:prstGeom prst="rect">
            <a:avLst/>
          </a:prstGeom>
        </p:spPr>
      </p:pic>
      <p:sp>
        <p:nvSpPr>
          <p:cNvPr id="13" name="TextBox 12"/>
          <p:cNvSpPr txBox="1"/>
          <p:nvPr/>
        </p:nvSpPr>
        <p:spPr>
          <a:xfrm>
            <a:off x="752475" y="2687984"/>
            <a:ext cx="4780597" cy="219075"/>
          </a:xfrm>
          <a:prstGeom prst="rect">
            <a:avLst/>
          </a:prstGeom>
          <a:noFill/>
        </p:spPr>
        <p:txBody>
          <a:bodyPr wrap="square" lIns="171450" tIns="0" rIns="0" bIns="0" anchor="t">
            <a:spAutoFit/>
          </a:bodyPr>
          <a:lstStyle/>
          <a:p>
            <a:pPr algn="l"/>
            <a:r>
              <a:rPr sz="1350" b="0" i="0" u="none">
                <a:solidFill>
                  <a:srgbClr val="F87171"/>
                </a:solidFill>
                <a:latin typeface="Plus Jakarta Sans SemiBold"/>
              </a:rPr>
              <a:t>Raw Unmanaged Trajectory</a:t>
            </a:r>
          </a:p>
        </p:txBody>
      </p:sp>
      <p:sp>
        <p:nvSpPr>
          <p:cNvPr id="14" name="TextBox 13"/>
          <p:cNvSpPr txBox="1"/>
          <p:nvPr/>
        </p:nvSpPr>
        <p:spPr>
          <a:xfrm>
            <a:off x="752475" y="3002309"/>
            <a:ext cx="4552950" cy="177105"/>
          </a:xfrm>
          <a:prstGeom prst="rect">
            <a:avLst/>
          </a:prstGeom>
          <a:noFill/>
        </p:spPr>
        <p:txBody>
          <a:bodyPr wrap="square" lIns="0" tIns="0" rIns="0" bIns="0" anchor="t">
            <a:spAutoFit/>
          </a:bodyPr>
          <a:lstStyle/>
          <a:p>
            <a:pPr algn="l">
              <a:lnSpc>
                <a:spcPts val="1395"/>
              </a:lnSpc>
            </a:pPr>
            <a:r>
              <a:rPr sz="900" b="0" i="0" u="none">
                <a:solidFill>
                  <a:srgbClr val="94A3B8"/>
                </a:solidFill>
                <a:latin typeface="Inter"/>
              </a:rPr>
              <a:t>Token budget exhaustion &amp; reasoning degradation</a:t>
            </a:r>
          </a:p>
        </p:txBody>
      </p:sp>
      <p:sp>
        <p:nvSpPr>
          <p:cNvPr id="15" name="TextBox 14"/>
          <p:cNvSpPr txBox="1"/>
          <p:nvPr/>
        </p:nvSpPr>
        <p:spPr>
          <a:xfrm>
            <a:off x="5715000" y="3795712"/>
            <a:ext cx="762000" cy="285750"/>
          </a:xfrm>
          <a:prstGeom prst="rect">
            <a:avLst/>
          </a:prstGeom>
          <a:noFill/>
        </p:spPr>
        <p:txBody>
          <a:bodyPr wrap="square" lIns="0" tIns="0" rIns="0" bIns="0" anchor="t">
            <a:spAutoFit/>
          </a:bodyPr>
          <a:lstStyle/>
          <a:p>
            <a:pPr algn="ctr"/>
            <a:r>
              <a:rPr sz="825" b="0" i="0" u="none">
                <a:solidFill>
                  <a:srgbClr val="38BDF8"/>
                </a:solidFill>
                <a:latin typeface="Fira Code"/>
              </a:rPr>
              <a:t>Harness Compaction</a:t>
            </a:r>
          </a:p>
        </p:txBody>
      </p:sp>
      <p:sp>
        <p:nvSpPr>
          <p:cNvPr id="16" name="TextBox 15"/>
          <p:cNvSpPr txBox="1"/>
          <p:nvPr/>
        </p:nvSpPr>
        <p:spPr>
          <a:xfrm>
            <a:off x="6886575" y="2687984"/>
            <a:ext cx="4780597" cy="219075"/>
          </a:xfrm>
          <a:prstGeom prst="rect">
            <a:avLst/>
          </a:prstGeom>
          <a:noFill/>
        </p:spPr>
        <p:txBody>
          <a:bodyPr wrap="square" lIns="171450" tIns="0" rIns="0" bIns="0" anchor="t">
            <a:spAutoFit/>
          </a:bodyPr>
          <a:lstStyle/>
          <a:p>
            <a:pPr algn="l"/>
            <a:r>
              <a:rPr sz="1350" b="0" i="0" u="none">
                <a:solidFill>
                  <a:srgbClr val="34D399"/>
                </a:solidFill>
                <a:latin typeface="Plus Jakarta Sans SemiBold"/>
              </a:rPr>
              <a:t>Harness-Managed Context</a:t>
            </a:r>
          </a:p>
        </p:txBody>
      </p:sp>
      <p:sp>
        <p:nvSpPr>
          <p:cNvPr id="17" name="TextBox 16"/>
          <p:cNvSpPr txBox="1"/>
          <p:nvPr/>
        </p:nvSpPr>
        <p:spPr>
          <a:xfrm>
            <a:off x="6886575" y="3002309"/>
            <a:ext cx="4552950" cy="177105"/>
          </a:xfrm>
          <a:prstGeom prst="rect">
            <a:avLst/>
          </a:prstGeom>
          <a:noFill/>
        </p:spPr>
        <p:txBody>
          <a:bodyPr wrap="square" lIns="0" tIns="0" rIns="0" bIns="0" anchor="t">
            <a:spAutoFit/>
          </a:bodyPr>
          <a:lstStyle/>
          <a:p>
            <a:pPr algn="l">
              <a:lnSpc>
                <a:spcPts val="1395"/>
              </a:lnSpc>
            </a:pPr>
            <a:r>
              <a:rPr sz="900" b="0" i="0" u="none">
                <a:solidFill>
                  <a:srgbClr val="94A3B8"/>
                </a:solidFill>
                <a:latin typeface="Inter"/>
              </a:rPr>
              <a:t>Preserves attention &amp; focus on critical task state</a:t>
            </a:r>
          </a:p>
        </p:txBody>
      </p:sp>
      <p:pic>
        <p:nvPicPr>
          <p:cNvPr id="18" name="Picture 17" descr="image.png"/>
          <p:cNvPicPr>
            <a:picLocks noChangeAspect="1"/>
          </p:cNvPicPr>
          <p:nvPr/>
        </p:nvPicPr>
        <p:blipFill>
          <a:blip r:embed="rId13"/>
          <a:stretch>
            <a:fillRect/>
          </a:stretch>
        </p:blipFill>
        <p:spPr>
          <a:xfrm>
            <a:off x="752475" y="2726084"/>
            <a:ext cx="171450" cy="171450"/>
          </a:xfrm>
          <a:prstGeom prst="rect">
            <a:avLst/>
          </a:prstGeom>
        </p:spPr>
      </p:pic>
      <p:pic>
        <p:nvPicPr>
          <p:cNvPr id="19" name="Picture 18" descr="image.png"/>
          <p:cNvPicPr>
            <a:picLocks noChangeAspect="1"/>
          </p:cNvPicPr>
          <p:nvPr/>
        </p:nvPicPr>
        <p:blipFill>
          <a:blip r:embed="rId14"/>
          <a:stretch>
            <a:fillRect/>
          </a:stretch>
        </p:blipFill>
        <p:spPr>
          <a:xfrm>
            <a:off x="6886575" y="2726084"/>
            <a:ext cx="171450" cy="171450"/>
          </a:xfrm>
          <a:prstGeom prst="rect">
            <a:avLst/>
          </a:prstGeom>
        </p:spPr>
      </p:pic>
      <p:sp>
        <p:nvSpPr>
          <p:cNvPr id="20" name="TextBox 19"/>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Context Compaction &amp; Tool Offloading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4395787" y="2537073"/>
            <a:ext cx="3400425" cy="504825"/>
          </a:xfrm>
          <a:prstGeom prst="rect">
            <a:avLst/>
          </a:prstGeom>
        </p:spPr>
      </p:pic>
      <p:pic>
        <p:nvPicPr>
          <p:cNvPr id="4" name="Picture 3" descr="image.png"/>
          <p:cNvPicPr>
            <a:picLocks noChangeAspect="1"/>
          </p:cNvPicPr>
          <p:nvPr/>
        </p:nvPicPr>
        <p:blipFill>
          <a:blip r:embed="rId4"/>
          <a:stretch>
            <a:fillRect/>
          </a:stretch>
        </p:blipFill>
        <p:spPr>
          <a:xfrm>
            <a:off x="533400" y="3565773"/>
            <a:ext cx="3549550" cy="1402853"/>
          </a:xfrm>
          <a:prstGeom prst="rect">
            <a:avLst/>
          </a:prstGeom>
        </p:spPr>
      </p:pic>
      <p:pic>
        <p:nvPicPr>
          <p:cNvPr id="5" name="Picture 4" descr="image.png"/>
          <p:cNvPicPr>
            <a:picLocks noChangeAspect="1"/>
          </p:cNvPicPr>
          <p:nvPr/>
        </p:nvPicPr>
        <p:blipFill>
          <a:blip r:embed="rId5"/>
          <a:stretch>
            <a:fillRect/>
          </a:stretch>
        </p:blipFill>
        <p:spPr>
          <a:xfrm>
            <a:off x="4321075" y="3565773"/>
            <a:ext cx="3549699" cy="1402853"/>
          </a:xfrm>
          <a:prstGeom prst="rect">
            <a:avLst/>
          </a:prstGeom>
        </p:spPr>
      </p:pic>
      <p:pic>
        <p:nvPicPr>
          <p:cNvPr id="6" name="Picture 5" descr="image.png"/>
          <p:cNvPicPr>
            <a:picLocks noChangeAspect="1"/>
          </p:cNvPicPr>
          <p:nvPr/>
        </p:nvPicPr>
        <p:blipFill>
          <a:blip r:embed="rId6"/>
          <a:stretch>
            <a:fillRect/>
          </a:stretch>
        </p:blipFill>
        <p:spPr>
          <a:xfrm>
            <a:off x="8108900" y="3565773"/>
            <a:ext cx="3549550" cy="1402853"/>
          </a:xfrm>
          <a:prstGeom prst="rect">
            <a:avLst/>
          </a:prstGeom>
        </p:spPr>
      </p:pic>
      <p:sp>
        <p:nvSpPr>
          <p:cNvPr id="7" name="TextBox 6"/>
          <p:cNvSpPr txBox="1"/>
          <p:nvPr/>
        </p:nvSpPr>
        <p:spPr>
          <a:xfrm>
            <a:off x="4600813" y="2679948"/>
            <a:ext cx="2990373" cy="219075"/>
          </a:xfrm>
          <a:prstGeom prst="rect">
            <a:avLst/>
          </a:prstGeom>
          <a:noFill/>
        </p:spPr>
        <p:txBody>
          <a:bodyPr wrap="square" lIns="152400" tIns="0" rIns="0" bIns="0" anchor="t">
            <a:spAutoFit/>
          </a:bodyPr>
          <a:lstStyle/>
          <a:p>
            <a:pPr algn="ctr"/>
            <a:r>
              <a:rPr sz="1350" b="0" i="0" u="none">
                <a:solidFill>
                  <a:srgbClr val="F8FAFC"/>
                </a:solidFill>
                <a:latin typeface="Plus Jakarta Sans SemiBold"/>
              </a:rPr>
              <a:t>Proposed Tool Action Evaluation</a:t>
            </a:r>
          </a:p>
        </p:txBody>
      </p:sp>
      <p:pic>
        <p:nvPicPr>
          <p:cNvPr id="8" name="Picture 7" descr="image.png"/>
          <p:cNvPicPr>
            <a:picLocks noChangeAspect="1"/>
          </p:cNvPicPr>
          <p:nvPr/>
        </p:nvPicPr>
        <p:blipFill>
          <a:blip r:embed="rId7"/>
          <a:stretch>
            <a:fillRect/>
          </a:stretch>
        </p:blipFill>
        <p:spPr>
          <a:xfrm>
            <a:off x="4672012" y="2718048"/>
            <a:ext cx="152400" cy="171450"/>
          </a:xfrm>
          <a:prstGeom prst="rect">
            <a:avLst/>
          </a:prstGeom>
        </p:spPr>
      </p:pic>
      <p:pic>
        <p:nvPicPr>
          <p:cNvPr id="9" name="Picture 8" descr="image.png"/>
          <p:cNvPicPr>
            <a:picLocks noChangeAspect="1"/>
          </p:cNvPicPr>
          <p:nvPr/>
        </p:nvPicPr>
        <p:blipFill>
          <a:blip r:embed="rId8"/>
          <a:stretch>
            <a:fillRect/>
          </a:stretch>
        </p:blipFill>
        <p:spPr>
          <a:xfrm>
            <a:off x="2193875" y="3784848"/>
            <a:ext cx="228600" cy="228600"/>
          </a:xfrm>
          <a:prstGeom prst="rect">
            <a:avLst/>
          </a:prstGeom>
        </p:spPr>
      </p:pic>
      <p:sp>
        <p:nvSpPr>
          <p:cNvPr id="10" name="TextBox 9"/>
          <p:cNvSpPr txBox="1"/>
          <p:nvPr/>
        </p:nvSpPr>
        <p:spPr>
          <a:xfrm>
            <a:off x="654687" y="4108698"/>
            <a:ext cx="3306975" cy="200025"/>
          </a:xfrm>
          <a:prstGeom prst="rect">
            <a:avLst/>
          </a:prstGeom>
          <a:noFill/>
        </p:spPr>
        <p:txBody>
          <a:bodyPr wrap="square" lIns="0" tIns="0" rIns="0" bIns="0" anchor="t">
            <a:spAutoFit/>
          </a:bodyPr>
          <a:lstStyle/>
          <a:p>
            <a:pPr algn="ctr"/>
            <a:r>
              <a:rPr sz="1200" b="1" i="0" u="none">
                <a:solidFill>
                  <a:srgbClr val="34D399"/>
                </a:solidFill>
                <a:latin typeface="Plus Jakarta Sans"/>
              </a:rPr>
              <a:t>Low-Risk / Read-Only</a:t>
            </a:r>
          </a:p>
        </p:txBody>
      </p:sp>
      <p:sp>
        <p:nvSpPr>
          <p:cNvPr id="11" name="TextBox 10"/>
          <p:cNvSpPr txBox="1"/>
          <p:nvPr/>
        </p:nvSpPr>
        <p:spPr>
          <a:xfrm>
            <a:off x="733425" y="4384923"/>
            <a:ext cx="3149500"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Automated Sandbox Execution. Runs file reads, local tests, and code analysis without pause.</a:t>
            </a:r>
          </a:p>
        </p:txBody>
      </p:sp>
      <p:pic>
        <p:nvPicPr>
          <p:cNvPr id="12" name="Picture 11" descr="image.png"/>
          <p:cNvPicPr>
            <a:picLocks noChangeAspect="1"/>
          </p:cNvPicPr>
          <p:nvPr/>
        </p:nvPicPr>
        <p:blipFill>
          <a:blip r:embed="rId9"/>
          <a:stretch>
            <a:fillRect/>
          </a:stretch>
        </p:blipFill>
        <p:spPr>
          <a:xfrm>
            <a:off x="5952976" y="3784848"/>
            <a:ext cx="285750" cy="228600"/>
          </a:xfrm>
          <a:prstGeom prst="rect">
            <a:avLst/>
          </a:prstGeom>
        </p:spPr>
      </p:pic>
      <p:sp>
        <p:nvSpPr>
          <p:cNvPr id="13" name="TextBox 12"/>
          <p:cNvSpPr txBox="1"/>
          <p:nvPr/>
        </p:nvSpPr>
        <p:spPr>
          <a:xfrm>
            <a:off x="4442359" y="4108698"/>
            <a:ext cx="3307132" cy="200025"/>
          </a:xfrm>
          <a:prstGeom prst="rect">
            <a:avLst/>
          </a:prstGeom>
          <a:noFill/>
        </p:spPr>
        <p:txBody>
          <a:bodyPr wrap="square" lIns="0" tIns="0" rIns="0" bIns="0" anchor="t">
            <a:spAutoFit/>
          </a:bodyPr>
          <a:lstStyle/>
          <a:p>
            <a:pPr algn="ctr"/>
            <a:r>
              <a:rPr sz="1200" b="1" i="0" u="none">
                <a:solidFill>
                  <a:srgbClr val="FBBF24"/>
                </a:solidFill>
                <a:latin typeface="Plus Jakarta Sans"/>
              </a:rPr>
              <a:t>High-Risk Operations</a:t>
            </a:r>
          </a:p>
        </p:txBody>
      </p:sp>
      <p:sp>
        <p:nvSpPr>
          <p:cNvPr id="14" name="TextBox 13"/>
          <p:cNvSpPr txBox="1"/>
          <p:nvPr/>
        </p:nvSpPr>
        <p:spPr>
          <a:xfrm>
            <a:off x="4521100" y="4384923"/>
            <a:ext cx="3149649"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HITL Gate Intercept. Mandates human verification before DB writes or infra mutations.</a:t>
            </a:r>
          </a:p>
        </p:txBody>
      </p:sp>
      <p:pic>
        <p:nvPicPr>
          <p:cNvPr id="15" name="Picture 14" descr="image.png"/>
          <p:cNvPicPr>
            <a:picLocks noChangeAspect="1"/>
          </p:cNvPicPr>
          <p:nvPr/>
        </p:nvPicPr>
        <p:blipFill>
          <a:blip r:embed="rId10"/>
          <a:stretch>
            <a:fillRect/>
          </a:stretch>
        </p:blipFill>
        <p:spPr>
          <a:xfrm>
            <a:off x="9740800" y="3784848"/>
            <a:ext cx="285750" cy="228600"/>
          </a:xfrm>
          <a:prstGeom prst="rect">
            <a:avLst/>
          </a:prstGeom>
        </p:spPr>
      </p:pic>
      <p:sp>
        <p:nvSpPr>
          <p:cNvPr id="16" name="TextBox 15"/>
          <p:cNvSpPr txBox="1"/>
          <p:nvPr/>
        </p:nvSpPr>
        <p:spPr>
          <a:xfrm>
            <a:off x="8230187" y="4108698"/>
            <a:ext cx="3306975" cy="200025"/>
          </a:xfrm>
          <a:prstGeom prst="rect">
            <a:avLst/>
          </a:prstGeom>
          <a:noFill/>
        </p:spPr>
        <p:txBody>
          <a:bodyPr wrap="square" lIns="0" tIns="0" rIns="0" bIns="0" anchor="t">
            <a:spAutoFit/>
          </a:bodyPr>
          <a:lstStyle/>
          <a:p>
            <a:pPr algn="ctr"/>
            <a:r>
              <a:rPr sz="1200" b="1" i="0" u="none">
                <a:solidFill>
                  <a:srgbClr val="F87171"/>
                </a:solidFill>
                <a:latin typeface="Plus Jakarta Sans"/>
              </a:rPr>
              <a:t>Execution Failure</a:t>
            </a:r>
          </a:p>
        </p:txBody>
      </p:sp>
      <p:sp>
        <p:nvSpPr>
          <p:cNvPr id="17" name="TextBox 16"/>
          <p:cNvSpPr txBox="1"/>
          <p:nvPr/>
        </p:nvSpPr>
        <p:spPr>
          <a:xfrm>
            <a:off x="8308925" y="4384923"/>
            <a:ext cx="3149500"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Graceful Error Recovery. Harness captures stack trace and prompts self-correction loop.</a:t>
            </a:r>
          </a:p>
        </p:txBody>
      </p:sp>
      <p:sp>
        <p:nvSpPr>
          <p:cNvPr id="18" name="TextBox 17"/>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Human-in-the-Loop &amp; Safety Fallbacks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graphicFrame>
        <p:nvGraphicFramePr>
          <p:cNvPr id="3" name="Table 2"/>
          <p:cNvGraphicFramePr>
            <a:graphicFrameLocks noGrp="1"/>
          </p:cNvGraphicFramePr>
          <p:nvPr/>
        </p:nvGraphicFramePr>
        <p:xfrm>
          <a:off x="1190625" y="2476500"/>
          <a:ext cx="9810750" cy="2552551"/>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76700">
                  <a:extLst>
                    <a:ext uri="{9D8B030D-6E8A-4147-A177-3AD203B41FA5}">
                      <a16:colId xmlns:a16="http://schemas.microsoft.com/office/drawing/2014/main" val="20002"/>
                    </a:ext>
                  </a:extLst>
                </a:gridCol>
              </a:tblGrid>
              <a:tr h="510510">
                <a:tc>
                  <a:txBody>
                    <a:bodyPr/>
                    <a:lstStyle/>
                    <a:p>
                      <a:pPr algn="l"/>
                      <a:r>
                        <a:rPr sz="1200" b="0" i="0" u="none">
                          <a:solidFill>
                            <a:srgbClr val="38BDF8"/>
                          </a:solidFill>
                          <a:latin typeface="Plus Jakarta Sans SemiBold"/>
                        </a:rPr>
                        <a:t>Control Dimension</a:t>
                      </a:r>
                    </a:p>
                  </a:txBody>
                  <a:tcPr marL="63500" marR="63500" marT="25400" marB="25400" anchor="ctr">
                    <a:lnL>
                      <a:noFill/>
                    </a:lnL>
                    <a:lnR>
                      <a:noFill/>
                    </a:lnR>
                    <a:lnT>
                      <a:noFill/>
                    </a:lnT>
                    <a:lnB>
                      <a:noFill/>
                    </a:lnB>
                    <a:solidFill>
                      <a:srgbClr val="1E293B"/>
                    </a:solidFill>
                  </a:tcPr>
                </a:tc>
                <a:tc>
                  <a:txBody>
                    <a:bodyPr/>
                    <a:lstStyle/>
                    <a:p>
                      <a:pPr algn="l"/>
                      <a:r>
                        <a:rPr sz="1200" b="0" i="0" u="none">
                          <a:solidFill>
                            <a:srgbClr val="38BDF8"/>
                          </a:solidFill>
                          <a:latin typeface="Plus Jakarta Sans SemiBold"/>
                        </a:rPr>
                        <a:t>Computational Controls (CPU / Static)</a:t>
                      </a:r>
                    </a:p>
                  </a:txBody>
                  <a:tcPr marL="63500" marR="63500" marT="25400" marB="25400" anchor="ctr">
                    <a:lnL>
                      <a:noFill/>
                    </a:lnL>
                    <a:lnR>
                      <a:noFill/>
                    </a:lnR>
                    <a:lnT>
                      <a:noFill/>
                    </a:lnT>
                    <a:lnB>
                      <a:noFill/>
                    </a:lnB>
                    <a:solidFill>
                      <a:srgbClr val="1E293B"/>
                    </a:solidFill>
                  </a:tcPr>
                </a:tc>
                <a:tc>
                  <a:txBody>
                    <a:bodyPr/>
                    <a:lstStyle/>
                    <a:p>
                      <a:pPr algn="l"/>
                      <a:r>
                        <a:rPr sz="1200" b="0" i="0" u="none">
                          <a:solidFill>
                            <a:srgbClr val="38BDF8"/>
                          </a:solidFill>
                          <a:latin typeface="Plus Jakarta Sans SemiBold"/>
                        </a:rPr>
                        <a:t>Inferential Controls (GPU / LLM)</a:t>
                      </a:r>
                    </a:p>
                  </a:txBody>
                  <a:tcPr marL="63500" marR="63500" marT="25400" marB="25400" anchor="ctr">
                    <a:lnL>
                      <a:noFill/>
                    </a:lnL>
                    <a:lnR>
                      <a:noFill/>
                    </a:lnR>
                    <a:lnT>
                      <a:noFill/>
                    </a:lnT>
                    <a:lnB>
                      <a:noFill/>
                    </a:lnB>
                    <a:solidFill>
                      <a:srgbClr val="1E293B"/>
                    </a:solidFill>
                  </a:tcPr>
                </a:tc>
                <a:extLst>
                  <a:ext uri="{0D108BD9-81ED-4DB2-BD59-A6C34878D82A}">
                    <a16:rowId xmlns:a16="http://schemas.microsoft.com/office/drawing/2014/main" val="10000"/>
                  </a:ext>
                </a:extLst>
              </a:tr>
              <a:tr h="510510">
                <a:tc>
                  <a:txBody>
                    <a:bodyPr/>
                    <a:lstStyle/>
                    <a:p>
                      <a:pPr algn="l"/>
                      <a:r>
                        <a:rPr sz="1200" b="1" i="0" u="none">
                          <a:solidFill>
                            <a:srgbClr val="CBD5E1"/>
                          </a:solidFill>
                          <a:latin typeface="Inter"/>
                        </a:rPr>
                        <a:t>Primary Mechanism</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Static analysis, linters, AST validation, unit tests</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LLM-as-a-Judge, evaluator agents, semantic review</a:t>
                      </a:r>
                    </a:p>
                  </a:txBody>
                  <a:tcPr marL="63500" marR="63500" marT="25400" marB="25400" anchor="ctr">
                    <a:lnL>
                      <a:noFill/>
                    </a:lnL>
                    <a:lnR>
                      <a:noFill/>
                    </a:lnR>
                    <a:lnT>
                      <a:noFill/>
                    </a:lnT>
                    <a:lnB>
                      <a:noFill/>
                    </a:lnB>
                    <a:solidFill>
                      <a:srgbClr val="0F172A"/>
                    </a:solidFill>
                  </a:tcPr>
                </a:tc>
                <a:extLst>
                  <a:ext uri="{0D108BD9-81ED-4DB2-BD59-A6C34878D82A}">
                    <a16:rowId xmlns:a16="http://schemas.microsoft.com/office/drawing/2014/main" val="10001"/>
                  </a:ext>
                </a:extLst>
              </a:tr>
              <a:tr h="510510">
                <a:tc>
                  <a:txBody>
                    <a:bodyPr/>
                    <a:lstStyle/>
                    <a:p>
                      <a:pPr algn="l"/>
                      <a:r>
                        <a:rPr sz="1200" b="1" i="0" u="none">
                          <a:solidFill>
                            <a:srgbClr val="CBD5E1"/>
                          </a:solidFill>
                          <a:latin typeface="Inter"/>
                        </a:rPr>
                        <a:t>Execution Speed</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Milliseconds (Instant execution feedback)</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Seconds to minutes (Inference overhead)</a:t>
                      </a:r>
                    </a:p>
                  </a:txBody>
                  <a:tcPr marL="63500" marR="63500" marT="25400" marB="25400" anchor="ctr">
                    <a:lnL>
                      <a:noFill/>
                    </a:lnL>
                    <a:lnR>
                      <a:noFill/>
                    </a:lnR>
                    <a:lnT>
                      <a:noFill/>
                    </a:lnT>
                    <a:lnB>
                      <a:noFill/>
                    </a:lnB>
                    <a:solidFill>
                      <a:srgbClr val="0F172A"/>
                    </a:solidFill>
                  </a:tcPr>
                </a:tc>
                <a:extLst>
                  <a:ext uri="{0D108BD9-81ED-4DB2-BD59-A6C34878D82A}">
                    <a16:rowId xmlns:a16="http://schemas.microsoft.com/office/drawing/2014/main" val="10002"/>
                  </a:ext>
                </a:extLst>
              </a:tr>
              <a:tr h="510510">
                <a:tc>
                  <a:txBody>
                    <a:bodyPr/>
                    <a:lstStyle/>
                    <a:p>
                      <a:pPr algn="l"/>
                      <a:r>
                        <a:rPr sz="1200" b="1" i="0" u="none">
                          <a:solidFill>
                            <a:srgbClr val="CBD5E1"/>
                          </a:solidFill>
                          <a:latin typeface="Inter"/>
                        </a:rPr>
                        <a:t>Determinism</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100% deterministic &amp; repeatable pass/fail signals</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Probabilistic, non-deterministic semantic judgment</a:t>
                      </a:r>
                    </a:p>
                  </a:txBody>
                  <a:tcPr marL="63500" marR="63500" marT="25400" marB="25400" anchor="ctr">
                    <a:lnL>
                      <a:noFill/>
                    </a:lnL>
                    <a:lnR>
                      <a:noFill/>
                    </a:lnR>
                    <a:lnT>
                      <a:noFill/>
                    </a:lnT>
                    <a:lnB>
                      <a:noFill/>
                    </a:lnB>
                    <a:solidFill>
                      <a:srgbClr val="0F172A"/>
                    </a:solidFill>
                  </a:tcPr>
                </a:tc>
                <a:extLst>
                  <a:ext uri="{0D108BD9-81ED-4DB2-BD59-A6C34878D82A}">
                    <a16:rowId xmlns:a16="http://schemas.microsoft.com/office/drawing/2014/main" val="10003"/>
                  </a:ext>
                </a:extLst>
              </a:tr>
              <a:tr h="510511">
                <a:tc>
                  <a:txBody>
                    <a:bodyPr/>
                    <a:lstStyle/>
                    <a:p>
                      <a:pPr algn="l"/>
                      <a:r>
                        <a:rPr sz="1200" b="1" i="0" u="none">
                          <a:solidFill>
                            <a:srgbClr val="CBD5E1"/>
                          </a:solidFill>
                          <a:latin typeface="Inter"/>
                        </a:rPr>
                        <a:t>Token &amp; Cost Impact</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Zero LLM token consumption, low resource cost</a:t>
                      </a:r>
                    </a:p>
                  </a:txBody>
                  <a:tcPr marL="63500" marR="63500" marT="25400" marB="25400" anchor="ctr">
                    <a:lnL>
                      <a:noFill/>
                    </a:lnL>
                    <a:lnR>
                      <a:noFill/>
                    </a:lnR>
                    <a:lnT>
                      <a:noFill/>
                    </a:lnT>
                    <a:lnB>
                      <a:noFill/>
                    </a:lnB>
                    <a:solidFill>
                      <a:srgbClr val="0F172A"/>
                    </a:solidFill>
                  </a:tcPr>
                </a:tc>
                <a:tc>
                  <a:txBody>
                    <a:bodyPr/>
                    <a:lstStyle/>
                    <a:p>
                      <a:pPr algn="l"/>
                      <a:r>
                        <a:rPr sz="1200" b="0" i="0" u="none">
                          <a:solidFill>
                            <a:srgbClr val="CBD5E1"/>
                          </a:solidFill>
                          <a:latin typeface="Inter"/>
                        </a:rPr>
                        <a:t>Consumes context window &amp; inference API budget</a:t>
                      </a:r>
                    </a:p>
                  </a:txBody>
                  <a:tcPr marL="63500" marR="63500" marT="25400" marB="25400" anchor="ctr">
                    <a:lnL>
                      <a:noFill/>
                    </a:lnL>
                    <a:lnR>
                      <a:noFill/>
                    </a:lnR>
                    <a:lnT>
                      <a:noFill/>
                    </a:lnT>
                    <a:lnB>
                      <a:noFill/>
                    </a:lnB>
                    <a:solidFill>
                      <a:srgbClr val="0F172A"/>
                    </a:solidFill>
                  </a:tcPr>
                </a:tc>
                <a:extLst>
                  <a:ext uri="{0D108BD9-81ED-4DB2-BD59-A6C34878D82A}">
                    <a16:rowId xmlns:a16="http://schemas.microsoft.com/office/drawing/2014/main" val="10004"/>
                  </a:ext>
                </a:extLst>
              </a:tr>
            </a:tbl>
          </a:graphicData>
        </a:graphic>
      </p:graphicFrame>
      <p:sp>
        <p:nvSpPr>
          <p:cNvPr id="4" name="Rectangle 3"/>
          <p:cNvSpPr/>
          <p:nvPr/>
        </p:nvSpPr>
        <p:spPr>
          <a:xfrm>
            <a:off x="1190625" y="2979390"/>
            <a:ext cx="18669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057525" y="2979390"/>
            <a:ext cx="386715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924675" y="2979390"/>
            <a:ext cx="40767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90625" y="3491805"/>
            <a:ext cx="18669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057525" y="3491805"/>
            <a:ext cx="386715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924675" y="3491805"/>
            <a:ext cx="40767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90625" y="4004220"/>
            <a:ext cx="18669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057525" y="4004220"/>
            <a:ext cx="386715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924675" y="4004220"/>
            <a:ext cx="40767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190625" y="4516635"/>
            <a:ext cx="18669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057525" y="4516635"/>
            <a:ext cx="386715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924675" y="4516635"/>
            <a:ext cx="40767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Computational vs. Inferential Controls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2433637"/>
            <a:ext cx="11125200" cy="552450"/>
          </a:xfrm>
          <a:prstGeom prst="rect">
            <a:avLst/>
          </a:prstGeom>
        </p:spPr>
      </p:pic>
      <p:pic>
        <p:nvPicPr>
          <p:cNvPr id="4" name="Picture 3" descr="image.png"/>
          <p:cNvPicPr>
            <a:picLocks noChangeAspect="1"/>
          </p:cNvPicPr>
          <p:nvPr/>
        </p:nvPicPr>
        <p:blipFill>
          <a:blip r:embed="rId3"/>
          <a:stretch>
            <a:fillRect/>
          </a:stretch>
        </p:blipFill>
        <p:spPr>
          <a:xfrm>
            <a:off x="533400" y="3128962"/>
            <a:ext cx="11125200" cy="552450"/>
          </a:xfrm>
          <a:prstGeom prst="rect">
            <a:avLst/>
          </a:prstGeom>
        </p:spPr>
      </p:pic>
      <p:pic>
        <p:nvPicPr>
          <p:cNvPr id="5" name="Picture 4" descr="image.png"/>
          <p:cNvPicPr>
            <a:picLocks noChangeAspect="1"/>
          </p:cNvPicPr>
          <p:nvPr/>
        </p:nvPicPr>
        <p:blipFill>
          <a:blip r:embed="rId3"/>
          <a:stretch>
            <a:fillRect/>
          </a:stretch>
        </p:blipFill>
        <p:spPr>
          <a:xfrm>
            <a:off x="533400" y="3824287"/>
            <a:ext cx="11125200" cy="552450"/>
          </a:xfrm>
          <a:prstGeom prst="rect">
            <a:avLst/>
          </a:prstGeom>
        </p:spPr>
      </p:pic>
      <p:pic>
        <p:nvPicPr>
          <p:cNvPr id="6" name="Picture 5" descr="image.png"/>
          <p:cNvPicPr>
            <a:picLocks noChangeAspect="1"/>
          </p:cNvPicPr>
          <p:nvPr/>
        </p:nvPicPr>
        <p:blipFill>
          <a:blip r:embed="rId4"/>
          <a:stretch>
            <a:fillRect/>
          </a:stretch>
        </p:blipFill>
        <p:spPr>
          <a:xfrm>
            <a:off x="533400" y="4519612"/>
            <a:ext cx="11125200" cy="552450"/>
          </a:xfrm>
          <a:prstGeom prst="rect">
            <a:avLst/>
          </a:prstGeom>
        </p:spPr>
      </p:pic>
      <p:pic>
        <p:nvPicPr>
          <p:cNvPr id="7" name="Picture 6" descr="image.png"/>
          <p:cNvPicPr>
            <a:picLocks noChangeAspect="1"/>
          </p:cNvPicPr>
          <p:nvPr/>
        </p:nvPicPr>
        <p:blipFill>
          <a:blip r:embed="rId5"/>
          <a:stretch>
            <a:fillRect/>
          </a:stretch>
        </p:blipFill>
        <p:spPr>
          <a:xfrm>
            <a:off x="3019425" y="2595562"/>
            <a:ext cx="8439150" cy="228600"/>
          </a:xfrm>
          <a:prstGeom prst="rect">
            <a:avLst/>
          </a:prstGeom>
        </p:spPr>
      </p:pic>
      <p:pic>
        <p:nvPicPr>
          <p:cNvPr id="8" name="Picture 7" descr="image.png"/>
          <p:cNvPicPr>
            <a:picLocks noChangeAspect="1"/>
          </p:cNvPicPr>
          <p:nvPr/>
        </p:nvPicPr>
        <p:blipFill>
          <a:blip r:embed="rId5"/>
          <a:stretch>
            <a:fillRect/>
          </a:stretch>
        </p:blipFill>
        <p:spPr>
          <a:xfrm>
            <a:off x="3019425" y="3290887"/>
            <a:ext cx="8439150" cy="228600"/>
          </a:xfrm>
          <a:prstGeom prst="rect">
            <a:avLst/>
          </a:prstGeom>
        </p:spPr>
      </p:pic>
      <p:pic>
        <p:nvPicPr>
          <p:cNvPr id="9" name="Picture 8" descr="image.png"/>
          <p:cNvPicPr>
            <a:picLocks noChangeAspect="1"/>
          </p:cNvPicPr>
          <p:nvPr/>
        </p:nvPicPr>
        <p:blipFill>
          <a:blip r:embed="rId5"/>
          <a:stretch>
            <a:fillRect/>
          </a:stretch>
        </p:blipFill>
        <p:spPr>
          <a:xfrm>
            <a:off x="3019425" y="3986212"/>
            <a:ext cx="8439150" cy="228600"/>
          </a:xfrm>
          <a:prstGeom prst="rect">
            <a:avLst/>
          </a:prstGeom>
        </p:spPr>
      </p:pic>
      <p:pic>
        <p:nvPicPr>
          <p:cNvPr id="10" name="Picture 9" descr="image.png"/>
          <p:cNvPicPr>
            <a:picLocks noChangeAspect="1"/>
          </p:cNvPicPr>
          <p:nvPr/>
        </p:nvPicPr>
        <p:blipFill>
          <a:blip r:embed="rId6"/>
          <a:stretch>
            <a:fillRect/>
          </a:stretch>
        </p:blipFill>
        <p:spPr>
          <a:xfrm>
            <a:off x="3019425" y="4681537"/>
            <a:ext cx="8439150" cy="228600"/>
          </a:xfrm>
          <a:prstGeom prst="rect">
            <a:avLst/>
          </a:prstGeom>
        </p:spPr>
      </p:pic>
      <p:pic>
        <p:nvPicPr>
          <p:cNvPr id="11" name="Picture 10" descr="image.png"/>
          <p:cNvPicPr>
            <a:picLocks noChangeAspect="1"/>
          </p:cNvPicPr>
          <p:nvPr/>
        </p:nvPicPr>
        <p:blipFill>
          <a:blip r:embed="rId7"/>
          <a:stretch>
            <a:fillRect/>
          </a:stretch>
        </p:blipFill>
        <p:spPr>
          <a:xfrm>
            <a:off x="3019425" y="2595562"/>
            <a:ext cx="2109787" cy="228600"/>
          </a:xfrm>
          <a:prstGeom prst="rect">
            <a:avLst/>
          </a:prstGeom>
        </p:spPr>
      </p:pic>
      <p:pic>
        <p:nvPicPr>
          <p:cNvPr id="12" name="Picture 11" descr="image.png"/>
          <p:cNvPicPr>
            <a:picLocks noChangeAspect="1"/>
          </p:cNvPicPr>
          <p:nvPr/>
        </p:nvPicPr>
        <p:blipFill>
          <a:blip r:embed="rId8"/>
          <a:stretch>
            <a:fillRect/>
          </a:stretch>
        </p:blipFill>
        <p:spPr>
          <a:xfrm>
            <a:off x="3019425" y="3290887"/>
            <a:ext cx="4219575" cy="228600"/>
          </a:xfrm>
          <a:prstGeom prst="rect">
            <a:avLst/>
          </a:prstGeom>
        </p:spPr>
      </p:pic>
      <p:pic>
        <p:nvPicPr>
          <p:cNvPr id="13" name="Picture 12" descr="image.png"/>
          <p:cNvPicPr>
            <a:picLocks noChangeAspect="1"/>
          </p:cNvPicPr>
          <p:nvPr/>
        </p:nvPicPr>
        <p:blipFill>
          <a:blip r:embed="rId9"/>
          <a:stretch>
            <a:fillRect/>
          </a:stretch>
        </p:blipFill>
        <p:spPr>
          <a:xfrm>
            <a:off x="3019425" y="3986212"/>
            <a:ext cx="6076057" cy="228600"/>
          </a:xfrm>
          <a:prstGeom prst="rect">
            <a:avLst/>
          </a:prstGeom>
        </p:spPr>
      </p:pic>
      <p:pic>
        <p:nvPicPr>
          <p:cNvPr id="14" name="Picture 13" descr="image.png"/>
          <p:cNvPicPr>
            <a:picLocks noChangeAspect="1"/>
          </p:cNvPicPr>
          <p:nvPr/>
        </p:nvPicPr>
        <p:blipFill>
          <a:blip r:embed="rId10"/>
          <a:stretch>
            <a:fillRect/>
          </a:stretch>
        </p:blipFill>
        <p:spPr>
          <a:xfrm>
            <a:off x="3019425" y="4681537"/>
            <a:ext cx="7848302" cy="228600"/>
          </a:xfrm>
          <a:prstGeom prst="rect">
            <a:avLst/>
          </a:prstGeom>
        </p:spPr>
      </p:pic>
      <p:sp>
        <p:nvSpPr>
          <p:cNvPr id="15" name="TextBox 14"/>
          <p:cNvSpPr txBox="1"/>
          <p:nvPr/>
        </p:nvSpPr>
        <p:spPr>
          <a:xfrm>
            <a:off x="733425" y="2619375"/>
            <a:ext cx="2095500" cy="180975"/>
          </a:xfrm>
          <a:prstGeom prst="rect">
            <a:avLst/>
          </a:prstGeom>
          <a:noFill/>
        </p:spPr>
        <p:txBody>
          <a:bodyPr wrap="square" lIns="0" tIns="0" rIns="0" bIns="0" anchor="t">
            <a:spAutoFit/>
          </a:bodyPr>
          <a:lstStyle/>
          <a:p>
            <a:pPr algn="l"/>
            <a:r>
              <a:rPr sz="1125" b="0" i="0" u="none">
                <a:solidFill>
                  <a:srgbClr val="F8FAFC"/>
                </a:solidFill>
                <a:latin typeface="Inter SemiBold"/>
              </a:rPr>
              <a:t>Naked Model Prompt</a:t>
            </a:r>
          </a:p>
        </p:txBody>
      </p:sp>
      <p:sp>
        <p:nvSpPr>
          <p:cNvPr id="16" name="TextBox 15"/>
          <p:cNvSpPr txBox="1"/>
          <p:nvPr/>
        </p:nvSpPr>
        <p:spPr>
          <a:xfrm>
            <a:off x="733425" y="3314700"/>
            <a:ext cx="2095500" cy="180975"/>
          </a:xfrm>
          <a:prstGeom prst="rect">
            <a:avLst/>
          </a:prstGeom>
          <a:noFill/>
        </p:spPr>
        <p:txBody>
          <a:bodyPr wrap="square" lIns="0" tIns="0" rIns="0" bIns="0" anchor="t">
            <a:spAutoFit/>
          </a:bodyPr>
          <a:lstStyle/>
          <a:p>
            <a:pPr algn="l"/>
            <a:r>
              <a:rPr sz="1125" b="0" i="0" u="none">
                <a:solidFill>
                  <a:srgbClr val="F8FAFC"/>
                </a:solidFill>
                <a:latin typeface="Inter SemiBold"/>
              </a:rPr>
              <a:t>Prompt Wrappers + RAG</a:t>
            </a:r>
          </a:p>
        </p:txBody>
      </p:sp>
      <p:sp>
        <p:nvSpPr>
          <p:cNvPr id="17" name="TextBox 16"/>
          <p:cNvSpPr txBox="1"/>
          <p:nvPr/>
        </p:nvSpPr>
        <p:spPr>
          <a:xfrm>
            <a:off x="733425" y="4010025"/>
            <a:ext cx="2095500" cy="180975"/>
          </a:xfrm>
          <a:prstGeom prst="rect">
            <a:avLst/>
          </a:prstGeom>
          <a:noFill/>
        </p:spPr>
        <p:txBody>
          <a:bodyPr wrap="square" lIns="0" tIns="0" rIns="0" bIns="0" anchor="t">
            <a:spAutoFit/>
          </a:bodyPr>
          <a:lstStyle/>
          <a:p>
            <a:pPr algn="l"/>
            <a:r>
              <a:rPr sz="1125" b="0" i="0" u="none">
                <a:solidFill>
                  <a:srgbClr val="F8FAFC"/>
                </a:solidFill>
                <a:latin typeface="Inter SemiBold"/>
              </a:rPr>
              <a:t>Basic ReAct Tool Loop</a:t>
            </a:r>
          </a:p>
        </p:txBody>
      </p:sp>
      <p:sp>
        <p:nvSpPr>
          <p:cNvPr id="18" name="TextBox 17"/>
          <p:cNvSpPr txBox="1"/>
          <p:nvPr/>
        </p:nvSpPr>
        <p:spPr>
          <a:xfrm>
            <a:off x="733425" y="4705350"/>
            <a:ext cx="2095500" cy="180975"/>
          </a:xfrm>
          <a:prstGeom prst="rect">
            <a:avLst/>
          </a:prstGeom>
          <a:noFill/>
        </p:spPr>
        <p:txBody>
          <a:bodyPr wrap="square" lIns="0" tIns="0" rIns="0" bIns="0" anchor="t">
            <a:spAutoFit/>
          </a:bodyPr>
          <a:lstStyle/>
          <a:p>
            <a:pPr algn="l"/>
            <a:r>
              <a:rPr sz="1125" b="0" i="0" u="none">
                <a:solidFill>
                  <a:srgbClr val="F8FAFC"/>
                </a:solidFill>
                <a:latin typeface="Inter SemiBold"/>
              </a:rPr>
              <a:t>Full Harness Infrastructure</a:t>
            </a:r>
          </a:p>
        </p:txBody>
      </p:sp>
      <p:sp>
        <p:nvSpPr>
          <p:cNvPr id="19" name="TextBox 18"/>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The Spectrum of Agent Control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1333500" y="2247900"/>
            <a:ext cx="9525000" cy="560040"/>
          </a:xfrm>
          <a:prstGeom prst="roundRect">
            <a:avLst>
              <a:gd name="adj" fmla="val 13606"/>
            </a:avLst>
          </a:prstGeom>
          <a:solidFill>
            <a:srgbClr val="1E293B"/>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57375" y="2400300"/>
            <a:ext cx="8810625" cy="255240"/>
          </a:xfrm>
          <a:prstGeom prst="rect">
            <a:avLst/>
          </a:prstGeom>
          <a:noFill/>
        </p:spPr>
        <p:txBody>
          <a:bodyPr wrap="square" lIns="0" tIns="0" rIns="0" bIns="0" anchor="t">
            <a:spAutoFit/>
          </a:bodyPr>
          <a:lstStyle/>
          <a:p>
            <a:pPr algn="l">
              <a:lnSpc>
                <a:spcPts val="1860"/>
              </a:lnSpc>
            </a:pPr>
            <a:r>
              <a:rPr sz="1200" b="0" i="0" u="none" dirty="0">
                <a:solidFill>
                  <a:srgbClr val="F8FAFC"/>
                </a:solidFill>
                <a:latin typeface="Inter SemiBold"/>
              </a:rPr>
              <a:t>Sprint Contracts:</a:t>
            </a:r>
            <a:r>
              <a:rPr sz="1200" b="0" i="0" u="none" dirty="0">
                <a:solidFill>
                  <a:srgbClr val="CBD5E1"/>
                </a:solidFill>
                <a:latin typeface="Inter"/>
              </a:rPr>
              <a:t> Formal acceptance criteria negotiated between generator and evaluator before code generation starts.</a:t>
            </a:r>
          </a:p>
        </p:txBody>
      </p:sp>
      <p:sp>
        <p:nvSpPr>
          <p:cNvPr id="5" name="Rounded Rectangle 4"/>
          <p:cNvSpPr/>
          <p:nvPr/>
        </p:nvSpPr>
        <p:spPr>
          <a:xfrm>
            <a:off x="1333500" y="2941290"/>
            <a:ext cx="9525000" cy="560040"/>
          </a:xfrm>
          <a:prstGeom prst="roundRect">
            <a:avLst>
              <a:gd name="adj" fmla="val 13606"/>
            </a:avLst>
          </a:prstGeom>
          <a:solidFill>
            <a:srgbClr val="1E293B"/>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57375" y="3093690"/>
            <a:ext cx="8810625" cy="255240"/>
          </a:xfrm>
          <a:prstGeom prst="rect">
            <a:avLst/>
          </a:prstGeom>
          <a:noFill/>
        </p:spPr>
        <p:txBody>
          <a:bodyPr wrap="square" lIns="0" tIns="0" rIns="0" bIns="0" anchor="t">
            <a:spAutoFit/>
          </a:bodyPr>
          <a:lstStyle/>
          <a:p>
            <a:pPr algn="l">
              <a:lnSpc>
                <a:spcPts val="1860"/>
              </a:lnSpc>
            </a:pPr>
            <a:r>
              <a:rPr sz="1200" b="0" i="0" u="none">
                <a:solidFill>
                  <a:srgbClr val="F8FAFC"/>
                </a:solidFill>
                <a:latin typeface="Inter SemiBold"/>
              </a:rPr>
              <a:t>Role-Split Architectures:</a:t>
            </a:r>
            <a:r>
              <a:rPr sz="1200" b="0" i="0" u="none">
                <a:solidFill>
                  <a:srgbClr val="CBD5E1"/>
                </a:solidFill>
                <a:latin typeface="Inter"/>
              </a:rPr>
              <a:t> Decouple Planner, Generator, and Evaluator into distinct isolated invocation contexts.</a:t>
            </a:r>
          </a:p>
        </p:txBody>
      </p:sp>
      <p:sp>
        <p:nvSpPr>
          <p:cNvPr id="7" name="Rounded Rectangle 6"/>
          <p:cNvSpPr/>
          <p:nvPr/>
        </p:nvSpPr>
        <p:spPr>
          <a:xfrm>
            <a:off x="1333500" y="3634680"/>
            <a:ext cx="9525000" cy="560040"/>
          </a:xfrm>
          <a:prstGeom prst="roundRect">
            <a:avLst>
              <a:gd name="adj" fmla="val 13606"/>
            </a:avLst>
          </a:prstGeom>
          <a:solidFill>
            <a:srgbClr val="1E293B"/>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57375" y="3787080"/>
            <a:ext cx="8810625" cy="255240"/>
          </a:xfrm>
          <a:prstGeom prst="rect">
            <a:avLst/>
          </a:prstGeom>
          <a:noFill/>
        </p:spPr>
        <p:txBody>
          <a:bodyPr wrap="square" lIns="0" tIns="0" rIns="0" bIns="0" anchor="t">
            <a:spAutoFit/>
          </a:bodyPr>
          <a:lstStyle/>
          <a:p>
            <a:pPr algn="l">
              <a:lnSpc>
                <a:spcPts val="1860"/>
              </a:lnSpc>
            </a:pPr>
            <a:r>
              <a:rPr sz="1200" b="0" i="0" u="none">
                <a:solidFill>
                  <a:srgbClr val="F8FAFC"/>
                </a:solidFill>
                <a:latin typeface="Inter SemiBold"/>
              </a:rPr>
              <a:t>Ephemeral Sandboxing:</a:t>
            </a:r>
            <a:r>
              <a:rPr sz="1200" b="0" i="0" u="none">
                <a:solidFill>
                  <a:srgbClr val="CBD5E1"/>
                </a:solidFill>
                <a:latin typeface="Inter"/>
              </a:rPr>
              <a:t> Execute all terminal commands inside ephemeral micro-VMs or container sandboxes.</a:t>
            </a:r>
          </a:p>
        </p:txBody>
      </p:sp>
      <p:sp>
        <p:nvSpPr>
          <p:cNvPr id="9" name="Rounded Rectangle 8"/>
          <p:cNvSpPr/>
          <p:nvPr/>
        </p:nvSpPr>
        <p:spPr>
          <a:xfrm>
            <a:off x="1333500" y="4328070"/>
            <a:ext cx="9525000" cy="796230"/>
          </a:xfrm>
          <a:prstGeom prst="roundRect">
            <a:avLst>
              <a:gd name="adj" fmla="val 9570"/>
            </a:avLst>
          </a:prstGeom>
          <a:solidFill>
            <a:srgbClr val="1E293B"/>
          </a:solid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57375" y="4480470"/>
            <a:ext cx="8810625" cy="491430"/>
          </a:xfrm>
          <a:prstGeom prst="rect">
            <a:avLst/>
          </a:prstGeom>
          <a:noFill/>
        </p:spPr>
        <p:txBody>
          <a:bodyPr wrap="square" lIns="0" tIns="0" rIns="0" bIns="0" anchor="t">
            <a:spAutoFit/>
          </a:bodyPr>
          <a:lstStyle/>
          <a:p>
            <a:pPr algn="l">
              <a:lnSpc>
                <a:spcPts val="1860"/>
              </a:lnSpc>
            </a:pPr>
            <a:r>
              <a:rPr sz="1200" b="0" i="0" u="none">
                <a:solidFill>
                  <a:srgbClr val="F8FAFC"/>
                </a:solidFill>
                <a:latin typeface="Inter SemiBold"/>
              </a:rPr>
              <a:t>Aggressive Context Compaction:</a:t>
            </a:r>
            <a:r>
              <a:rPr sz="1200" b="0" i="0" u="none">
                <a:solidFill>
                  <a:srgbClr val="CBD5E1"/>
                </a:solidFill>
                <a:latin typeface="Inter"/>
              </a:rPr>
              <a:t> Automatically collapse historical execution logs into local file pointers and concise state summaries.</a:t>
            </a:r>
          </a:p>
        </p:txBody>
      </p:sp>
      <p:sp>
        <p:nvSpPr>
          <p:cNvPr id="11" name="Rectangle 10"/>
          <p:cNvSpPr/>
          <p:nvPr/>
        </p:nvSpPr>
        <p:spPr>
          <a:xfrm>
            <a:off x="1333500" y="2798415"/>
            <a:ext cx="9525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333500" y="3491805"/>
            <a:ext cx="9525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333500" y="4185195"/>
            <a:ext cx="9525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333500" y="5114776"/>
            <a:ext cx="9525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3"/>
          <a:stretch>
            <a:fillRect/>
          </a:stretch>
        </p:blipFill>
        <p:spPr>
          <a:xfrm>
            <a:off x="1514475" y="2424112"/>
            <a:ext cx="219075" cy="200025"/>
          </a:xfrm>
          <a:prstGeom prst="rect">
            <a:avLst/>
          </a:prstGeom>
        </p:spPr>
      </p:pic>
      <p:pic>
        <p:nvPicPr>
          <p:cNvPr id="16" name="Picture 15" descr="image.png"/>
          <p:cNvPicPr>
            <a:picLocks noChangeAspect="1"/>
          </p:cNvPicPr>
          <p:nvPr/>
        </p:nvPicPr>
        <p:blipFill>
          <a:blip r:embed="rId4"/>
          <a:stretch>
            <a:fillRect/>
          </a:stretch>
        </p:blipFill>
        <p:spPr>
          <a:xfrm>
            <a:off x="1514475" y="3117502"/>
            <a:ext cx="238125" cy="200025"/>
          </a:xfrm>
          <a:prstGeom prst="rect">
            <a:avLst/>
          </a:prstGeom>
        </p:spPr>
      </p:pic>
      <p:pic>
        <p:nvPicPr>
          <p:cNvPr id="17" name="Picture 16" descr="image.png"/>
          <p:cNvPicPr>
            <a:picLocks noChangeAspect="1"/>
          </p:cNvPicPr>
          <p:nvPr/>
        </p:nvPicPr>
        <p:blipFill>
          <a:blip r:embed="rId5"/>
          <a:stretch>
            <a:fillRect/>
          </a:stretch>
        </p:blipFill>
        <p:spPr>
          <a:xfrm>
            <a:off x="1514475" y="3810892"/>
            <a:ext cx="190500" cy="200025"/>
          </a:xfrm>
          <a:prstGeom prst="rect">
            <a:avLst/>
          </a:prstGeom>
        </p:spPr>
      </p:pic>
      <p:pic>
        <p:nvPicPr>
          <p:cNvPr id="18" name="Picture 17" descr="image.png"/>
          <p:cNvPicPr>
            <a:picLocks noChangeAspect="1"/>
          </p:cNvPicPr>
          <p:nvPr/>
        </p:nvPicPr>
        <p:blipFill>
          <a:blip r:embed="rId6"/>
          <a:stretch>
            <a:fillRect/>
          </a:stretch>
        </p:blipFill>
        <p:spPr>
          <a:xfrm>
            <a:off x="1514475" y="4504283"/>
            <a:ext cx="219075" cy="200025"/>
          </a:xfrm>
          <a:prstGeom prst="rect">
            <a:avLst/>
          </a:prstGeom>
        </p:spPr>
      </p:pic>
      <p:sp>
        <p:nvSpPr>
          <p:cNvPr id="19" name="TextBox 18"/>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Core Harness Architectural Patterns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701105" y="2799457"/>
            <a:ext cx="8789640" cy="1439912"/>
          </a:xfrm>
          <a:prstGeom prst="rect">
            <a:avLst/>
          </a:prstGeom>
          <a:noFill/>
        </p:spPr>
        <p:txBody>
          <a:bodyPr wrap="square" lIns="0" tIns="0" rIns="0" bIns="0" anchor="t">
            <a:spAutoFit/>
          </a:bodyPr>
          <a:lstStyle/>
          <a:p>
            <a:pPr algn="ctr">
              <a:lnSpc>
                <a:spcPts val="3779"/>
              </a:lnSpc>
            </a:pPr>
            <a:r>
              <a:rPr sz="2700" b="0" i="0" u="none">
                <a:solidFill>
                  <a:srgbClr val="F8FAFC"/>
                </a:solidFill>
                <a:latin typeface="Plus Jakarta Sans Medium"/>
              </a:rPr>
              <a:t>Anytime you find an agent makes a mistake, engineer a solution into the harness so that the agent never makes that mistake again.</a:t>
            </a:r>
          </a:p>
        </p:txBody>
      </p:sp>
      <p:sp>
        <p:nvSpPr>
          <p:cNvPr id="4" name="TextBox 3"/>
          <p:cNvSpPr txBox="1"/>
          <p:nvPr/>
        </p:nvSpPr>
        <p:spPr>
          <a:xfrm>
            <a:off x="5100488" y="4477494"/>
            <a:ext cx="1990725" cy="228600"/>
          </a:xfrm>
          <a:prstGeom prst="rect">
            <a:avLst/>
          </a:prstGeom>
          <a:noFill/>
        </p:spPr>
        <p:txBody>
          <a:bodyPr wrap="square" lIns="0" tIns="0" rIns="0" bIns="0" anchor="t">
            <a:spAutoFit/>
          </a:bodyPr>
          <a:lstStyle/>
          <a:p>
            <a:pPr algn="ctr"/>
            <a:r>
              <a:rPr sz="1500" b="0" i="0" u="none">
                <a:solidFill>
                  <a:srgbClr val="38BDF8"/>
                </a:solidFill>
                <a:latin typeface="Inter SemiBold"/>
              </a:rPr>
              <a:t>— Mitchell Hashimoto</a:t>
            </a:r>
          </a:p>
        </p:txBody>
      </p:sp>
      <p:sp>
        <p:nvSpPr>
          <p:cNvPr id="5" name="TextBox 4"/>
          <p:cNvSpPr txBox="1"/>
          <p:nvPr/>
        </p:nvSpPr>
        <p:spPr>
          <a:xfrm>
            <a:off x="1224855" y="3037582"/>
            <a:ext cx="323850" cy="962025"/>
          </a:xfrm>
          <a:prstGeom prst="rect">
            <a:avLst/>
          </a:prstGeom>
          <a:noFill/>
        </p:spPr>
        <p:txBody>
          <a:bodyPr wrap="square" lIns="0" tIns="0" rIns="0" bIns="0" anchor="t">
            <a:spAutoFit/>
          </a:bodyPr>
          <a:lstStyle/>
          <a:p>
            <a:pPr algn="l">
              <a:lnSpc>
                <a:spcPts val="0"/>
              </a:lnSpc>
            </a:pPr>
            <a:r>
              <a:rPr sz="6000" b="0" i="0" u="none">
                <a:solidFill>
                  <a:srgbClr val="38BDF8"/>
                </a:solidFill>
                <a:latin typeface="Plus Jakarta Sans Medium"/>
              </a:rPr>
              <a:t>"</a:t>
            </a:r>
          </a:p>
        </p:txBody>
      </p:sp>
      <p:sp>
        <p:nvSpPr>
          <p:cNvPr id="6" name="TextBox 5"/>
          <p:cNvSpPr txBox="1"/>
          <p:nvPr/>
        </p:nvSpPr>
        <p:spPr>
          <a:xfrm>
            <a:off x="10643146" y="4239370"/>
            <a:ext cx="323850" cy="962025"/>
          </a:xfrm>
          <a:prstGeom prst="rect">
            <a:avLst/>
          </a:prstGeom>
          <a:noFill/>
        </p:spPr>
        <p:txBody>
          <a:bodyPr wrap="square" lIns="0" tIns="0" rIns="0" bIns="0" anchor="t">
            <a:spAutoFit/>
          </a:bodyPr>
          <a:lstStyle/>
          <a:p>
            <a:pPr algn="l">
              <a:lnSpc>
                <a:spcPts val="0"/>
              </a:lnSpc>
            </a:pPr>
            <a:r>
              <a:rPr sz="6000" b="0" i="0" u="none">
                <a:solidFill>
                  <a:srgbClr val="38BDF8"/>
                </a:solidFill>
                <a:latin typeface="Plus Jakarta Sans Medium"/>
              </a:rPr>
              <a:t>"</a:t>
            </a:r>
          </a:p>
        </p:txBody>
      </p:sp>
      <p:sp>
        <p:nvSpPr>
          <p:cNvPr id="7" name="TextBox 6"/>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The Steering Loop Mindset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1681162"/>
            <a:ext cx="5419725" cy="4143226"/>
          </a:xfrm>
          <a:prstGeom prst="rect">
            <a:avLst/>
          </a:prstGeom>
        </p:spPr>
      </p:pic>
      <p:pic>
        <p:nvPicPr>
          <p:cNvPr id="4" name="Picture 3" descr="image.png"/>
          <p:cNvPicPr>
            <a:picLocks noChangeAspect="1"/>
          </p:cNvPicPr>
          <p:nvPr/>
        </p:nvPicPr>
        <p:blipFill>
          <a:blip r:embed="rId4"/>
          <a:stretch>
            <a:fillRect/>
          </a:stretch>
        </p:blipFill>
        <p:spPr>
          <a:xfrm>
            <a:off x="6238875" y="1681162"/>
            <a:ext cx="5419725" cy="4143226"/>
          </a:xfrm>
          <a:prstGeom prst="rect">
            <a:avLst/>
          </a:prstGeom>
        </p:spPr>
      </p:pic>
      <p:pic>
        <p:nvPicPr>
          <p:cNvPr id="5" name="Picture 4" descr="image.png"/>
          <p:cNvPicPr>
            <a:picLocks noChangeAspect="1"/>
          </p:cNvPicPr>
          <p:nvPr/>
        </p:nvPicPr>
        <p:blipFill>
          <a:blip r:embed="rId5"/>
          <a:stretch>
            <a:fillRect/>
          </a:stretch>
        </p:blipFill>
        <p:spPr>
          <a:xfrm>
            <a:off x="781050" y="2167532"/>
            <a:ext cx="247650" cy="247650"/>
          </a:xfrm>
          <a:prstGeom prst="rect">
            <a:avLst/>
          </a:prstGeom>
        </p:spPr>
      </p:pic>
      <p:pic>
        <p:nvPicPr>
          <p:cNvPr id="6" name="Picture 5" descr="image.png"/>
          <p:cNvPicPr>
            <a:picLocks noChangeAspect="1"/>
          </p:cNvPicPr>
          <p:nvPr/>
        </p:nvPicPr>
        <p:blipFill>
          <a:blip r:embed="rId6"/>
          <a:stretch>
            <a:fillRect/>
          </a:stretch>
        </p:blipFill>
        <p:spPr>
          <a:xfrm>
            <a:off x="933450" y="2949326"/>
            <a:ext cx="114300" cy="152400"/>
          </a:xfrm>
          <a:prstGeom prst="rect">
            <a:avLst/>
          </a:prstGeom>
        </p:spPr>
      </p:pic>
      <p:pic>
        <p:nvPicPr>
          <p:cNvPr id="7" name="Picture 6" descr="image.png"/>
          <p:cNvPicPr>
            <a:picLocks noChangeAspect="1"/>
          </p:cNvPicPr>
          <p:nvPr/>
        </p:nvPicPr>
        <p:blipFill>
          <a:blip r:embed="rId7"/>
          <a:stretch>
            <a:fillRect/>
          </a:stretch>
        </p:blipFill>
        <p:spPr>
          <a:xfrm>
            <a:off x="933450" y="3620000"/>
            <a:ext cx="171450" cy="152400"/>
          </a:xfrm>
          <a:prstGeom prst="rect">
            <a:avLst/>
          </a:prstGeom>
        </p:spPr>
      </p:pic>
      <p:pic>
        <p:nvPicPr>
          <p:cNvPr id="9" name="Picture 8" descr="image.png"/>
          <p:cNvPicPr>
            <a:picLocks noChangeAspect="1"/>
          </p:cNvPicPr>
          <p:nvPr/>
        </p:nvPicPr>
        <p:blipFill>
          <a:blip r:embed="rId8"/>
          <a:stretch>
            <a:fillRect/>
          </a:stretch>
        </p:blipFill>
        <p:spPr>
          <a:xfrm>
            <a:off x="6486525" y="2167532"/>
            <a:ext cx="247650" cy="247650"/>
          </a:xfrm>
          <a:prstGeom prst="rect">
            <a:avLst/>
          </a:prstGeom>
        </p:spPr>
      </p:pic>
      <p:pic>
        <p:nvPicPr>
          <p:cNvPr id="10" name="Picture 9" descr="image.png"/>
          <p:cNvPicPr>
            <a:picLocks noChangeAspect="1"/>
          </p:cNvPicPr>
          <p:nvPr/>
        </p:nvPicPr>
        <p:blipFill>
          <a:blip r:embed="rId9"/>
          <a:stretch>
            <a:fillRect/>
          </a:stretch>
        </p:blipFill>
        <p:spPr>
          <a:xfrm>
            <a:off x="6638925" y="2949326"/>
            <a:ext cx="133350" cy="152400"/>
          </a:xfrm>
          <a:prstGeom prst="rect">
            <a:avLst/>
          </a:prstGeom>
        </p:spPr>
      </p:pic>
      <p:pic>
        <p:nvPicPr>
          <p:cNvPr id="11" name="Picture 10" descr="image.png"/>
          <p:cNvPicPr>
            <a:picLocks noChangeAspect="1"/>
          </p:cNvPicPr>
          <p:nvPr/>
        </p:nvPicPr>
        <p:blipFill>
          <a:blip r:embed="rId10"/>
          <a:stretch>
            <a:fillRect/>
          </a:stretch>
        </p:blipFill>
        <p:spPr>
          <a:xfrm>
            <a:off x="6638925" y="3620000"/>
            <a:ext cx="152400" cy="152400"/>
          </a:xfrm>
          <a:prstGeom prst="rect">
            <a:avLst/>
          </a:prstGeom>
        </p:spPr>
      </p:pic>
      <p:sp>
        <p:nvSpPr>
          <p:cNvPr id="13" name="TextBox 12"/>
          <p:cNvSpPr txBox="1"/>
          <p:nvPr/>
        </p:nvSpPr>
        <p:spPr>
          <a:xfrm>
            <a:off x="1143000" y="1957387"/>
            <a:ext cx="3300412" cy="266700"/>
          </a:xfrm>
          <a:prstGeom prst="rect">
            <a:avLst/>
          </a:prstGeom>
          <a:noFill/>
        </p:spPr>
        <p:txBody>
          <a:bodyPr wrap="square" lIns="0" tIns="0" rIns="0" bIns="0" anchor="t">
            <a:spAutoFit/>
          </a:bodyPr>
          <a:lstStyle/>
          <a:p>
            <a:pPr algn="l"/>
            <a:r>
              <a:rPr sz="1650" b="0" i="0" u="none" dirty="0">
                <a:solidFill>
                  <a:srgbClr val="F8FAFC"/>
                </a:solidFill>
                <a:latin typeface="Plus Jakarta Sans SemiBold"/>
              </a:rPr>
              <a:t>Spec-Driven Development: The Methodology</a:t>
            </a:r>
          </a:p>
        </p:txBody>
      </p:sp>
      <p:sp>
        <p:nvSpPr>
          <p:cNvPr id="14" name="TextBox 13"/>
          <p:cNvSpPr txBox="1"/>
          <p:nvPr/>
        </p:nvSpPr>
        <p:spPr>
          <a:xfrm>
            <a:off x="1104900" y="2517412"/>
            <a:ext cx="3143250" cy="191839"/>
          </a:xfrm>
          <a:prstGeom prst="rect">
            <a:avLst/>
          </a:prstGeom>
          <a:noFill/>
        </p:spPr>
        <p:txBody>
          <a:bodyPr wrap="square" lIns="0" tIns="0" rIns="0" bIns="0" anchor="t">
            <a:spAutoFit/>
          </a:bodyPr>
          <a:lstStyle/>
          <a:p>
            <a:pPr algn="l">
              <a:lnSpc>
                <a:spcPts val="1511"/>
              </a:lnSpc>
            </a:pPr>
            <a:r>
              <a:rPr sz="975" b="0" i="0" u="none" dirty="0">
                <a:solidFill>
                  <a:srgbClr val="38BDF8"/>
                </a:solidFill>
                <a:latin typeface="Inter"/>
              </a:rPr>
              <a:t>What teams commit to doing</a:t>
            </a:r>
          </a:p>
        </p:txBody>
      </p:sp>
      <p:sp>
        <p:nvSpPr>
          <p:cNvPr id="15" name="TextBox 14"/>
          <p:cNvSpPr txBox="1"/>
          <p:nvPr/>
        </p:nvSpPr>
        <p:spPr>
          <a:xfrm>
            <a:off x="1162050" y="2920751"/>
            <a:ext cx="4391025" cy="161925"/>
          </a:xfrm>
          <a:prstGeom prst="rect">
            <a:avLst/>
          </a:prstGeom>
          <a:noFill/>
        </p:spPr>
        <p:txBody>
          <a:bodyPr wrap="square" lIns="0" tIns="0" rIns="0" bIns="0" anchor="t">
            <a:spAutoFit/>
          </a:bodyPr>
          <a:lstStyle/>
          <a:p>
            <a:pPr algn="l"/>
            <a:r>
              <a:rPr sz="1050" b="1" i="0" u="none">
                <a:solidFill>
                  <a:srgbClr val="F8FAFC"/>
                </a:solidFill>
                <a:latin typeface="Inter"/>
              </a:rPr>
              <a:t>Define the Spec First</a:t>
            </a:r>
          </a:p>
        </p:txBody>
      </p:sp>
      <p:sp>
        <p:nvSpPr>
          <p:cNvPr id="16" name="TextBox 15"/>
          <p:cNvSpPr txBox="1"/>
          <p:nvPr/>
        </p:nvSpPr>
        <p:spPr>
          <a:xfrm>
            <a:off x="1162050" y="3101726"/>
            <a:ext cx="439102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Write the acceptance criteria and Definition of Done before any code is generated, not after.</a:t>
            </a:r>
          </a:p>
        </p:txBody>
      </p:sp>
      <p:sp>
        <p:nvSpPr>
          <p:cNvPr id="17" name="TextBox 16"/>
          <p:cNvSpPr txBox="1"/>
          <p:nvPr/>
        </p:nvSpPr>
        <p:spPr>
          <a:xfrm>
            <a:off x="1219200" y="3600000"/>
            <a:ext cx="4333875" cy="161925"/>
          </a:xfrm>
          <a:prstGeom prst="rect">
            <a:avLst/>
          </a:prstGeom>
          <a:noFill/>
        </p:spPr>
        <p:txBody>
          <a:bodyPr wrap="square" lIns="0" tIns="0" rIns="0" bIns="0" anchor="t">
            <a:spAutoFit/>
          </a:bodyPr>
          <a:lstStyle/>
          <a:p>
            <a:pPr algn="l"/>
            <a:r>
              <a:rPr sz="1050" b="1" i="0" u="none">
                <a:solidFill>
                  <a:srgbClr val="F8FAFC"/>
                </a:solidFill>
                <a:latin typeface="Inter"/>
              </a:rPr>
              <a:t>Generate &amp; Verify Against It</a:t>
            </a:r>
          </a:p>
        </p:txBody>
      </p:sp>
      <p:sp>
        <p:nvSpPr>
          <p:cNvPr id="18" name="TextBox 17"/>
          <p:cNvSpPr txBox="1"/>
          <p:nvPr/>
        </p:nvSpPr>
        <p:spPr>
          <a:xfrm>
            <a:off x="1219200" y="3781000"/>
            <a:ext cx="43338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The model targets a fixed spec, and every change is checked against it before shipping.</a:t>
            </a:r>
          </a:p>
        </p:txBody>
      </p:sp>
      <p:sp>
        <p:nvSpPr>
          <p:cNvPr id="21" name="TextBox 20"/>
          <p:cNvSpPr txBox="1"/>
          <p:nvPr/>
        </p:nvSpPr>
        <p:spPr>
          <a:xfrm>
            <a:off x="6848475" y="1957387"/>
            <a:ext cx="3060382" cy="266700"/>
          </a:xfrm>
          <a:prstGeom prst="rect">
            <a:avLst/>
          </a:prstGeom>
          <a:noFill/>
        </p:spPr>
        <p:txBody>
          <a:bodyPr wrap="square" lIns="0" tIns="0" rIns="0" bIns="0" anchor="t">
            <a:spAutoFit/>
          </a:bodyPr>
          <a:lstStyle/>
          <a:p>
            <a:pPr algn="l"/>
            <a:r>
              <a:rPr sz="1650" b="0" i="0" u="none">
                <a:solidFill>
                  <a:srgbClr val="F8FAFC"/>
                </a:solidFill>
                <a:latin typeface="Plus Jakarta Sans SemiBold"/>
              </a:rPr>
              <a:t>Harness Engineering: The Infrastructure</a:t>
            </a:r>
          </a:p>
        </p:txBody>
      </p:sp>
      <p:sp>
        <p:nvSpPr>
          <p:cNvPr id="22" name="TextBox 21"/>
          <p:cNvSpPr txBox="1"/>
          <p:nvPr/>
        </p:nvSpPr>
        <p:spPr>
          <a:xfrm>
            <a:off x="6848475" y="2319337"/>
            <a:ext cx="2914650" cy="191839"/>
          </a:xfrm>
          <a:prstGeom prst="rect">
            <a:avLst/>
          </a:prstGeom>
          <a:noFill/>
        </p:spPr>
        <p:txBody>
          <a:bodyPr wrap="square" lIns="0" tIns="0" rIns="0" bIns="0" anchor="t">
            <a:spAutoFit/>
          </a:bodyPr>
          <a:lstStyle/>
          <a:p>
            <a:pPr algn="l">
              <a:lnSpc>
                <a:spcPts val="1511"/>
              </a:lnSpc>
            </a:pPr>
            <a:r>
              <a:rPr sz="975" b="0" i="0" u="none">
                <a:solidFill>
                  <a:srgbClr val="818CF8"/>
                </a:solidFill>
                <a:latin typeface="Inter"/>
              </a:rPr>
              <a:t>What makes the methodology enforceable</a:t>
            </a:r>
          </a:p>
        </p:txBody>
      </p:sp>
      <p:sp>
        <p:nvSpPr>
          <p:cNvPr id="23" name="TextBox 22"/>
          <p:cNvSpPr txBox="1"/>
          <p:nvPr/>
        </p:nvSpPr>
        <p:spPr>
          <a:xfrm>
            <a:off x="6886575" y="2920751"/>
            <a:ext cx="4371975" cy="161925"/>
          </a:xfrm>
          <a:prstGeom prst="rect">
            <a:avLst/>
          </a:prstGeom>
          <a:noFill/>
        </p:spPr>
        <p:txBody>
          <a:bodyPr wrap="square" lIns="0" tIns="0" rIns="0" bIns="0" anchor="t">
            <a:spAutoFit/>
          </a:bodyPr>
          <a:lstStyle/>
          <a:p>
            <a:pPr algn="l"/>
            <a:r>
              <a:rPr sz="1050" b="1" i="0" u="none">
                <a:solidFill>
                  <a:srgbClr val="F8FAFC"/>
                </a:solidFill>
                <a:latin typeface="Inter"/>
              </a:rPr>
              <a:t>Guides Encode the Spec</a:t>
            </a:r>
          </a:p>
        </p:txBody>
      </p:sp>
      <p:sp>
        <p:nvSpPr>
          <p:cNvPr id="24" name="TextBox 23"/>
          <p:cNvSpPr txBox="1"/>
          <p:nvPr/>
        </p:nvSpPr>
        <p:spPr>
          <a:xfrm>
            <a:off x="6886575" y="3101726"/>
            <a:ext cx="4371975" cy="383678"/>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Feedforward controls (AGENTS.md, Sprint Contracts) put the spec directly in front of the model before it generates.</a:t>
            </a:r>
          </a:p>
        </p:txBody>
      </p:sp>
      <p:sp>
        <p:nvSpPr>
          <p:cNvPr id="25" name="TextBox 24"/>
          <p:cNvSpPr txBox="1"/>
          <p:nvPr/>
        </p:nvSpPr>
        <p:spPr>
          <a:xfrm>
            <a:off x="6905625" y="3600000"/>
            <a:ext cx="4343400" cy="161925"/>
          </a:xfrm>
          <a:prstGeom prst="rect">
            <a:avLst/>
          </a:prstGeom>
          <a:noFill/>
        </p:spPr>
        <p:txBody>
          <a:bodyPr wrap="square" lIns="0" tIns="0" rIns="0" bIns="0" anchor="t">
            <a:spAutoFit/>
          </a:bodyPr>
          <a:lstStyle/>
          <a:p>
            <a:pPr algn="l"/>
            <a:r>
              <a:rPr sz="1050" b="1" i="0" u="none">
                <a:solidFill>
                  <a:srgbClr val="F8FAFC"/>
                </a:solidFill>
                <a:latin typeface="Inter"/>
              </a:rPr>
              <a:t>Sensors &amp; Sandboxes Verify It</a:t>
            </a:r>
          </a:p>
        </p:txBody>
      </p:sp>
      <p:sp>
        <p:nvSpPr>
          <p:cNvPr id="26" name="TextBox 25"/>
          <p:cNvSpPr txBox="1"/>
          <p:nvPr/>
        </p:nvSpPr>
        <p:spPr>
          <a:xfrm>
            <a:off x="6905625" y="3781000"/>
            <a:ext cx="4343400" cy="191839"/>
          </a:xfrm>
          <a:prstGeom prst="rect">
            <a:avLst/>
          </a:prstGeom>
          <a:noFill/>
        </p:spPr>
        <p:txBody>
          <a:bodyPr wrap="square" lIns="0" tIns="0" rIns="0" bIns="0" anchor="t">
            <a:spAutoFit/>
          </a:bodyPr>
          <a:lstStyle/>
          <a:p>
            <a:pPr algn="l">
              <a:lnSpc>
                <a:spcPts val="1511"/>
              </a:lnSpc>
            </a:pPr>
            <a:r>
              <a:rPr sz="975" b="0" i="0" u="none">
                <a:solidFill>
                  <a:srgbClr val="94A3B8"/>
                </a:solidFill>
                <a:latin typeface="Inter"/>
              </a:rPr>
              <a:t>Feedback controls and safe, repeatable execution check the output automatically.</a:t>
            </a:r>
          </a:p>
        </p:txBody>
      </p:sp>
      <p:sp>
        <p:nvSpPr>
          <p:cNvPr id="29" name="TextBox 28"/>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Harness Engineering &amp; Spec-Driven Development</a:t>
            </a:r>
          </a:p>
        </p:txBody>
      </p:sp>
      <p:sp>
        <p:nvSpPr>
          <p:cNvPr id="31" name="TextBox 30"/>
          <p:cNvSpPr txBox="1"/>
          <p:nvPr/>
        </p:nvSpPr>
        <p:spPr>
          <a:xfrm>
            <a:off x="533400" y="1275438"/>
            <a:ext cx="11658600" cy="300000"/>
          </a:xfrm>
          <a:prstGeom prst="rect">
            <a:avLst/>
          </a:prstGeom>
          <a:noFill/>
        </p:spPr>
        <p:txBody>
          <a:bodyPr wrap="square">
            <a:spAutoFit/>
          </a:bodyPr>
          <a:lstStyle/>
          <a:p>
            <a:r>
              <a:rPr sz="1200" dirty="0">
                <a:solidFill>
                  <a:srgbClr val="94A3B8"/>
                </a:solidFill>
                <a:latin typeface="Inter"/>
              </a:rPr>
              <a:t>Spec-Driven Development is the practice; Harness Engineering is what makes it enforceable at scale.</a:t>
            </a:r>
          </a:p>
        </p:txBody>
      </p:sp>
      <p:sp>
        <p:nvSpPr>
          <p:cNvPr id="32" name="TextBox 31"/>
          <p:cNvSpPr txBox="1"/>
          <p:nvPr/>
        </p:nvSpPr>
        <p:spPr>
          <a:xfrm>
            <a:off x="5750000" y="3400000"/>
            <a:ext cx="700000" cy="700000"/>
          </a:xfrm>
          <a:prstGeom prst="rect">
            <a:avLst/>
          </a:prstGeom>
          <a:noFill/>
        </p:spPr>
        <p:txBody>
          <a:bodyPr wrap="square">
            <a:spAutoFit/>
          </a:bodyPr>
          <a:lstStyle/>
          <a:p>
            <a:pPr algn="ctr"/>
            <a:r>
              <a:rPr sz="3600" b="1">
                <a:solidFill>
                  <a:srgbClr val="38BDF8"/>
                </a:solidFill>
                <a:latin typeface="Plus Jakarta Sans"/>
              </a:rPr>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3733800"/>
            <a:ext cx="11125200" cy="38100"/>
          </a:xfrm>
          <a:prstGeom prst="rect">
            <a:avLst/>
          </a:prstGeom>
        </p:spPr>
      </p:pic>
      <p:pic>
        <p:nvPicPr>
          <p:cNvPr id="4" name="Picture 3" descr="image.png"/>
          <p:cNvPicPr>
            <a:picLocks noChangeAspect="1"/>
          </p:cNvPicPr>
          <p:nvPr/>
        </p:nvPicPr>
        <p:blipFill>
          <a:blip r:embed="rId4"/>
          <a:stretch>
            <a:fillRect/>
          </a:stretch>
        </p:blipFill>
        <p:spPr>
          <a:xfrm>
            <a:off x="533400" y="3990975"/>
            <a:ext cx="2447478" cy="1174253"/>
          </a:xfrm>
          <a:prstGeom prst="rect">
            <a:avLst/>
          </a:prstGeom>
        </p:spPr>
      </p:pic>
      <p:pic>
        <p:nvPicPr>
          <p:cNvPr id="5" name="Picture 4" descr="image.png"/>
          <p:cNvPicPr>
            <a:picLocks noChangeAspect="1"/>
          </p:cNvPicPr>
          <p:nvPr/>
        </p:nvPicPr>
        <p:blipFill>
          <a:blip r:embed="rId5"/>
          <a:stretch>
            <a:fillRect/>
          </a:stretch>
        </p:blipFill>
        <p:spPr>
          <a:xfrm>
            <a:off x="3425874" y="2340471"/>
            <a:ext cx="2447478" cy="1174253"/>
          </a:xfrm>
          <a:prstGeom prst="rect">
            <a:avLst/>
          </a:prstGeom>
        </p:spPr>
      </p:pic>
      <p:pic>
        <p:nvPicPr>
          <p:cNvPr id="6" name="Picture 5" descr="image.png"/>
          <p:cNvPicPr>
            <a:picLocks noChangeAspect="1"/>
          </p:cNvPicPr>
          <p:nvPr/>
        </p:nvPicPr>
        <p:blipFill>
          <a:blip r:embed="rId6"/>
          <a:stretch>
            <a:fillRect/>
          </a:stretch>
        </p:blipFill>
        <p:spPr>
          <a:xfrm>
            <a:off x="6318349" y="3990975"/>
            <a:ext cx="2447478" cy="1174253"/>
          </a:xfrm>
          <a:prstGeom prst="rect">
            <a:avLst/>
          </a:prstGeom>
        </p:spPr>
      </p:pic>
      <p:pic>
        <p:nvPicPr>
          <p:cNvPr id="7" name="Picture 6" descr="image.png"/>
          <p:cNvPicPr>
            <a:picLocks noChangeAspect="1"/>
          </p:cNvPicPr>
          <p:nvPr/>
        </p:nvPicPr>
        <p:blipFill>
          <a:blip r:embed="rId7"/>
          <a:stretch>
            <a:fillRect/>
          </a:stretch>
        </p:blipFill>
        <p:spPr>
          <a:xfrm>
            <a:off x="9210823" y="1956792"/>
            <a:ext cx="2447478" cy="1557932"/>
          </a:xfrm>
          <a:prstGeom prst="rect">
            <a:avLst/>
          </a:prstGeom>
        </p:spPr>
      </p:pic>
      <p:sp>
        <p:nvSpPr>
          <p:cNvPr id="8" name="TextBox 7"/>
          <p:cNvSpPr txBox="1"/>
          <p:nvPr/>
        </p:nvSpPr>
        <p:spPr>
          <a:xfrm>
            <a:off x="66223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/spine Central</a:t>
            </a:r>
          </a:p>
        </p:txBody>
      </p:sp>
      <p:sp>
        <p:nvSpPr>
          <p:cNvPr id="9" name="TextBox 8"/>
          <p:cNvSpPr txBox="1"/>
          <p:nvPr/>
        </p:nvSpPr>
        <p:spPr>
          <a:xfrm>
            <a:off x="714375"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One portal for spec management, observability, and pipeline status across every onboarded team.</a:t>
            </a:r>
          </a:p>
        </p:txBody>
      </p:sp>
      <p:sp>
        <p:nvSpPr>
          <p:cNvPr id="10" name="TextBox 9"/>
          <p:cNvSpPr txBox="1"/>
          <p:nvPr/>
        </p:nvSpPr>
        <p:spPr>
          <a:xfrm>
            <a:off x="3554711" y="2521446"/>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Federated Edges</a:t>
            </a:r>
          </a:p>
        </p:txBody>
      </p:sp>
      <p:sp>
        <p:nvSpPr>
          <p:cNvPr id="11" name="TextBox 10"/>
          <p:cNvSpPr txBox="1"/>
          <p:nvPr/>
        </p:nvSpPr>
        <p:spPr>
          <a:xfrm>
            <a:off x="3606849" y="2835771"/>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Each product team adapts the shared harness to its own stack instead of forking a new one.</a:t>
            </a:r>
          </a:p>
        </p:txBody>
      </p:sp>
      <p:sp>
        <p:nvSpPr>
          <p:cNvPr id="12" name="TextBox 11"/>
          <p:cNvSpPr txBox="1"/>
          <p:nvPr/>
        </p:nvSpPr>
        <p:spPr>
          <a:xfrm>
            <a:off x="644718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Agent Ops: Central + Embedded</a:t>
            </a:r>
          </a:p>
        </p:txBody>
      </p:sp>
      <p:sp>
        <p:nvSpPr>
          <p:cNvPr id="13" name="TextBox 12"/>
          <p:cNvSpPr txBox="1"/>
          <p:nvPr/>
        </p:nvSpPr>
        <p:spPr>
          <a:xfrm>
            <a:off x="6499324"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A centralized team sets the standard; embedded Agent Ops in each product group applies it day to day.</a:t>
            </a:r>
          </a:p>
        </p:txBody>
      </p:sp>
      <p:sp>
        <p:nvSpPr>
          <p:cNvPr id="14" name="TextBox 13"/>
          <p:cNvSpPr txBox="1"/>
          <p:nvPr/>
        </p:nvSpPr>
        <p:spPr>
          <a:xfrm>
            <a:off x="9339660" y="2137767"/>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Pod Construction</a:t>
            </a:r>
          </a:p>
        </p:txBody>
      </p:sp>
      <p:sp>
        <p:nvSpPr>
          <p:cNvPr id="15" name="TextBox 14"/>
          <p:cNvSpPr txBox="1"/>
          <p:nvPr/>
        </p:nvSpPr>
        <p:spPr>
          <a:xfrm>
            <a:off x="9391798" y="2452092"/>
            <a:ext cx="2085528" cy="767357"/>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Small cross-functional pods (developer, tester, reviewer, ops) mirror the harness's own role-split architecture.</a:t>
            </a: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Harness in Practice: Adoption Across ISG</a:t>
            </a:r>
          </a:p>
        </p:txBody>
      </p:sp>
      <p:sp>
        <p:nvSpPr>
          <p:cNvPr id="17" name="Rounded Rectangle 16"/>
          <p:cNvSpPr/>
          <p:nvPr/>
        </p:nvSpPr>
        <p:spPr>
          <a:xfrm>
            <a:off x="1661889"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5436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46838"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33931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3400" y="1450000"/>
            <a:ext cx="11658600" cy="300000"/>
          </a:xfrm>
          <a:prstGeom prst="rect">
            <a:avLst/>
          </a:prstGeom>
          <a:noFill/>
        </p:spPr>
        <p:txBody>
          <a:bodyPr wrap="square">
            <a:spAutoFit/>
          </a:bodyPr>
          <a:lstStyle/>
          <a:p>
            <a:r>
              <a:rPr sz="1200">
                <a:solidFill>
                  <a:srgbClr val="94A3B8"/>
                </a:solidFill>
                <a:latin typeface="Inter"/>
              </a:rPr>
              <a:t>How teams onboard to PowerSpine and organize around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3733800"/>
            <a:ext cx="11125200" cy="38100"/>
          </a:xfrm>
          <a:prstGeom prst="rect">
            <a:avLst/>
          </a:prstGeom>
        </p:spPr>
      </p:pic>
      <p:pic>
        <p:nvPicPr>
          <p:cNvPr id="4" name="Picture 3" descr="image.png"/>
          <p:cNvPicPr>
            <a:picLocks noChangeAspect="1"/>
          </p:cNvPicPr>
          <p:nvPr/>
        </p:nvPicPr>
        <p:blipFill>
          <a:blip r:embed="rId4"/>
          <a:stretch>
            <a:fillRect/>
          </a:stretch>
        </p:blipFill>
        <p:spPr>
          <a:xfrm>
            <a:off x="533400" y="3990975"/>
            <a:ext cx="2447478" cy="1174253"/>
          </a:xfrm>
          <a:prstGeom prst="rect">
            <a:avLst/>
          </a:prstGeom>
        </p:spPr>
      </p:pic>
      <p:pic>
        <p:nvPicPr>
          <p:cNvPr id="5" name="Picture 4" descr="image.png"/>
          <p:cNvPicPr>
            <a:picLocks noChangeAspect="1"/>
          </p:cNvPicPr>
          <p:nvPr/>
        </p:nvPicPr>
        <p:blipFill>
          <a:blip r:embed="rId5"/>
          <a:stretch>
            <a:fillRect/>
          </a:stretch>
        </p:blipFill>
        <p:spPr>
          <a:xfrm>
            <a:off x="3425874" y="2340471"/>
            <a:ext cx="2447478" cy="1174253"/>
          </a:xfrm>
          <a:prstGeom prst="rect">
            <a:avLst/>
          </a:prstGeom>
        </p:spPr>
      </p:pic>
      <p:pic>
        <p:nvPicPr>
          <p:cNvPr id="6" name="Picture 5" descr="image.png"/>
          <p:cNvPicPr>
            <a:picLocks noChangeAspect="1"/>
          </p:cNvPicPr>
          <p:nvPr/>
        </p:nvPicPr>
        <p:blipFill>
          <a:blip r:embed="rId6"/>
          <a:stretch>
            <a:fillRect/>
          </a:stretch>
        </p:blipFill>
        <p:spPr>
          <a:xfrm>
            <a:off x="6318349" y="3990975"/>
            <a:ext cx="2447478" cy="1174253"/>
          </a:xfrm>
          <a:prstGeom prst="rect">
            <a:avLst/>
          </a:prstGeom>
        </p:spPr>
      </p:pic>
      <p:pic>
        <p:nvPicPr>
          <p:cNvPr id="7" name="Picture 6" descr="image.png"/>
          <p:cNvPicPr>
            <a:picLocks noChangeAspect="1"/>
          </p:cNvPicPr>
          <p:nvPr/>
        </p:nvPicPr>
        <p:blipFill>
          <a:blip r:embed="rId7"/>
          <a:stretch>
            <a:fillRect/>
          </a:stretch>
        </p:blipFill>
        <p:spPr>
          <a:xfrm>
            <a:off x="9210823" y="1956792"/>
            <a:ext cx="2447478" cy="1557932"/>
          </a:xfrm>
          <a:prstGeom prst="rect">
            <a:avLst/>
          </a:prstGeom>
        </p:spPr>
      </p:pic>
      <p:sp>
        <p:nvSpPr>
          <p:cNvPr id="8" name="TextBox 7"/>
          <p:cNvSpPr txBox="1"/>
          <p:nvPr/>
        </p:nvSpPr>
        <p:spPr>
          <a:xfrm>
            <a:off x="662236" y="4063886"/>
            <a:ext cx="2189804" cy="219075"/>
          </a:xfrm>
          <a:prstGeom prst="rect">
            <a:avLst/>
          </a:prstGeom>
          <a:noFill/>
        </p:spPr>
        <p:txBody>
          <a:bodyPr wrap="square" lIns="0" tIns="0" rIns="0" bIns="0" anchor="t">
            <a:spAutoFit/>
          </a:bodyPr>
          <a:lstStyle/>
          <a:p>
            <a:pPr algn="ctr"/>
            <a:r>
              <a:rPr sz="1350" b="0" i="0" u="none" dirty="0">
                <a:solidFill>
                  <a:srgbClr val="38BDF8"/>
                </a:solidFill>
                <a:latin typeface="Plus Jakarta Sans SemiBold"/>
              </a:rPr>
              <a:t>Harnesses Determine Reliability</a:t>
            </a:r>
          </a:p>
        </p:txBody>
      </p:sp>
      <p:sp>
        <p:nvSpPr>
          <p:cNvPr id="9" name="TextBox 8"/>
          <p:cNvSpPr txBox="1"/>
          <p:nvPr/>
        </p:nvSpPr>
        <p:spPr>
          <a:xfrm>
            <a:off x="714375"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Not raw model intelligence — the guides, sensors, and guardrails around it are what make agents production-ready.</a:t>
            </a:r>
          </a:p>
        </p:txBody>
      </p:sp>
      <p:sp>
        <p:nvSpPr>
          <p:cNvPr id="10" name="TextBox 9"/>
          <p:cNvSpPr txBox="1"/>
          <p:nvPr/>
        </p:nvSpPr>
        <p:spPr>
          <a:xfrm>
            <a:off x="3554711" y="2521446"/>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The Anatomy Is Concrete</a:t>
            </a:r>
          </a:p>
        </p:txBody>
      </p:sp>
      <p:sp>
        <p:nvSpPr>
          <p:cNvPr id="11" name="TextBox 10"/>
          <p:cNvSpPr txBox="1"/>
          <p:nvPr/>
        </p:nvSpPr>
        <p:spPr>
          <a:xfrm>
            <a:off x="3606849" y="2835771"/>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Guides, Sensors, Feedback Loops, Sandboxes, and Guardrails aren't abstract — they're the exact controls inside PowerSpine today.</a:t>
            </a:r>
          </a:p>
        </p:txBody>
      </p:sp>
      <p:sp>
        <p:nvSpPr>
          <p:cNvPr id="12" name="TextBox 11"/>
          <p:cNvSpPr txBox="1"/>
          <p:nvPr/>
        </p:nvSpPr>
        <p:spPr>
          <a:xfrm>
            <a:off x="644718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PowerSpine Already Works</a:t>
            </a:r>
          </a:p>
        </p:txBody>
      </p:sp>
      <p:sp>
        <p:nvSpPr>
          <p:cNvPr id="13" name="TextBox 12"/>
          <p:cNvSpPr txBox="1"/>
          <p:nvPr/>
        </p:nvSpPr>
        <p:spPr>
          <a:xfrm>
            <a:off x="6499324"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DPC, Polaris, and UDS prove the model: same harness, faster delivery, fewer defects.</a:t>
            </a:r>
          </a:p>
        </p:txBody>
      </p:sp>
      <p:sp>
        <p:nvSpPr>
          <p:cNvPr id="14" name="TextBox 13"/>
          <p:cNvSpPr txBox="1"/>
          <p:nvPr/>
        </p:nvSpPr>
        <p:spPr>
          <a:xfrm>
            <a:off x="9339660" y="2137767"/>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Use It. Improve It.</a:t>
            </a:r>
          </a:p>
        </p:txBody>
      </p:sp>
      <p:sp>
        <p:nvSpPr>
          <p:cNvPr id="15" name="TextBox 14"/>
          <p:cNvSpPr txBox="1"/>
          <p:nvPr/>
        </p:nvSpPr>
        <p:spPr>
          <a:xfrm>
            <a:off x="9391798" y="2452092"/>
            <a:ext cx="2085528" cy="767357"/>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Explore /spine central, adopt it in your federated edge, and share feedback — the team is iterating.</a:t>
            </a: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Key Takeaways</a:t>
            </a:r>
          </a:p>
        </p:txBody>
      </p:sp>
      <p:sp>
        <p:nvSpPr>
          <p:cNvPr id="17" name="Rounded Rectangle 16"/>
          <p:cNvSpPr/>
          <p:nvPr/>
        </p:nvSpPr>
        <p:spPr>
          <a:xfrm>
            <a:off x="1661889"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5436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46838"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33931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3400" y="1450000"/>
            <a:ext cx="11658600" cy="300000"/>
          </a:xfrm>
          <a:prstGeom prst="rect">
            <a:avLst/>
          </a:prstGeom>
          <a:noFill/>
        </p:spPr>
        <p:txBody>
          <a:bodyPr wrap="square">
            <a:spAutoFit/>
          </a:bodyPr>
          <a:lstStyle/>
          <a:p>
            <a:r>
              <a:rPr sz="1200">
                <a:solidFill>
                  <a:srgbClr val="94A3B8"/>
                </a:solidFill>
                <a:latin typeface="Inter"/>
              </a:rPr>
              <a:t>What to remember, and what to do next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409575"/>
          </a:xfrm>
          <a:prstGeom prst="rect">
            <a:avLst/>
          </a:prstGeom>
          <a:noFill/>
        </p:spPr>
        <p:txBody>
          <a:bodyPr wrap="square">
            <a:spAutoFit/>
          </a:bodyPr>
          <a:lstStyle/>
          <a:p>
            <a:r>
              <a:rPr sz="2550" b="1">
                <a:solidFill>
                  <a:srgbClr val="F8FAFC"/>
                </a:solidFill>
                <a:latin typeface="Plus Jakarta Sans"/>
              </a:rPr>
              <a:t>Practical Insights</a:t>
            </a:r>
          </a:p>
        </p:txBody>
      </p:sp>
      <p:sp>
        <p:nvSpPr>
          <p:cNvPr id="4" name="TextBox 3"/>
          <p:cNvSpPr txBox="1"/>
          <p:nvPr/>
        </p:nvSpPr>
        <p:spPr>
          <a:xfrm>
            <a:off x="533400" y="1150000"/>
            <a:ext cx="11125200" cy="330000"/>
          </a:xfrm>
          <a:prstGeom prst="rect">
            <a:avLst/>
          </a:prstGeom>
          <a:noFill/>
        </p:spPr>
        <p:txBody>
          <a:bodyPr wrap="square">
            <a:spAutoFit/>
          </a:bodyPr>
          <a:lstStyle/>
          <a:p>
            <a:r>
              <a:rPr sz="1200">
                <a:solidFill>
                  <a:srgbClr val="94A3B8"/>
                </a:solidFill>
                <a:latin typeface="Inter"/>
              </a:rPr>
              <a:t>Five principles to take home</a:t>
            </a:r>
          </a:p>
        </p:txBody>
      </p:sp>
      <p:sp>
        <p:nvSpPr>
          <p:cNvPr id="5" name="TextBox 4"/>
          <p:cNvSpPr txBox="1"/>
          <p:nvPr/>
        </p:nvSpPr>
        <p:spPr>
          <a:xfrm>
            <a:off x="533400" y="1850000"/>
            <a:ext cx="700000" cy="400000"/>
          </a:xfrm>
          <a:prstGeom prst="rect">
            <a:avLst/>
          </a:prstGeom>
          <a:noFill/>
        </p:spPr>
        <p:txBody>
          <a:bodyPr wrap="none">
            <a:spAutoFit/>
          </a:bodyPr>
          <a:lstStyle/>
          <a:p>
            <a:r>
              <a:rPr sz="1800" b="1">
                <a:solidFill>
                  <a:srgbClr val="38BDF8"/>
                </a:solidFill>
                <a:latin typeface="Plus Jakarta Sans"/>
              </a:rPr>
              <a:t>01</a:t>
            </a:r>
          </a:p>
        </p:txBody>
      </p:sp>
      <p:sp>
        <p:nvSpPr>
          <p:cNvPr id="6" name="TextBox 5"/>
          <p:cNvSpPr txBox="1"/>
          <p:nvPr/>
        </p:nvSpPr>
        <p:spPr>
          <a:xfrm>
            <a:off x="1650000" y="1850000"/>
            <a:ext cx="9100000" cy="400000"/>
          </a:xfrm>
          <a:prstGeom prst="rect">
            <a:avLst/>
          </a:prstGeom>
          <a:noFill/>
        </p:spPr>
        <p:txBody>
          <a:bodyPr wrap="none">
            <a:spAutoFit/>
          </a:bodyPr>
          <a:lstStyle/>
          <a:p>
            <a:r>
              <a:rPr sz="1500">
                <a:solidFill>
                  <a:srgbClr val="CBD5E1"/>
                </a:solidFill>
                <a:latin typeface="Inter"/>
              </a:rPr>
              <a:t>Don't Underestimate the Agent</a:t>
            </a:r>
          </a:p>
        </p:txBody>
      </p:sp>
      <p:sp>
        <p:nvSpPr>
          <p:cNvPr id="7" name="TextBox 6"/>
          <p:cNvSpPr txBox="1"/>
          <p:nvPr/>
        </p:nvSpPr>
        <p:spPr>
          <a:xfrm>
            <a:off x="533400" y="2470000"/>
            <a:ext cx="700000" cy="400000"/>
          </a:xfrm>
          <a:prstGeom prst="rect">
            <a:avLst/>
          </a:prstGeom>
          <a:noFill/>
        </p:spPr>
        <p:txBody>
          <a:bodyPr wrap="none">
            <a:spAutoFit/>
          </a:bodyPr>
          <a:lstStyle/>
          <a:p>
            <a:r>
              <a:rPr sz="1800" b="1">
                <a:solidFill>
                  <a:srgbClr val="38BDF8"/>
                </a:solidFill>
                <a:latin typeface="Plus Jakarta Sans"/>
              </a:rPr>
              <a:t>02</a:t>
            </a:r>
          </a:p>
        </p:txBody>
      </p:sp>
      <p:sp>
        <p:nvSpPr>
          <p:cNvPr id="8" name="TextBox 7"/>
          <p:cNvSpPr txBox="1"/>
          <p:nvPr/>
        </p:nvSpPr>
        <p:spPr>
          <a:xfrm>
            <a:off x="1650000" y="2470000"/>
            <a:ext cx="9100000" cy="400000"/>
          </a:xfrm>
          <a:prstGeom prst="rect">
            <a:avLst/>
          </a:prstGeom>
          <a:noFill/>
        </p:spPr>
        <p:txBody>
          <a:bodyPr wrap="none">
            <a:spAutoFit/>
          </a:bodyPr>
          <a:lstStyle/>
          <a:p>
            <a:r>
              <a:rPr sz="1500">
                <a:solidFill>
                  <a:srgbClr val="CBD5E1"/>
                </a:solidFill>
                <a:latin typeface="Inter"/>
              </a:rPr>
              <a:t>Give It Autonomy</a:t>
            </a:r>
          </a:p>
        </p:txBody>
      </p:sp>
      <p:sp>
        <p:nvSpPr>
          <p:cNvPr id="9" name="TextBox 8"/>
          <p:cNvSpPr txBox="1"/>
          <p:nvPr/>
        </p:nvSpPr>
        <p:spPr>
          <a:xfrm>
            <a:off x="533400" y="3090000"/>
            <a:ext cx="700000" cy="400000"/>
          </a:xfrm>
          <a:prstGeom prst="rect">
            <a:avLst/>
          </a:prstGeom>
          <a:noFill/>
        </p:spPr>
        <p:txBody>
          <a:bodyPr wrap="none">
            <a:spAutoFit/>
          </a:bodyPr>
          <a:lstStyle/>
          <a:p>
            <a:r>
              <a:rPr sz="1800" b="1">
                <a:solidFill>
                  <a:srgbClr val="38BDF8"/>
                </a:solidFill>
                <a:latin typeface="Plus Jakarta Sans"/>
              </a:rPr>
              <a:t>03</a:t>
            </a:r>
          </a:p>
        </p:txBody>
      </p:sp>
      <p:sp>
        <p:nvSpPr>
          <p:cNvPr id="10" name="TextBox 9"/>
          <p:cNvSpPr txBox="1"/>
          <p:nvPr/>
        </p:nvSpPr>
        <p:spPr>
          <a:xfrm>
            <a:off x="1650000" y="3090000"/>
            <a:ext cx="9100000" cy="400000"/>
          </a:xfrm>
          <a:prstGeom prst="rect">
            <a:avLst/>
          </a:prstGeom>
          <a:noFill/>
        </p:spPr>
        <p:txBody>
          <a:bodyPr wrap="none">
            <a:spAutoFit/>
          </a:bodyPr>
          <a:lstStyle/>
          <a:p>
            <a:r>
              <a:rPr sz="1500">
                <a:solidFill>
                  <a:srgbClr val="CBD5E1"/>
                </a:solidFill>
                <a:latin typeface="Inter"/>
              </a:rPr>
              <a:t>Provide Guardrailed Access to Tools</a:t>
            </a:r>
          </a:p>
        </p:txBody>
      </p:sp>
      <p:sp>
        <p:nvSpPr>
          <p:cNvPr id="11" name="TextBox 10"/>
          <p:cNvSpPr txBox="1"/>
          <p:nvPr/>
        </p:nvSpPr>
        <p:spPr>
          <a:xfrm>
            <a:off x="533400" y="3710000"/>
            <a:ext cx="700000" cy="400000"/>
          </a:xfrm>
          <a:prstGeom prst="rect">
            <a:avLst/>
          </a:prstGeom>
          <a:noFill/>
        </p:spPr>
        <p:txBody>
          <a:bodyPr wrap="none">
            <a:spAutoFit/>
          </a:bodyPr>
          <a:lstStyle/>
          <a:p>
            <a:r>
              <a:rPr sz="1800" b="1">
                <a:solidFill>
                  <a:srgbClr val="38BDF8"/>
                </a:solidFill>
                <a:latin typeface="Plus Jakarta Sans"/>
              </a:rPr>
              <a:t>04</a:t>
            </a:r>
          </a:p>
        </p:txBody>
      </p:sp>
      <p:sp>
        <p:nvSpPr>
          <p:cNvPr id="12" name="TextBox 11"/>
          <p:cNvSpPr txBox="1"/>
          <p:nvPr/>
        </p:nvSpPr>
        <p:spPr>
          <a:xfrm>
            <a:off x="1650000" y="3710000"/>
            <a:ext cx="9100000" cy="400000"/>
          </a:xfrm>
          <a:prstGeom prst="rect">
            <a:avLst/>
          </a:prstGeom>
          <a:noFill/>
        </p:spPr>
        <p:txBody>
          <a:bodyPr wrap="none">
            <a:spAutoFit/>
          </a:bodyPr>
          <a:lstStyle/>
          <a:p>
            <a:r>
              <a:rPr sz="1500">
                <a:solidFill>
                  <a:srgbClr val="CBD5E1"/>
                </a:solidFill>
                <a:latin typeface="Inter"/>
              </a:rPr>
              <a:t>Connect Context — Retrieve When Needed</a:t>
            </a:r>
          </a:p>
        </p:txBody>
      </p:sp>
      <p:sp>
        <p:nvSpPr>
          <p:cNvPr id="13" name="TextBox 12"/>
          <p:cNvSpPr txBox="1"/>
          <p:nvPr/>
        </p:nvSpPr>
        <p:spPr>
          <a:xfrm>
            <a:off x="533400" y="4330000"/>
            <a:ext cx="700000" cy="400000"/>
          </a:xfrm>
          <a:prstGeom prst="rect">
            <a:avLst/>
          </a:prstGeom>
          <a:noFill/>
        </p:spPr>
        <p:txBody>
          <a:bodyPr wrap="none">
            <a:spAutoFit/>
          </a:bodyPr>
          <a:lstStyle/>
          <a:p>
            <a:r>
              <a:rPr sz="1800" b="1">
                <a:solidFill>
                  <a:srgbClr val="38BDF8"/>
                </a:solidFill>
                <a:latin typeface="Plus Jakarta Sans"/>
              </a:rPr>
              <a:t>05</a:t>
            </a:r>
          </a:p>
        </p:txBody>
      </p:sp>
      <p:sp>
        <p:nvSpPr>
          <p:cNvPr id="14" name="TextBox 13"/>
          <p:cNvSpPr txBox="1"/>
          <p:nvPr/>
        </p:nvSpPr>
        <p:spPr>
          <a:xfrm>
            <a:off x="1650000" y="4330000"/>
            <a:ext cx="9100000" cy="400000"/>
          </a:xfrm>
          <a:prstGeom prst="rect">
            <a:avLst/>
          </a:prstGeom>
          <a:noFill/>
        </p:spPr>
        <p:txBody>
          <a:bodyPr wrap="none">
            <a:spAutoFit/>
          </a:bodyPr>
          <a:lstStyle/>
          <a:p>
            <a:r>
              <a:rPr sz="1500">
                <a:solidFill>
                  <a:srgbClr val="CBD5E1"/>
                </a:solidFill>
                <a:latin typeface="Inter"/>
              </a:rPr>
              <a:t>Let It Test Its Own Work — Give It Enough Input to Do So</a:t>
            </a:r>
          </a:p>
        </p:txBody>
      </p:sp>
      <p:pic>
        <p:nvPicPr>
          <p:cNvPr id="15" name="Picture 14" descr="image.png"/>
          <p:cNvPicPr>
            <a:picLocks noChangeAspect="1"/>
          </p:cNvPicPr>
          <p:nvPr/>
        </p:nvPicPr>
        <p:blipFill>
          <a:blip r:embed="rId3"/>
          <a:stretch>
            <a:fillRect/>
          </a:stretch>
        </p:blipFill>
        <p:spPr>
          <a:xfrm>
            <a:off x="78695" y="1940000"/>
            <a:ext cx="2622609" cy="260000"/>
          </a:xfrm>
          <a:prstGeom prst="rect">
            <a:avLst/>
          </a:prstGeom>
        </p:spPr>
      </p:pic>
      <p:pic>
        <p:nvPicPr>
          <p:cNvPr id="16" name="Picture 15" descr="image.png"/>
          <p:cNvPicPr>
            <a:picLocks noChangeAspect="1"/>
          </p:cNvPicPr>
          <p:nvPr/>
        </p:nvPicPr>
        <p:blipFill>
          <a:blip r:embed="rId4"/>
          <a:stretch>
            <a:fillRect/>
          </a:stretch>
        </p:blipFill>
        <p:spPr>
          <a:xfrm>
            <a:off x="1250000" y="2530000"/>
            <a:ext cx="340000" cy="260000"/>
          </a:xfrm>
          <a:prstGeom prst="rect">
            <a:avLst/>
          </a:prstGeom>
        </p:spPr>
      </p:pic>
      <p:pic>
        <p:nvPicPr>
          <p:cNvPr id="17" name="Picture 16" descr="image.png"/>
          <p:cNvPicPr>
            <a:picLocks noChangeAspect="1"/>
          </p:cNvPicPr>
          <p:nvPr/>
        </p:nvPicPr>
        <p:blipFill>
          <a:blip r:embed="rId5"/>
          <a:stretch>
            <a:fillRect/>
          </a:stretch>
        </p:blipFill>
        <p:spPr>
          <a:xfrm>
            <a:off x="1250000" y="3150000"/>
            <a:ext cx="280000" cy="260000"/>
          </a:xfrm>
          <a:prstGeom prst="rect">
            <a:avLst/>
          </a:prstGeom>
        </p:spPr>
      </p:pic>
      <p:pic>
        <p:nvPicPr>
          <p:cNvPr id="18" name="Picture 17" descr="image.png"/>
          <p:cNvPicPr>
            <a:picLocks noChangeAspect="1"/>
          </p:cNvPicPr>
          <p:nvPr/>
        </p:nvPicPr>
        <p:blipFill>
          <a:blip r:embed="rId6"/>
          <a:stretch>
            <a:fillRect/>
          </a:stretch>
        </p:blipFill>
        <p:spPr>
          <a:xfrm>
            <a:off x="58897" y="3805487"/>
            <a:ext cx="2622609" cy="260000"/>
          </a:xfrm>
          <a:prstGeom prst="rect">
            <a:avLst/>
          </a:prstGeom>
        </p:spPr>
      </p:pic>
      <p:pic>
        <p:nvPicPr>
          <p:cNvPr id="19" name="Picture 18" descr="image.png"/>
          <p:cNvPicPr>
            <a:picLocks noChangeAspect="1"/>
          </p:cNvPicPr>
          <p:nvPr/>
        </p:nvPicPr>
        <p:blipFill>
          <a:blip r:embed="rId7"/>
          <a:stretch>
            <a:fillRect/>
          </a:stretch>
        </p:blipFill>
        <p:spPr>
          <a:xfrm>
            <a:off x="78694" y="4345487"/>
            <a:ext cx="2622609" cy="260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33400" y="438150"/>
            <a:ext cx="11125200" cy="285750"/>
          </a:xfrm>
          <a:prstGeom prst="rect">
            <a:avLst/>
          </a:prstGeom>
          <a:noFill/>
        </p:spPr>
        <p:txBody>
          <a:bodyPr wrap="square" lIns="0" tIns="0" rIns="0" bIns="0" anchor="t">
            <a:spAutoFit/>
          </a:bodyPr>
          <a:lstStyle/>
          <a:p>
            <a:pPr algn="l"/>
            <a:r>
              <a:rPr sz="1800" b="1" i="0" u="none" dirty="0">
                <a:solidFill>
                  <a:srgbClr val="F8FAFC"/>
                </a:solidFill>
                <a:latin typeface="Plus Jakarta Sans"/>
              </a:rPr>
              <a:t>Live Demo</a:t>
            </a:r>
          </a:p>
        </p:txBody>
      </p:sp>
      <p:sp>
        <p:nvSpPr>
          <p:cNvPr id="4" name="TextBox 3"/>
          <p:cNvSpPr txBox="1"/>
          <p:nvPr/>
        </p:nvSpPr>
        <p:spPr>
          <a:xfrm>
            <a:off x="533400" y="1150000"/>
            <a:ext cx="11125200" cy="236190"/>
          </a:xfrm>
          <a:prstGeom prst="rect">
            <a:avLst/>
          </a:prstGeom>
          <a:noFill/>
        </p:spPr>
        <p:txBody>
          <a:bodyPr wrap="square" lIns="0" tIns="0" rIns="0" bIns="0" anchor="t">
            <a:spAutoFit/>
          </a:bodyPr>
          <a:lstStyle/>
          <a:p>
            <a:pPr algn="l">
              <a:lnSpc>
                <a:spcPts val="1860"/>
              </a:lnSpc>
            </a:pPr>
            <a:r>
              <a:rPr sz="1200" b="0" i="0" u="none">
                <a:solidFill>
                  <a:srgbClr val="94A3B8"/>
                </a:solidFill>
                <a:latin typeface="Inter"/>
              </a:rPr>
              <a:t>Watching a harness evolve, one control at a time</a:t>
            </a:r>
          </a:p>
        </p:txBody>
      </p:sp>
      <p:sp>
        <p:nvSpPr>
          <p:cNvPr id="5" name="TextBox 4"/>
          <p:cNvSpPr txBox="1"/>
          <p:nvPr/>
        </p:nvSpPr>
        <p:spPr>
          <a:xfrm>
            <a:off x="533400" y="2400000"/>
            <a:ext cx="700000" cy="400000"/>
          </a:xfrm>
          <a:prstGeom prst="rect">
            <a:avLst/>
          </a:prstGeom>
          <a:noFill/>
        </p:spPr>
        <p:txBody>
          <a:bodyPr wrap="none">
            <a:spAutoFit/>
          </a:bodyPr>
          <a:lstStyle/>
          <a:p>
            <a:r>
              <a:rPr sz="1600" b="1">
                <a:solidFill>
                  <a:srgbClr val="38BDF8"/>
                </a:solidFill>
                <a:latin typeface="Plus Jakarta Sans"/>
              </a:rPr>
              <a:t>01</a:t>
            </a:r>
          </a:p>
        </p:txBody>
      </p:sp>
      <p:sp>
        <p:nvSpPr>
          <p:cNvPr id="6" name="TextBox 5"/>
          <p:cNvSpPr txBox="1"/>
          <p:nvPr/>
        </p:nvSpPr>
        <p:spPr>
          <a:xfrm>
            <a:off x="1650000" y="2400000"/>
            <a:ext cx="9100000" cy="400000"/>
          </a:xfrm>
          <a:prstGeom prst="rect">
            <a:avLst/>
          </a:prstGeom>
          <a:noFill/>
        </p:spPr>
        <p:txBody>
          <a:bodyPr wrap="square">
            <a:spAutoFit/>
          </a:bodyPr>
          <a:lstStyle/>
          <a:p>
            <a:r>
              <a:rPr sz="1400">
                <a:solidFill>
                  <a:srgbClr val="CBD5E1"/>
                </a:solidFill>
                <a:latin typeface="Inter"/>
              </a:rPr>
              <a:t>Model only — no controls, confidently wrong</a:t>
            </a:r>
          </a:p>
        </p:txBody>
      </p:sp>
      <p:sp>
        <p:nvSpPr>
          <p:cNvPr id="7" name="TextBox 6"/>
          <p:cNvSpPr txBox="1"/>
          <p:nvPr/>
        </p:nvSpPr>
        <p:spPr>
          <a:xfrm>
            <a:off x="533400" y="3100000"/>
            <a:ext cx="700000" cy="400000"/>
          </a:xfrm>
          <a:prstGeom prst="rect">
            <a:avLst/>
          </a:prstGeom>
          <a:noFill/>
        </p:spPr>
        <p:txBody>
          <a:bodyPr wrap="none">
            <a:spAutoFit/>
          </a:bodyPr>
          <a:lstStyle/>
          <a:p>
            <a:r>
              <a:rPr sz="1600" b="1">
                <a:solidFill>
                  <a:srgbClr val="38BDF8"/>
                </a:solidFill>
                <a:latin typeface="Plus Jakarta Sans"/>
              </a:rPr>
              <a:t>02</a:t>
            </a:r>
          </a:p>
        </p:txBody>
      </p:sp>
      <p:sp>
        <p:nvSpPr>
          <p:cNvPr id="8" name="TextBox 7"/>
          <p:cNvSpPr txBox="1"/>
          <p:nvPr/>
        </p:nvSpPr>
        <p:spPr>
          <a:xfrm>
            <a:off x="1650000" y="3100000"/>
            <a:ext cx="9100000" cy="400000"/>
          </a:xfrm>
          <a:prstGeom prst="rect">
            <a:avLst/>
          </a:prstGeom>
          <a:noFill/>
        </p:spPr>
        <p:txBody>
          <a:bodyPr wrap="square">
            <a:spAutoFit/>
          </a:bodyPr>
          <a:lstStyle/>
          <a:p>
            <a:r>
              <a:rPr sz="1400">
                <a:solidFill>
                  <a:srgbClr val="CBD5E1"/>
                </a:solidFill>
                <a:latin typeface="Inter"/>
              </a:rPr>
              <a:t>Guide + Sensor + feedback loop — the model self-corrects</a:t>
            </a:r>
          </a:p>
        </p:txBody>
      </p:sp>
      <p:sp>
        <p:nvSpPr>
          <p:cNvPr id="9" name="TextBox 8"/>
          <p:cNvSpPr txBox="1"/>
          <p:nvPr/>
        </p:nvSpPr>
        <p:spPr>
          <a:xfrm>
            <a:off x="533400" y="3800000"/>
            <a:ext cx="700000" cy="400000"/>
          </a:xfrm>
          <a:prstGeom prst="rect">
            <a:avLst/>
          </a:prstGeom>
          <a:noFill/>
        </p:spPr>
        <p:txBody>
          <a:bodyPr wrap="none">
            <a:spAutoFit/>
          </a:bodyPr>
          <a:lstStyle/>
          <a:p>
            <a:r>
              <a:rPr sz="1600" b="1">
                <a:solidFill>
                  <a:srgbClr val="38BDF8"/>
                </a:solidFill>
                <a:latin typeface="Plus Jakarta Sans"/>
              </a:rPr>
              <a:t>03</a:t>
            </a:r>
          </a:p>
        </p:txBody>
      </p:sp>
      <p:sp>
        <p:nvSpPr>
          <p:cNvPr id="10" name="TextBox 9"/>
          <p:cNvSpPr txBox="1"/>
          <p:nvPr/>
        </p:nvSpPr>
        <p:spPr>
          <a:xfrm>
            <a:off x="1650000" y="3800000"/>
            <a:ext cx="9100000" cy="400000"/>
          </a:xfrm>
          <a:prstGeom prst="rect">
            <a:avLst/>
          </a:prstGeom>
          <a:noFill/>
        </p:spPr>
        <p:txBody>
          <a:bodyPr wrap="square">
            <a:spAutoFit/>
          </a:bodyPr>
          <a:lstStyle/>
          <a:p>
            <a:r>
              <a:rPr sz="1400">
                <a:solidFill>
                  <a:srgbClr val="CBD5E1"/>
                </a:solidFill>
                <a:latin typeface="Inter"/>
              </a:rPr>
              <a:t>Sandbox + Guardrails + Human-in-the-Loop — safe by construction</a:t>
            </a:r>
          </a:p>
        </p:txBody>
      </p:sp>
      <p:pic>
        <p:nvPicPr>
          <p:cNvPr id="11" name="Picture 10" descr="image.png"/>
          <p:cNvPicPr>
            <a:picLocks noChangeAspect="1"/>
          </p:cNvPicPr>
          <p:nvPr/>
        </p:nvPicPr>
        <p:blipFill>
          <a:blip r:embed="rId3"/>
          <a:stretch>
            <a:fillRect/>
          </a:stretch>
        </p:blipFill>
        <p:spPr>
          <a:xfrm>
            <a:off x="0" y="2463095"/>
            <a:ext cx="2622609" cy="260000"/>
          </a:xfrm>
          <a:prstGeom prst="rect">
            <a:avLst/>
          </a:prstGeom>
        </p:spPr>
      </p:pic>
      <p:pic>
        <p:nvPicPr>
          <p:cNvPr id="12" name="Picture 11" descr="image.png"/>
          <p:cNvPicPr>
            <a:picLocks noChangeAspect="1"/>
          </p:cNvPicPr>
          <p:nvPr/>
        </p:nvPicPr>
        <p:blipFill>
          <a:blip r:embed="rId4"/>
          <a:stretch>
            <a:fillRect/>
          </a:stretch>
        </p:blipFill>
        <p:spPr>
          <a:xfrm>
            <a:off x="1250000" y="3160000"/>
            <a:ext cx="340000" cy="260000"/>
          </a:xfrm>
          <a:prstGeom prst="rect">
            <a:avLst/>
          </a:prstGeom>
        </p:spPr>
      </p:pic>
      <p:pic>
        <p:nvPicPr>
          <p:cNvPr id="13" name="Picture 12" descr="image.png"/>
          <p:cNvPicPr>
            <a:picLocks noChangeAspect="1"/>
          </p:cNvPicPr>
          <p:nvPr/>
        </p:nvPicPr>
        <p:blipFill>
          <a:blip r:embed="rId5"/>
          <a:stretch>
            <a:fillRect/>
          </a:stretch>
        </p:blipFill>
        <p:spPr>
          <a:xfrm>
            <a:off x="1250000" y="3860000"/>
            <a:ext cx="280000" cy="260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33400" y="3733800"/>
            <a:ext cx="11125200" cy="38100"/>
          </a:xfrm>
          <a:prstGeom prst="rect">
            <a:avLst/>
          </a:prstGeom>
        </p:spPr>
      </p:pic>
      <p:pic>
        <p:nvPicPr>
          <p:cNvPr id="4" name="Picture 3" descr="image.png"/>
          <p:cNvPicPr>
            <a:picLocks noChangeAspect="1"/>
          </p:cNvPicPr>
          <p:nvPr/>
        </p:nvPicPr>
        <p:blipFill>
          <a:blip r:embed="rId4"/>
          <a:stretch>
            <a:fillRect/>
          </a:stretch>
        </p:blipFill>
        <p:spPr>
          <a:xfrm>
            <a:off x="533400" y="3990975"/>
            <a:ext cx="2447478" cy="1174253"/>
          </a:xfrm>
          <a:prstGeom prst="rect">
            <a:avLst/>
          </a:prstGeom>
        </p:spPr>
      </p:pic>
      <p:pic>
        <p:nvPicPr>
          <p:cNvPr id="5" name="Picture 4" descr="image.png"/>
          <p:cNvPicPr>
            <a:picLocks noChangeAspect="1"/>
          </p:cNvPicPr>
          <p:nvPr/>
        </p:nvPicPr>
        <p:blipFill>
          <a:blip r:embed="rId5"/>
          <a:stretch>
            <a:fillRect/>
          </a:stretch>
        </p:blipFill>
        <p:spPr>
          <a:xfrm>
            <a:off x="3425874" y="2340471"/>
            <a:ext cx="2447478" cy="1174253"/>
          </a:xfrm>
          <a:prstGeom prst="rect">
            <a:avLst/>
          </a:prstGeom>
        </p:spPr>
      </p:pic>
      <p:pic>
        <p:nvPicPr>
          <p:cNvPr id="6" name="Picture 5" descr="image.png"/>
          <p:cNvPicPr>
            <a:picLocks noChangeAspect="1"/>
          </p:cNvPicPr>
          <p:nvPr/>
        </p:nvPicPr>
        <p:blipFill>
          <a:blip r:embed="rId6"/>
          <a:stretch>
            <a:fillRect/>
          </a:stretch>
        </p:blipFill>
        <p:spPr>
          <a:xfrm>
            <a:off x="6318349" y="3990975"/>
            <a:ext cx="2447478" cy="1174253"/>
          </a:xfrm>
          <a:prstGeom prst="rect">
            <a:avLst/>
          </a:prstGeom>
        </p:spPr>
      </p:pic>
      <p:pic>
        <p:nvPicPr>
          <p:cNvPr id="7" name="Picture 6" descr="image.png"/>
          <p:cNvPicPr>
            <a:picLocks noChangeAspect="1"/>
          </p:cNvPicPr>
          <p:nvPr/>
        </p:nvPicPr>
        <p:blipFill>
          <a:blip r:embed="rId7"/>
          <a:stretch>
            <a:fillRect/>
          </a:stretch>
        </p:blipFill>
        <p:spPr>
          <a:xfrm>
            <a:off x="9210823" y="1956792"/>
            <a:ext cx="2447478" cy="1557932"/>
          </a:xfrm>
          <a:prstGeom prst="rect">
            <a:avLst/>
          </a:prstGeom>
        </p:spPr>
      </p:pic>
      <p:sp>
        <p:nvSpPr>
          <p:cNvPr id="8" name="TextBox 7"/>
          <p:cNvSpPr txBox="1"/>
          <p:nvPr/>
        </p:nvSpPr>
        <p:spPr>
          <a:xfrm>
            <a:off x="66223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Agentic Harness Engineering</a:t>
            </a:r>
          </a:p>
        </p:txBody>
      </p:sp>
      <p:sp>
        <p:nvSpPr>
          <p:cNvPr id="9" name="TextBox 8"/>
          <p:cNvSpPr txBox="1"/>
          <p:nvPr/>
        </p:nvSpPr>
        <p:spPr>
          <a:xfrm>
            <a:off x="714375"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"Evolution agents" analyze execution traces and rewrite the harness itself — fixing bugs, adding rules, updating skills, without a human in the loop.</a:t>
            </a:r>
          </a:p>
        </p:txBody>
      </p:sp>
      <p:sp>
        <p:nvSpPr>
          <p:cNvPr id="10" name="TextBox 9"/>
          <p:cNvSpPr txBox="1"/>
          <p:nvPr/>
        </p:nvSpPr>
        <p:spPr>
          <a:xfrm>
            <a:off x="3554711" y="2521446"/>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Loop Engineering</a:t>
            </a:r>
          </a:p>
        </p:txBody>
      </p:sp>
      <p:sp>
        <p:nvSpPr>
          <p:cNvPr id="11" name="TextBox 10"/>
          <p:cNvSpPr txBox="1"/>
          <p:nvPr/>
        </p:nvSpPr>
        <p:spPr>
          <a:xfrm>
            <a:off x="3606849" y="2835771"/>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Managing long-running reasoning loops: solving the "termination problem" and controlling cost and latency across multi-step workflows.</a:t>
            </a:r>
          </a:p>
        </p:txBody>
      </p:sp>
      <p:sp>
        <p:nvSpPr>
          <p:cNvPr id="12" name="TextBox 11"/>
          <p:cNvSpPr txBox="1"/>
          <p:nvPr/>
        </p:nvSpPr>
        <p:spPr>
          <a:xfrm>
            <a:off x="6447186" y="4171950"/>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Meta-Harness Optimization</a:t>
            </a:r>
          </a:p>
        </p:txBody>
      </p:sp>
      <p:sp>
        <p:nvSpPr>
          <p:cNvPr id="13" name="TextBox 12"/>
          <p:cNvSpPr txBox="1"/>
          <p:nvPr/>
        </p:nvSpPr>
        <p:spPr>
          <a:xfrm>
            <a:off x="6499324" y="4486275"/>
            <a:ext cx="2085528" cy="383678"/>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Automated batch evaluation and evolutionary search test rule and tool combinations, tuning the harness itself over time.</a:t>
            </a:r>
          </a:p>
        </p:txBody>
      </p:sp>
      <p:sp>
        <p:nvSpPr>
          <p:cNvPr id="14" name="TextBox 13"/>
          <p:cNvSpPr txBox="1"/>
          <p:nvPr/>
        </p:nvSpPr>
        <p:spPr>
          <a:xfrm>
            <a:off x="9339660" y="2137767"/>
            <a:ext cx="2189804" cy="219075"/>
          </a:xfrm>
          <a:prstGeom prst="rect">
            <a:avLst/>
          </a:prstGeom>
          <a:noFill/>
        </p:spPr>
        <p:txBody>
          <a:bodyPr wrap="square" lIns="0" tIns="0" rIns="0" bIns="0" anchor="t">
            <a:spAutoFit/>
          </a:bodyPr>
          <a:lstStyle/>
          <a:p>
            <a:pPr algn="ctr"/>
            <a:r>
              <a:rPr sz="1350" b="0" i="0" u="none">
                <a:solidFill>
                  <a:srgbClr val="38BDF8"/>
                </a:solidFill>
                <a:latin typeface="Plus Jakarta Sans SemiBold"/>
              </a:rPr>
              <a:t>Deep Observability</a:t>
            </a:r>
          </a:p>
        </p:txBody>
      </p:sp>
      <p:sp>
        <p:nvSpPr>
          <p:cNvPr id="15" name="TextBox 14"/>
          <p:cNvSpPr txBox="1"/>
          <p:nvPr/>
        </p:nvSpPr>
        <p:spPr>
          <a:xfrm>
            <a:off x="9391798" y="2452092"/>
            <a:ext cx="2085528" cy="767357"/>
          </a:xfrm>
          <a:prstGeom prst="rect">
            <a:avLst/>
          </a:prstGeom>
          <a:noFill/>
        </p:spPr>
        <p:txBody>
          <a:bodyPr wrap="square" lIns="0" tIns="0" rIns="0" bIns="0" anchor="t">
            <a:spAutoFit/>
          </a:bodyPr>
          <a:lstStyle/>
          <a:p>
            <a:pPr algn="ctr">
              <a:lnSpc>
                <a:spcPts val="1511"/>
              </a:lnSpc>
            </a:pPr>
            <a:r>
              <a:rPr sz="975" b="0" i="0" u="none">
                <a:solidFill>
                  <a:srgbClr val="94A3B8"/>
                </a:solidFill>
                <a:latin typeface="Inter"/>
              </a:rPr>
              <a:t>Moving past basic logging to fully transparent action spaces and execution traces — so systems can read and debug their own failures.</a:t>
            </a:r>
          </a:p>
        </p:txBody>
      </p:sp>
      <p:sp>
        <p:nvSpPr>
          <p:cNvPr id="16" name="TextBox 15"/>
          <p:cNvSpPr txBox="1"/>
          <p:nvPr/>
        </p:nvSpPr>
        <p:spPr>
          <a:xfrm>
            <a:off x="533400" y="438150"/>
            <a:ext cx="11658600" cy="409575"/>
          </a:xfrm>
          <a:prstGeom prst="rect">
            <a:avLst/>
          </a:prstGeom>
          <a:noFill/>
        </p:spPr>
        <p:txBody>
          <a:bodyPr wrap="square" lIns="0" tIns="0" rIns="0" bIns="0" anchor="t">
            <a:spAutoFit/>
          </a:bodyPr>
          <a:lstStyle/>
          <a:p>
            <a:pPr algn="l"/>
            <a:r>
              <a:rPr sz="2550" b="1" i="0" u="none">
                <a:solidFill>
                  <a:srgbClr val="F8FAFC"/>
                </a:solidFill>
                <a:latin typeface="Plus Jakarta Sans"/>
              </a:rPr>
              <a:t>What's Next: Beyond Harness Engineering</a:t>
            </a:r>
          </a:p>
        </p:txBody>
      </p:sp>
      <p:sp>
        <p:nvSpPr>
          <p:cNvPr id="17" name="Rounded Rectangle 16"/>
          <p:cNvSpPr/>
          <p:nvPr/>
        </p:nvSpPr>
        <p:spPr>
          <a:xfrm>
            <a:off x="1661889"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55436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46838"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339313" y="3657600"/>
            <a:ext cx="190500" cy="190500"/>
          </a:xfrm>
          <a:prstGeom prst="roundRect">
            <a:avLst>
              <a:gd name="adj" fmla="val 50000"/>
            </a:avLst>
          </a:prstGeom>
          <a:solidFill>
            <a:srgbClr val="0F172A"/>
          </a:solidFill>
          <a:ln w="381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33400" y="1450000"/>
            <a:ext cx="11658600" cy="300000"/>
          </a:xfrm>
          <a:prstGeom prst="rect">
            <a:avLst/>
          </a:prstGeom>
          <a:noFill/>
        </p:spPr>
        <p:txBody>
          <a:bodyPr wrap="square">
            <a:spAutoFit/>
          </a:bodyPr>
          <a:lstStyle/>
          <a:p>
            <a:r>
              <a:rPr sz="1200">
                <a:solidFill>
                  <a:srgbClr val="94A3B8"/>
                </a:solidFill>
                <a:latin typeface="Inter"/>
              </a:rPr>
              <a:t>Today, humans design the harness. Next, harnesses start improving themselves.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66700" y="2509391"/>
            <a:ext cx="11658600" cy="819150"/>
          </a:xfrm>
          <a:prstGeom prst="rect">
            <a:avLst/>
          </a:prstGeom>
          <a:noFill/>
        </p:spPr>
        <p:txBody>
          <a:bodyPr wrap="square" lIns="0" tIns="0" rIns="0" bIns="0" anchor="t">
            <a:spAutoFit/>
          </a:bodyPr>
          <a:lstStyle/>
          <a:p>
            <a:pPr algn="ctr"/>
            <a:r>
              <a:rPr sz="5100" b="1" i="0" u="none">
                <a:solidFill>
                  <a:srgbClr val="F8FAFC"/>
                </a:solidFill>
                <a:latin typeface="Plus Jakarta Sans"/>
              </a:rPr>
              <a:t>Architecting the Future</a:t>
            </a:r>
          </a:p>
        </p:txBody>
      </p:sp>
      <p:sp>
        <p:nvSpPr>
          <p:cNvPr id="4" name="TextBox 3"/>
          <p:cNvSpPr txBox="1"/>
          <p:nvPr/>
        </p:nvSpPr>
        <p:spPr>
          <a:xfrm>
            <a:off x="533400" y="3499991"/>
            <a:ext cx="11125200" cy="324742"/>
          </a:xfrm>
          <a:prstGeom prst="rect">
            <a:avLst/>
          </a:prstGeom>
          <a:noFill/>
        </p:spPr>
        <p:txBody>
          <a:bodyPr wrap="square" lIns="0" tIns="0" rIns="0" bIns="0" anchor="t">
            <a:spAutoFit/>
          </a:bodyPr>
          <a:lstStyle/>
          <a:p>
            <a:pPr algn="ctr">
              <a:lnSpc>
                <a:spcPts val="2557"/>
              </a:lnSpc>
            </a:pPr>
            <a:r>
              <a:rPr sz="1650" b="0" i="0" u="none">
                <a:solidFill>
                  <a:srgbClr val="CBD5E1"/>
                </a:solidFill>
                <a:latin typeface="Inter"/>
              </a:rPr>
              <a:t>Models provide reasoning intelligence. Harness Engineering provides systems reliability.</a:t>
            </a:r>
          </a:p>
        </p:txBody>
      </p:sp>
      <p:sp>
        <p:nvSpPr>
          <p:cNvPr id="5" name="TextBox 4"/>
          <p:cNvSpPr txBox="1"/>
          <p:nvPr/>
        </p:nvSpPr>
        <p:spPr>
          <a:xfrm>
            <a:off x="533400" y="4158108"/>
            <a:ext cx="11125200" cy="190500"/>
          </a:xfrm>
          <a:prstGeom prst="rect">
            <a:avLst/>
          </a:prstGeom>
          <a:noFill/>
        </p:spPr>
        <p:txBody>
          <a:bodyPr wrap="square" lIns="0" tIns="0" rIns="0" bIns="0" anchor="t">
            <a:spAutoFit/>
          </a:bodyPr>
          <a:lstStyle/>
          <a:p>
            <a:pPr algn="ctr"/>
            <a:r>
              <a:rPr sz="1275" b="0" i="0" u="none">
                <a:solidFill>
                  <a:srgbClr val="94A3B8"/>
                </a:solidFill>
                <a:latin typeface="Inter"/>
              </a:rPr>
              <a:t>Software Engineering in the Agentic Era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66700" y="2509391"/>
            <a:ext cx="11658600" cy="819150"/>
          </a:xfrm>
          <a:prstGeom prst="rect">
            <a:avLst/>
          </a:prstGeom>
          <a:noFill/>
        </p:spPr>
        <p:txBody>
          <a:bodyPr wrap="square" lIns="0" tIns="0" rIns="0" bIns="0" anchor="t">
            <a:spAutoFit/>
          </a:bodyPr>
          <a:lstStyle/>
          <a:p>
            <a:pPr algn="ctr"/>
            <a:r>
              <a:rPr sz="5100" b="1" i="0" u="none">
                <a:solidFill>
                  <a:srgbClr val="F8FAFC"/>
                </a:solidFill>
                <a:latin typeface="Plus Jakarta Sans"/>
              </a:rPr>
              <a:t>Questions &amp; Discussion</a:t>
            </a:r>
          </a:p>
        </p:txBody>
      </p:sp>
      <p:sp>
        <p:nvSpPr>
          <p:cNvPr id="4" name="TextBox 3"/>
          <p:cNvSpPr txBox="1"/>
          <p:nvPr/>
        </p:nvSpPr>
        <p:spPr>
          <a:xfrm>
            <a:off x="533400" y="3499991"/>
            <a:ext cx="11125200" cy="324742"/>
          </a:xfrm>
          <a:prstGeom prst="rect">
            <a:avLst/>
          </a:prstGeom>
          <a:noFill/>
        </p:spPr>
        <p:txBody>
          <a:bodyPr wrap="square" lIns="0" tIns="0" rIns="0" bIns="0" anchor="t">
            <a:spAutoFit/>
          </a:bodyPr>
          <a:lstStyle/>
          <a:p>
            <a:pPr algn="ctr">
              <a:lnSpc>
                <a:spcPts val="2557"/>
              </a:lnSpc>
            </a:pPr>
            <a:r>
              <a:rPr sz="1650" b="0" i="0" u="none">
                <a:solidFill>
                  <a:srgbClr val="CBD5E1"/>
                </a:solidFill>
                <a:latin typeface="Inter"/>
              </a:rPr>
              <a:t>What's working, what's not, and what do you need?</a:t>
            </a:r>
          </a:p>
        </p:txBody>
      </p:sp>
      <p:sp>
        <p:nvSpPr>
          <p:cNvPr id="5" name="TextBox 4"/>
          <p:cNvSpPr txBox="1"/>
          <p:nvPr/>
        </p:nvSpPr>
        <p:spPr>
          <a:xfrm>
            <a:off x="533400" y="4158108"/>
            <a:ext cx="11125200" cy="190500"/>
          </a:xfrm>
          <a:prstGeom prst="rect">
            <a:avLst/>
          </a:prstGeom>
          <a:noFill/>
        </p:spPr>
        <p:txBody>
          <a:bodyPr wrap="square" lIns="0" tIns="0" rIns="0" bIns="0" anchor="t">
            <a:spAutoFit/>
          </a:bodyPr>
          <a:lstStyle/>
          <a:p>
            <a:pPr algn="ctr"/>
            <a:r>
              <a:rPr sz="1275" b="0" i="0" u="none">
                <a:solidFill>
                  <a:srgbClr val="94A3B8"/>
                </a:solidFill>
                <a:latin typeface="Inter"/>
              </a:rPr>
              <a:t>Share it with your leaders — that's how we get this right.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66700" y="2509391"/>
            <a:ext cx="11658600" cy="819150"/>
          </a:xfrm>
          <a:prstGeom prst="rect">
            <a:avLst/>
          </a:prstGeom>
          <a:noFill/>
        </p:spPr>
        <p:txBody>
          <a:bodyPr wrap="square" lIns="0" tIns="0" rIns="0" bIns="0" anchor="t">
            <a:spAutoFit/>
          </a:bodyPr>
          <a:lstStyle/>
          <a:p>
            <a:pPr algn="ctr"/>
            <a:r>
              <a:rPr sz="5100" b="1" i="0" u="none">
                <a:solidFill>
                  <a:srgbClr val="F8FAFC"/>
                </a:solidFill>
                <a:latin typeface="Plus Jakarta Sans"/>
              </a:rPr>
              <a:t>Thank You</a:t>
            </a:r>
          </a:p>
        </p:txBody>
      </p:sp>
      <p:sp>
        <p:nvSpPr>
          <p:cNvPr id="4" name="TextBox 3"/>
          <p:cNvSpPr txBox="1"/>
          <p:nvPr/>
        </p:nvSpPr>
        <p:spPr>
          <a:xfrm>
            <a:off x="533400" y="3499991"/>
            <a:ext cx="11125200" cy="324742"/>
          </a:xfrm>
          <a:prstGeom prst="rect">
            <a:avLst/>
          </a:prstGeom>
          <a:noFill/>
        </p:spPr>
        <p:txBody>
          <a:bodyPr wrap="square" lIns="0" tIns="0" rIns="0" bIns="0" anchor="t">
            <a:spAutoFit/>
          </a:bodyPr>
          <a:lstStyle/>
          <a:p>
            <a:pPr algn="ctr">
              <a:lnSpc>
                <a:spcPts val="2557"/>
              </a:lnSpc>
            </a:pPr>
            <a:r>
              <a:rPr sz="1650" b="0" i="0" u="none">
                <a:solidFill>
                  <a:srgbClr val="CBD5E1"/>
                </a:solidFill>
                <a:latin typeface="Inter"/>
              </a:rPr>
              <a:t>Explore /spine central. Build within your federated edge. Embrace the harness.</a:t>
            </a:r>
          </a:p>
        </p:txBody>
      </p:sp>
      <p:sp>
        <p:nvSpPr>
          <p:cNvPr id="5" name="TextBox 4"/>
          <p:cNvSpPr txBox="1"/>
          <p:nvPr/>
        </p:nvSpPr>
        <p:spPr>
          <a:xfrm>
            <a:off x="533400" y="4158108"/>
            <a:ext cx="11125200" cy="190500"/>
          </a:xfrm>
          <a:prstGeom prst="rect">
            <a:avLst/>
          </a:prstGeom>
          <a:noFill/>
        </p:spPr>
        <p:txBody>
          <a:bodyPr wrap="square" lIns="0" tIns="0" rIns="0" bIns="0" anchor="t">
            <a:spAutoFit/>
          </a:bodyPr>
          <a:lstStyle/>
          <a:p>
            <a:pPr algn="ctr"/>
            <a:r>
              <a:rPr sz="1275" b="0" i="0" u="none">
                <a:solidFill>
                  <a:srgbClr val="94A3B8"/>
                </a:solidFill>
                <a:latin typeface="Inter"/>
              </a:rPr>
              <a:t>Harness Engineering • Software Engineering in the Agentic Era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86</TotalTime>
  <Words>2175</Words>
  <Application>Microsoft Office PowerPoint</Application>
  <PresentationFormat>Widescreen</PresentationFormat>
  <Paragraphs>266</Paragraphs>
  <Slides>30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Inter</vt:lpstr>
      <vt:lpstr>Inter Medium</vt:lpstr>
      <vt:lpstr>Inter SemiBold</vt:lpstr>
      <vt:lpstr>Plus Jakarta Sans</vt:lpstr>
      <vt:lpstr>Plus Jakarta Sans Medium</vt:lpstr>
      <vt:lpstr>Plus Jakarta Sans SemiBold</vt:lpstr>
      <vt:lpstr>Arial</vt:lpstr>
      <vt:lpstr>Calibri</vt:lpstr>
      <vt:lpstr>Fira Code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Akuleti, Balakrishna</cp:lastModifiedBy>
  <cp:revision>10</cp:revision>
  <dcterms:created xsi:type="dcterms:W3CDTF">2013-01-27T09:14:16Z</dcterms:created>
  <dcterms:modified xsi:type="dcterms:W3CDTF">2026-09-14T11:58:12Z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ad3be33-4108-4738-9e07-d8656a181486_Enabled">
    <vt:lpwstr>true</vt:lpwstr>
  </property>
  <property fmtid="{D5CDD505-2E9C-101B-9397-08002B2CF9AE}" pid="3" name="MSIP_Label_dad3be33-4108-4738-9e07-d8656a181486_SetDate">
    <vt:lpwstr>2026-09-11T08:49:10Z</vt:lpwstr>
  </property>
  <property fmtid="{D5CDD505-2E9C-101B-9397-08002B2CF9AE}" pid="4" name="MSIP_Label_dad3be33-4108-4738-9e07-d8656a181486_Method">
    <vt:lpwstr>Privileged</vt:lpwstr>
  </property>
  <property fmtid="{D5CDD505-2E9C-101B-9397-08002B2CF9AE}" pid="5" name="MSIP_Label_dad3be33-4108-4738-9e07-d8656a181486_Name">
    <vt:lpwstr>Public No Visual Label</vt:lpwstr>
  </property>
  <property fmtid="{D5CDD505-2E9C-101B-9397-08002B2CF9AE}" pid="6" name="MSIP_Label_dad3be33-4108-4738-9e07-d8656a181486_SiteId">
    <vt:lpwstr>945c199a-83a2-4e80-9f8c-5a91be5752dd</vt:lpwstr>
  </property>
  <property fmtid="{D5CDD505-2E9C-101B-9397-08002B2CF9AE}" pid="7" name="MSIP_Label_dad3be33-4108-4738-9e07-d8656a181486_ActionId">
    <vt:lpwstr>316d7057-f73b-4a66-9c1e-a2a762d83c79</vt:lpwstr>
  </property>
  <property fmtid="{D5CDD505-2E9C-101B-9397-08002B2CF9AE}" pid="8" name="MSIP_Label_dad3be33-4108-4738-9e07-d8656a181486_ContentBits">
    <vt:lpwstr>0</vt:lpwstr>
  </property>
  <property fmtid="{D5CDD505-2E9C-101B-9397-08002B2CF9AE}" pid="9" name="MSIP_Label_dad3be33-4108-4738-9e07-d8656a181486_Tag">
    <vt:lpwstr>10, 0, 1, 1</vt:lpwstr>
  </property>
</Properties>
</file>